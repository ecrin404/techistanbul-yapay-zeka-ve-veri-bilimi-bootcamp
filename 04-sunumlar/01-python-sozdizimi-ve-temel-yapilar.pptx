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02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Oturum 1 açılışı. Titanic kodunu şimdi göster, kimse anlamayacak — oturum sonunda geri döneceğiz.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Canlı: bir hücre yaz, Shift+Enter, çıktı göster. Sonra sırayı bozup Restart and run all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Çalıştır, grafiği de göster. 'Bir ay sonra her karakterini yazabileceksiniz.' Bu tek teaser; buradan sonra hiçbir şeyi öğretmeden kullanmayacağız.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oturumun ilk gerçek dil yapısı. Buradan önce sadece ortam ve print vardı (ön hazırlık). Her şey buradan sonra değişkenlerin üstüne kurulacak.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Kasten yanlış girinti yap, IndentationError göster, birlikte oku.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id() ile kanıtla. Bu slaytı Oturum 4'te SettingWithCopyWarning çıkınca tekrar 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tüm bootcamp'in kalbi. Aynı fikrin dört yerde döndüğünü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şehir yazımını sözle göster ama comprehension çözümünü SAKLA — comprehension slaytında (döngülerden sonra) patlatacağız.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Ardışık-if vs elif farkını tahtada canlandır — kasten yanlış yazıp iki çıktıyı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5-şehir çözümünü BURADA patlat — Blok 2 başında söz vermiştik. 'Döngüleri öğrendik, şimdi sözümüzü tutuyoruz.'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pd.DataFrame(yolcular) hücresini ekranda TUT. Comprehension artık bilindiği için sol taraf tamamen anlaşılır — bunu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SPLIT-APPLY-COMBINE'ı tahtada göster. for ve dict önceden öğretildiği için kod akıcı — bu, düzeltilmiş sıranın ödülü.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 ders boyunca kasten hata yapacağım. Amaç: traceback'ten korkmamak, okumayı alışkanlık yapmak.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Kapanış. İlk slayttaki koda dön — çember tamamlanır. Ödevi tanıt.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5943600" cy="4754880"/>
          </a:xfrm>
          <a:prstGeom prst="roundRect">
            <a:avLst>
              <a:gd name="adj" fmla="val 11538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8595360" y="3291840"/>
            <a:ext cx="5029200" cy="4754880"/>
          </a:xfrm>
          <a:prstGeom prst="roundRect">
            <a:avLst>
              <a:gd name="adj" fmla="val 11538"/>
            </a:avLst>
          </a:prstGeom>
          <a:solidFill>
            <a:srgbClr val="2631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BOOTCAMP · PYTHON İLE VERİ BİLİMİ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Oturum 1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600" dirty="0">
                <a:solidFill>
                  <a:srgbClr val="5A9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Değişkenler, Tipler, Koleksiyonlar</a:t>
            </a:r>
            <a:endParaRPr lang="en-US" sz="26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600" dirty="0">
                <a:solidFill>
                  <a:srgbClr val="5A9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Kontrol Akışı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Python — ve her örnek bir veri örneği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6400800" cy="1234440"/>
          </a:xfrm>
          <a:prstGeom prst="roundRect">
            <a:avLst>
              <a:gd name="adj" fmla="val 444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76656" y="4434840"/>
            <a:ext cx="6144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sns.load_dataset("titanic")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 err="1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</a:t>
            </a:r>
            <a:r>
              <a:rPr lang="en-US" sz="115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tr-TR" sz="115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tr-TR" sz="1150" dirty="0" err="1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</a:t>
            </a: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")["survived"].mean()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Oturum sonunda bu satırı sökeceğiz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Temmuz Salı  ·  11:00–15:00  ·  4 saat  ·  Google Colab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914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07040" y="914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060704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3816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+ lab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60704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060704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deste, 40 saatlik programın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oturumundan ilkidir.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OTURUM 1 · AJANDA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 ne öğreneceğiz?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6432" cy="4297680"/>
          </a:xfrm>
          <a:prstGeom prst="roundRect">
            <a:avLst>
              <a:gd name="adj" fmla="val 132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56432" cy="420624"/>
          </a:xfrm>
          <a:prstGeom prst="roundRect">
            <a:avLst>
              <a:gd name="adj" fmla="val 10870"/>
            </a:avLst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15636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 ·  11:15–12:15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Değişkenler, tipler, operatörler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= ilk dil yapısı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· float · bool · None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dönüşümü, sonra input()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Operatörlerin tamamı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3456432" cy="4297680"/>
          </a:xfrm>
          <a:prstGeom prst="roundRect">
            <a:avLst>
              <a:gd name="adj" fmla="val 132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456432" cy="420624"/>
          </a:xfrm>
          <a:prstGeom prst="roundRect">
            <a:avLst>
              <a:gd name="adj" fmla="val 10870"/>
            </a:avLst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434840" y="15636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 ·  12:25–13:25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4840" y="2057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Metin, listeler, kontrol akışı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28803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+ Türkçe · f-string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· tuple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· for · while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comprehension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456432" cy="4297680"/>
          </a:xfrm>
          <a:prstGeom prst="roundRect">
            <a:avLst>
              <a:gd name="adj" fmla="val 132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955280" y="1508760"/>
            <a:ext cx="3456432" cy="420624"/>
          </a:xfrm>
          <a:prstGeom prst="roundRect">
            <a:avLst>
              <a:gd name="adj" fmla="val 10870"/>
            </a:avLst>
          </a:prstGeom>
          <a:solidFill>
            <a:srgbClr val="7BC98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138160" y="15636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 ·  13:40–14:40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8160" y="2057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Sözlükler, kümeler ve köprü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28803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= satır/kayıt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sözlük listesi = tablo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defaultdict = groupby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· mutability · 3 lab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Öğretim sırası bağımlılığa göre: hiçbir yapıyı, gereken ön bilgi verilmeden kullanmıyoruz. Slayt okumuyoruz — ekranda daima çalışan bir Colab hücresi olacak.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GIRIŞ · ORYANTASYON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bilimi nedir? Kim ne yapar?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20240"/>
          </a:xfrm>
          <a:prstGeom prst="roundRect">
            <a:avLst>
              <a:gd name="adj" fmla="val 2381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7739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Analisti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oldu?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veriyi özetler, rapor ve gösterge panosu üretir.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349240" cy="1920240"/>
          </a:xfrm>
          <a:prstGeom prst="roundRect">
            <a:avLst>
              <a:gd name="adj" fmla="val 2381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400800" y="1783080"/>
            <a:ext cx="365760" cy="365760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5432" y="17739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Bilimci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85432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Neden oldu? Ne olacak?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 ve modelle örüntü bulur, tahmin yapar.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49240" cy="1920240"/>
          </a:xfrm>
          <a:prstGeom prst="roundRect">
            <a:avLst>
              <a:gd name="adj" fmla="val 2381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777240" y="3931920"/>
            <a:ext cx="365760" cy="365760"/>
          </a:xfrm>
          <a:prstGeom prst="ellipse">
            <a:avLst/>
          </a:prstGeom>
          <a:solidFill>
            <a:srgbClr val="7BC98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772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39227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Mühendisi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1872" y="4251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 nasıl akıyor?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toplar, temizler, boru hattı ve ambar kurar.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703320"/>
            <a:ext cx="5349240" cy="1920240"/>
          </a:xfrm>
          <a:prstGeom prst="roundRect">
            <a:avLst>
              <a:gd name="adj" fmla="val 2381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6400800" y="3931920"/>
            <a:ext cx="365760" cy="365760"/>
          </a:xfrm>
          <a:prstGeom prst="ellipse">
            <a:avLst/>
          </a:prstGeom>
          <a:solidFill>
            <a:srgbClr val="C792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4008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85432" y="39227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9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Mühendisi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5432" y="4251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üretime nasıl çıkar?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091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ölçeklenebilir, izlenebilir servise dönüştürür.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bootcamp sizi öncelikle Veri Analisti + Veri Bilimci temeliyle donatır. Python bu dört rolün de ortak dilidir.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GIRIŞ · ORYANTASYON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Python, neden Colab?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karar: dil olarak Python, ortam olarak Google Colab.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309360" cy="3200400"/>
          </a:xfrm>
          <a:prstGeom prst="roundRect">
            <a:avLst>
              <a:gd name="adj" fmla="val 171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0533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neden?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· Okunması kolay — İngilizceye yakın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· Dev ekosistem: numpy, pandas,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matplotlib, scikit-learn, tensorflow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· En büyük veri bilimi topluluğu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Colab neden?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· Kurulum YOK — tarayıcı + Google hesabı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· pandas/numpy/sklearn ÖNCEDEN kurulu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· Herkeste aynı ortam, aynı sürüm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· Ücretsiz GPU/TPU tek tıkla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0" y="193852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Colab yeter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0" y="2331720"/>
            <a:ext cx="45079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/ VS Code gibi yerel kurulumu Oturum 9'da göreceğiz.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ertelendik? Kurulum acısı ilk gün değil, gerçekten gerektiğinde.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Notebook'lar iki sürümde: _bos (sınıfta doldururuz) ve _cozum (sonra paylaşılır).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GitHub'da 'Open in Colab' rozetiyle tek tıkla açılır.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 bir laptop bile yeter — işlem bulutta. Tek ihtiyaç: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GIRIŞ · COLAB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arayüzü: hücreler ve çalıştırma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2926080"/>
          </a:xfrm>
          <a:prstGeom prst="roundRect">
            <a:avLst>
              <a:gd name="adj" fmla="val 1875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6053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İki tür hücre: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KOD hücresi   → Python çalıştırır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METİN hücresi → Markdown (başlık, not)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print("Merhaba veri dünyası")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kod hücresi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+ 2 * 3            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son satır otomatik yazdırılır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Çalıştırma kısayolları: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Ctrl + Enter  → hücreyi çalıştır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Shift + Enter → çalıştır + alt hücreye geç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Ctrl + M, B   → altına yeni hücre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0" y="161848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Bilinmesi gereken 4 şey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0" y="2011680"/>
            <a:ext cx="4507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Hücreler yukarıdan aşağı DEĞİL, çalıştırma sırasına göre işler — karışırsa Runtime → Restart and run all.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 kalıcı değil: 90 dk boşta kalınca oturum kopar. Kalıcı veri için Drive'a bağlan.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menüden: dosyalar, değişkenler, içindekiler.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'Dosya → Drive'a kopya kaydet' ile kendi kopyanızda çalışın.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GIRIŞ · COLAB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süper güçleri: sihirli komutlar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komutlar ders boyunca sürekli kullanılacak — şimdiden tanışalım.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965960"/>
            <a:ext cx="10835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streamlit 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paket kur (ünlem = kabuk komutu)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!wget -q URL -O veri.csv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dosya indir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%timeit nu ** 2        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 satırın süresini ölç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%%time                 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tüm hücrenin süresi (ilk satır)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%debug                 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hata SONRASI hata ayıklayıcı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?pd.read_csv           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dokümanı sağ panelde aç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??sns.barplot         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kaynak kodunu göster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Yazarken Ctrl+Space → otomatik tamamlama ve ipucu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13232" y="507034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13232" y="5070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489204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%timeit ve %%time'ı Oturum 3'te vektörizasyonun ne kadar hızlı olduğunu ölçmek için kullanacağız. ?fonksiyon ise ders boyunca en iyi arkadaşınız — bir metodu unuttuğunuzda hemen bakın.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GIRIŞ · İLK ADIMLAR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kod ve keşif araçları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6236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print("Merhaba veri dünyası")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+ 2)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 şeyi merak ettiğinde: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help(print) 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dokümantasyon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type(42)    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nesnenin tipi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dir("metin")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 nesnenin tüm metotları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Colab'a özel (daha kullanışlı):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?print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0" y="1600200"/>
            <a:ext cx="4416552" cy="2651760"/>
          </a:xfrm>
          <a:prstGeom prst="roundRect">
            <a:avLst>
              <a:gd name="adj" fmla="val 172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406640" y="1691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06640" y="1984248"/>
            <a:ext cx="4050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Merhaba veri dünyası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['capitalize',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'casefold',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'center', ...]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13232" y="479602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3232" y="47960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" y="461772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type(), dir() ve ? üçlüsü bu kursun keşif refleksidir: yeni bir nesneyle karşılaştığınızda 'bu ne ve ne yapabilir?' sorusunu koda sorun, ezberlemeye çalışmayın.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GIRIŞ · MOTIVASYON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“Oturum sonunda bunu yapacaksınız”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satır kod: Titanic verisini oku, hayatta kalma oranını cinsiyete göre grupla. Şimdilik anlamıyoruz — sorun değil, bu bir önizleme.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1828800"/>
          </a:xfrm>
          <a:prstGeom prst="roundRect">
            <a:avLst>
              <a:gd name="adj" fmla="val 30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sns.load_dataset("titanic")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df.groupby("sex")["survived"].mean()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1828800"/>
          </a:xfrm>
          <a:prstGeom prst="roundRect">
            <a:avLst>
              <a:gd name="adj" fmla="val 2500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</a:t>
            </a:r>
            <a:endParaRPr lang="en-US" sz="1500" dirty="0"/>
          </a:p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  0.742</a:t>
            </a:r>
            <a:endParaRPr lang="en-US" sz="1500" dirty="0"/>
          </a:p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     0.189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29310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2931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11480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4 satırın altında bugün öğreneceğimiz HER ŞEY var: import (modül), bir tablo, gruplama (bugün defaultdict ile elle yapacağız), sütun seçimi (sözlük gibi) ve bool'un ortalaması (= oran). Oturum sonunda bu slayta geri döneceğiz.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1828800"/>
            <a:ext cx="4023360" cy="3200400"/>
          </a:xfrm>
          <a:prstGeom prst="roundRect">
            <a:avLst>
              <a:gd name="adj" fmla="val 11429"/>
            </a:avLst>
          </a:prstGeom>
          <a:solidFill>
            <a:srgbClr val="2631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D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3291840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11:15–12:15 · 60 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Değişkenler, Tipler, Operatörler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10128" y="3429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ve atama — ilk ve en temel dil yapısı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· float · bool · None — verinin yapı taşları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dönüşümü, sonra input() (artık anlamlı)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Operatörlerin tamamı — her biri bir veri hesabı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DEĞIŞKENLER · ★ İLK YAPI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Değişkenler ve atama — öğrendiğimiz ilk dil yapısı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programın temeli: bir değere isim vermek. Python'da değişken atamak, bir nesneye etiket yapıştırmaktır.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309360" cy="3200400"/>
          </a:xfrm>
          <a:prstGeom prst="roundRect">
            <a:avLst>
              <a:gd name="adj" fmla="val 171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0533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              </a:t>
            </a: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nesnesine "x" etiketi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mesaj = "merhaba"  </a:t>
            </a: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metin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 = 0.75        </a:t>
            </a: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ondalık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Değeri kullan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+ 3)       </a:t>
            </a: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print(mesaj)       </a:t>
            </a: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merhaba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Çoklu atama (aynı anda)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 = 1, 2, 3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 değeri birçok isme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j = 0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Değer değiştirebilir (dinamik)</a:t>
            </a:r>
            <a:endParaRPr lang="en-US" sz="1108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8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"artık metin"   </a:t>
            </a:r>
            <a:r>
              <a:rPr lang="en-US" sz="1108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x'in tipi değişti — sorun değil</a:t>
            </a:r>
            <a:endParaRPr lang="en-US" sz="1108" dirty="0"/>
          </a:p>
        </p:txBody>
      </p:sp>
      <p:sp>
        <p:nvSpPr>
          <p:cNvPr id="7" name="Text 5"/>
          <p:cNvSpPr/>
          <p:nvPr/>
        </p:nvSpPr>
        <p:spPr>
          <a:xfrm>
            <a:off x="7132320" y="193852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İsimlendirme kuralları (PEP 8)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0" y="2331720"/>
            <a:ext cx="45079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kullanın: ortalama_yas, ogrenci_sayisi (küçük harf + alt çizgi).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Rakamla başlayamaz, tire olamaz: 2yas ❌, ogrenci-sayisi ❌.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anahtar sözcük rezerve: class, for, if... bunları isim yapamazsınız.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Anlamlı isim seçin: 'x' değil 'ortalama_yas'. Kod bir kez yazılır, çok kez okunur.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DEĞIŞKENLER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Yorumlar, girinti ve okunabilirlik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6053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 bir yorum satırı — Python çalıştırmaz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satır sonu yorumu da olur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"""Üç tırnak: çok satırlı yorum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veya açıklama (docstring)."""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GİRİNTİ = BLOK. Python'un en kritik kuralı: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0:        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(if'i Blok 2'de göreceğiz)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print("pozitif")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boşluk içeride = blok içi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print("hâlâ blok içinde")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print("blok dışı")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girinti bitti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0" y="161848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Girinti neden bu kadar önemli?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0" y="2011680"/>
            <a:ext cx="4507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diller { } kullanır; Python girintiyle blok tanımlar. Yanlış girinti = IndentationError.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Standart: 4 boşluk. Colab Tab'ı otomatik 4 boşluğa çevirir.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Yukarıdaki if sadece girintiyi göstermek için — yapısını birazdan öğreneceğiz.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Yorumlar 'ne yaptığını' değil 'neden yaptığını' anlatmalı.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DEĞIŞKENLER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Sürpriz: b = a listeyi kopyalamaz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bir 'etiket yapıştırmak' olduğu için, listelerle ilginç bir durum ortaya çıkar.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965960"/>
            <a:ext cx="10835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    </a:t>
            </a:r>
            <a:r>
              <a:rPr lang="en-US" sz="13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YENİ liste değil — aynı listeye 2. etiket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b.append(4)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  </a:t>
            </a:r>
            <a:r>
              <a:rPr lang="en-US" sz="13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4]  ← a da değişti!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print(id(a) == id(b))   </a:t>
            </a:r>
            <a:r>
              <a:rPr lang="en-US" sz="13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→ ikisi de AYNI nesne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Gerçekten kopyalamak istersen: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a.copy()       </a:t>
            </a:r>
            <a:r>
              <a:rPr lang="en-US" sz="13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veya a[:] / list(a)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c.append(99)</a:t>
            </a:r>
            <a:endParaRPr lang="en-US" sz="1300" dirty="0"/>
          </a:p>
          <a:p>
            <a:pPr marL="0" indent="0">
              <a:lnSpc>
                <a:spcPts val="1742"/>
              </a:lnSpc>
              <a:buNone/>
            </a:pPr>
            <a:r>
              <a:rPr lang="en-US" sz="13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  </a:t>
            </a:r>
            <a:r>
              <a:rPr lang="en-US" sz="13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4]  ← a etkilenmedi 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13232" y="51617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13232" y="51617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49834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 İleride df2 = df yazıp df2'yi değiştirdiğinizde df'in de değiştiğini görünce şaşırmayacaksınız. Çözüm hep aynı: .copy(). Bu kural bugün ekilen tohumun ta kendisi. (Listeleri Blok 2'de detaylı göreceğiz — burada sadece atama davranışını görün.)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TIPLER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 — tam sayı (ve Python'un süper gücü)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Değişkenlere değer koyduk; peki ne KADAR farklı değer türü var? İlki: sayım verisinin tipi — adet, frekans, yaş, yıl.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377440"/>
          </a:xfrm>
          <a:prstGeom prst="roundRect">
            <a:avLst>
              <a:gd name="adj" fmla="val 2308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 = 34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yil = 2026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adet = -5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** 1000)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1000 basamak — TAŞMA YOK!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+ 3, 7 - 3, 7 * 3)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// 3)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  (tam bölme)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print(10 % 3) 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 (kalan)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377440"/>
          </a:xfrm>
          <a:prstGeom prst="roundRect">
            <a:avLst>
              <a:gd name="adj" fmla="val 1923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10715086071862673...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(300+ basamaklı sayı)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10 4 21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84174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8417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66344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biliminde int = sayım verisi. Kaç yolcu, kaç sipariş, kaç eksik değer... Hepsi tam sayı. Sınırsız hassasiyet, büyük veri sayarken taşma derdi olmayacağı anlamına gelir.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TIPLER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 — ondalık sayı ve klasik tuzak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tip: ölçüm verisi — sıcaklık, fiyat, ağırlık, oran. Ama dikkat, bilgisayar ondalıkları tam saklayamaz.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FF7B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965960"/>
            <a:ext cx="10835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sicaklik = 23.7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fiyat = 249.90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print(0.1 + 0.2)         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0.30000000000000004  (!)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print(0.1 + 0.2 == 0.3)    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 (!!)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DOĞRU karşılaştırma: yaklaşık eşitlik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print(abs(0.1 + 0.2 - 0.3) &lt; 1e-9) 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✔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250" dirty="0"/>
          </a:p>
          <a:p>
            <a:pPr marL="0" indent="0">
              <a:lnSpc>
                <a:spcPts val="1675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print(math.isclose(0.1 + 0.2, 0.3))  </a:t>
            </a:r>
            <a:r>
              <a:rPr lang="en-US" sz="12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13232" y="507034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13232" y="5070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489204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her veri bilimcinin bilmesi gereken tuzak: kayan noktalı sayıları asla == ile karşılaştırmayın. Pandas'ta 'filtrem neden hiç satır döndürmedi?' sorusunun cevabı sıklıkla budur.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TIPLER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 — doğru/yanlış ve truthy/falsy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Üçüncü tip: mantıksal değer. İkili durumları temsil eder — hayatta mı, kayıtlı mı, geçerli mi.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468880"/>
          </a:xfrm>
          <a:prstGeom prst="roundRect">
            <a:avLst>
              <a:gd name="adj" fmla="val 2222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hayatta = True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kayitli = False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&gt; 3)         </a:t>
            </a:r>
            <a:r>
              <a:rPr lang="en-US" sz="111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== 10)      </a:t>
            </a:r>
            <a:r>
              <a:rPr lang="en-US" sz="111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Her değerin bir "doğruluk" karşılığı var: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print(bool(0))       </a:t>
            </a:r>
            <a:r>
              <a:rPr lang="en-US" sz="111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print(bool(""))      </a:t>
            </a:r>
            <a:r>
              <a:rPr lang="en-US" sz="111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 (boş metin)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print(bool([]))      </a:t>
            </a:r>
            <a:r>
              <a:rPr lang="en-US" sz="111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 (boş liste)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print(bool("a"))     </a:t>
            </a:r>
            <a:r>
              <a:rPr lang="en-US" sz="111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19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1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print(bool(42))      </a:t>
            </a:r>
            <a:r>
              <a:rPr lang="en-US" sz="111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19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468880"/>
          </a:xfrm>
          <a:prstGeom prst="roundRect">
            <a:avLst>
              <a:gd name="adj" fmla="val 1852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9331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933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7548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 değerler: 0, 0.0, '', [], {}, None → hepsi False sayılır. Bu yüzden 'if liste:' ifadesi 'liste boş değilse' demektir. Eksik veri kontrolünde bu davranış çok işimize yarayacak.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TIPLER · ★★ ANA KÖPRÜ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 aslında int'tir — bu numara 40 saat kullanılacak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 Python — bugün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+ True + False)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= 1, False = 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hayatta = [True, False, True, True]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print(sum(hayatta))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print(len(hayatta))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print(sum(hayatta) / len(hayatta))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0.75  →  hayatta kalma ORANI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— Oturum 4 (birebir aynı fikir)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df["survived"].mean()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0.383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df.groupby("sex")["survived"].mean()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female  0.742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male    0.189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Boolean'ın ortalaması = ORAN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4759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2976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numara, sonsuz kullanım: hayatta kalma oranı, dönüşüm oranı, hata oranı, eksik veri oranı, aykırı değer oranı — hepsi 'True/False dizisinin ortalaması'. Oturum 3'te (sicaklik &gt; 30).mean(), Oturum 6'da A/B test dönüşümü olarak geri gelecek. (Burada bir liste kullandık — Blok 2'de detaylandıracağız.)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TIPLER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— yokluğun tipi (eksik veri)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Dördüncü tip: None, 'değer yok / bilinmiyor' demektir. Veri biliminde bu, eksik veri (missing value) kavramının ta kendisidir.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286000"/>
          </a:xfrm>
          <a:prstGeom prst="roundRect">
            <a:avLst>
              <a:gd name="adj" fmla="val 24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gelir = None     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henüz bilinmiyor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print(type(gelir))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'NoneType'&gt;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 kontrolü DAİMA 'is' ile: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gelir is None: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print("veri eksik")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0 ile None AYNI DEĞİL: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 = 0 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"hiç yok" — bilinen bir değer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 = None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"kaç tane bilmiyoruz"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286000"/>
          </a:xfrm>
          <a:prstGeom prst="roundRect">
            <a:avLst>
              <a:gd name="adj" fmla="val 2000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'NoneType'&gt;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 eksik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75030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57200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'Değer 0 mı, yoksa bilinmiyor mu?' ayrımı anket ve gerçek dünya verisinde her şeydir. Pandas bu eksikliği NaN olarak gösterir ve Oturum 4'te 'eksikliğin kendisi bir bilgidir' diyeceğiz — eksik veri bile örüntü taşır.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TIPLER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 dönüşümü ve tip ipuçları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Tipleri öğrendik; şimdi birinden diğerine geçiş. Bu, birazdan input() için gerekli olacak.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309360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053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Dönüştürme fonksiyonları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int("42")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42     (metin → sayı)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float("3.14")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3.14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str(100)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"100"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bool(1)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int(3.9)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     (kırpar, yuvarlamaz!)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int("abc")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ValueError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Tip ipucu (type hint) — okunabilirlik için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yas: int = 30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ad: str = "Ayşe"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0" y="193852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önce bunu öğreniyoruz?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0" y="2331720"/>
            <a:ext cx="4507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slayttaki input() daima metin döndürür — sayıya çevirmek için int() gerekir.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CSV'den okuduğunuz her şey de başta metindir; aynı dönüşümü kullanacaksınız.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int('abc') hata verir; Oturum 2'de try/except ile yöneteceğiz, Oturum 4'te pd.to_numeric ile.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güçlü tiplidir: '2' + 2 hata verir — açıkça dönüştürmelisiniz.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GIRDI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 — artık anlamlı (tipleri ve dönüşümü biliyoruz)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daima METİN döndürür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194560"/>
          </a:xfrm>
          <a:prstGeom prst="roundRect">
            <a:avLst>
              <a:gd name="adj" fmla="val 2500"/>
            </a:avLst>
          </a:prstGeom>
          <a:solidFill>
            <a:srgbClr val="1B2333"/>
          </a:solidFill>
          <a:ln w="12700">
            <a:solidFill>
              <a:srgbClr val="FF7B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 = input("Yaşın kaç? ")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print(yas + 1)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TypeError!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çünkü yas bir str, sayı değil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ile kanıt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print(type(yas))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çözüm: dönüşüm (az önce öğrendik)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194560"/>
          </a:xfrm>
          <a:prstGeom prst="roundRect">
            <a:avLst>
              <a:gd name="adj" fmla="val 2500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 = int(input("Yaşın kaç? "))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print(yas + 1)     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✔ çalışır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fiyat = float(input("Fiyat? "))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print(f"KDV dahil: {fiyat * 1.2:.2f}")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f-string'i birazdan detaylı göreceğiz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33882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338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16052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input()'u özellikle tip dönüşümünden SONRA öğrendik — çünkü 'metni sayıya çevirme' bilgisi olmadan int(input()) anlamsız olurdu. 'Kullanıcıdan (ve dosyadan) gelen her şey metindir' kuralı, veri okurken de peşimizi bırakmayacak.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OPERATÖRLER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Aritmetik operatörler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ve tipler hazır; şimdi onlarla işlem yapalım. İlk grup: aritmetik.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+ 3)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print(7 - 3)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* 3)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21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/ 3)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2.333...  (her zaman float)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// 3)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        (tam bölme)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print(7 % 3)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       (kalan/mod)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** 10)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1024      (üs)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Kısayol atama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x + 5  → 15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651760"/>
          </a:xfrm>
          <a:prstGeom prst="roundRect">
            <a:avLst>
              <a:gd name="adj" fmla="val 172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2.3333333333333335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51160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5116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93776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/ adet = ortalama. Bu en temel istatistik, sadece bir bölme işlemi. Operatörler soyut değil — her biri bir veri hesabına karşılık gelir.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OPERATÖRLER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vs // ve % — veride nerede işe yarar?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tam bölme → gruplama (binning)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 = 37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 = yas // 10 * 10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print(grup)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 → "30'lu yaşlar"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y in [8, 23, 37, 55, 71]: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(for'u birazdan)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print(y, "→", y // 10 * 10)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8→0, 23→20, 37→30, 55→50, 71→70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mod → çift/tek, döngüsel zaman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print(10 % 2)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→ çift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print(7 % 2)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→ tek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Saat aritmetiği (24 saat döngüsü)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print((23 + 5) % 24)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→ sabah 4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Mevsim (ay → 0-3)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print(7 % 12 // 3)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4759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2976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 // 10 * 10 ile yaptığımız 'yaş grubuna atama' işlemi, Oturum 4'te pd.cut() ve np.select() ile profesyonel hâlini alacak. Ama mantık bugün öğrendiğimiz tam bölmenin aynısı.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OPERATÖRLER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Karşılaştırma ve zincirleme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2468880"/>
          </a:xfrm>
          <a:prstGeom prst="roundRect">
            <a:avLst>
              <a:gd name="adj" fmla="val 2222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6236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== 5)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 (eşit mi?)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!= 3)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 (eşit değil mi?)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&gt; 3)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&lt;= 5)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ZİNCİRLEME — aralık kontrolü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 = 25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print(18 &lt;= yas &lt; 65)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(çalışan yaşta mı?)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sicaklik = 23.5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print(18 &lt;= sicaklik &lt;= 26)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(konfor aralığı)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0" y="1600200"/>
            <a:ext cx="4416552" cy="2468880"/>
          </a:xfrm>
          <a:prstGeom prst="roundRect">
            <a:avLst>
              <a:gd name="adj" fmla="val 1852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406640" y="1691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06640" y="1984248"/>
            <a:ext cx="40507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13232" y="461314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3232" y="4613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" y="443484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&lt;= yas &lt; 65 zincirlemesi, Pandas'ta df.age.between(18, 65) filtresidir. Python'un bu okunabilir sözdizimi, aralık sorgularını doğal kılıyor — çoğu dilde bunu 'yas &gt;= 18 and yas &lt; 65' diye yazmanız gerekir.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OPERATÖRLER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Mantıksal operatörler ve kısa devre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2926080"/>
          </a:xfrm>
          <a:prstGeom prst="roundRect">
            <a:avLst>
              <a:gd name="adj" fmla="val 1875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45920"/>
            <a:ext cx="10835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and: ikisi de doğru mu?   or: en az biri?   not: tersi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and False) 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or False)  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 True)       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Çoklu koşul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yas, sehir = 25, "Ankara"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print(yas &gt; 18 and sehir == "Ankara")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KISA DEVRE: 'and' solu False'sa sağı HİÇ çalışmaz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kayit = None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kayit is not None and kayit["yas"] &gt; 18: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sağ atlanır → hata yok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print("yetişkin")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print("kayıt yok veya küçük")</a:t>
            </a:r>
            <a:endParaRPr lang="en-US" sz="1075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13232" y="502462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13232" y="50246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2144" y="484632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devre, eksik veriyle çalışırken sizi hatadan korur: önce 'veri var mı?' diye sorup, varsa değerine bakarsınız. kayit None ise, kayit['yas'] hiç denenmez. Bu kalıbı sürekli kullanacağız.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OPERATÖRLER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(is) ve üyelik (in)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/ is not — aynı nesne mi?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194560"/>
          </a:xfrm>
          <a:prstGeom prst="roundRect">
            <a:avLst>
              <a:gd name="adj" fmla="val 25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'is None' kuralı — eksik veri kontrolü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None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is None)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✔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 değer eşitliği, is kimlik eşitliği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2]; b = [1, 2]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== b)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(aynı içerik)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b)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(farklı nesne)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Kural: None/True/False için 'is', geri kalan '=='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/ not in — içinde var mı?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194560"/>
          </a:xfrm>
          <a:prstGeom prst="roundRect">
            <a:avLst>
              <a:gd name="adj" fmla="val 2500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buyuksehirler = ["Ankara", "İzmir", "Bursa"]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print("Ankara" in buyuksehirler)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print("Konya" not in buyuksehirler)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metin içinde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print("kara" in "Ankara")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33882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338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16052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'in' operatörü Pandas'ta df.sehir.isin(['Ankara','İzmir']) filtresine dönüşür. 'is None' ise Oturum 4'te df.age.isna() olur. Bugünkü küçük operatörler, yarının veri filtreleri.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OPERATÖRLER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 operatörleri “gereksiz” görünür — ta ki Oturum 4'e kadar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bugün: sıradan görünüyor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&amp; 3)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 (bit AND)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| 3)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   (bit OR)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print(~5)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-6  (bit NOT)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 &lt;&lt; 3)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   (sola kaydır)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"Bunları ne zaman kullanacağız ki?"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diye düşünüyorsanız — haklısınız.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Cevap: sağdaki slaytta.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Oturum 3-4: veri maskelemenin ta kendisi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Diziyi/tabloyu filtrelerken &amp; ve | ŞART: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df[(df.yas &gt; 30) &amp; (df.sehir == "Ankara")]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df[(df.pclass == 1) | (df.fare &gt; 100)]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df[~df.survived]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 = değil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df[df.yas &gt; 30 and df.sehir == "Ankara"]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ValueError — 'and' burada ÇALIŞMAZ!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4759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2976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'and' değil de '&amp;'? Çünkü and/or tek bir doğru/yanlış bekler; bir DİZİNİN doğruluk değerini bilemez ve hata verir. &amp; ve | ise eleman eleman çalışır. Bugün 'gereksiz' görünen operatör, veri filtrelemenin temeli. (Ve parantez şart — &amp; önceliği düşüktür.)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1 · ALIŞTIRMA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Şimdi siz: değişkenler, tipler, operatörler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ŞİMDİ SİZ  ·  5 dk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26314A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ürünün fiyatı 249.90 TL, KDV oranı %20 (değişkenlere atayın).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KDV dahil fiyatı hesaplayıp 2 ondalıkla yazdırın.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fiyatı 3 taksite bölüp aylık ödemeyi bulun.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kullanıcının yaşını alın (input + int) ve 18 &lt;= yas &lt; 65 aralığında mı yazdırın.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yaşı 10'un katına yuvarlayıp 'yaş grubunu' yazdırın (// operatörü).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1728216"/>
            <a:ext cx="5605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başlangıç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5272" cy="3291840"/>
          </a:xfrm>
          <a:prstGeom prst="roundRect">
            <a:avLst>
              <a:gd name="adj" fmla="val 166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163056" y="205740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fiyat = 249.90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kdv_orani = 0.20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KDV dahil fiyat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kdv_dahil = ...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3 taksit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aylik = ...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yaş aralığı (input METİN döndürür → int!)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 = int(input("Yaş: "))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 ... 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ipucu: round(x, 2) · // · &lt;=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13232" y="56875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13232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5577840"/>
            <a:ext cx="10323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alıştırma sadece bu bloğun konularını kullanır: değişken, tip dönüşümü, operatörler. Takıldığınızda ?round yazıp dokümana bakın.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1828800"/>
            <a:ext cx="4023360" cy="3200400"/>
          </a:xfrm>
          <a:prstGeom prst="roundRect">
            <a:avLst>
              <a:gd name="adj" fmla="val 11429"/>
            </a:avLst>
          </a:prstGeom>
          <a:solidFill>
            <a:srgbClr val="2631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D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3291840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12:25–13:25 · 60 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Metin, Listeler ve Kontrol Akışı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10128" y="3429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derinlemesine — dilimleme, Türkçe ★, f-string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ve tuple — verinin ilk koleksiyonları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· for · while — akışı yönetmek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comprehension (döngüleri öğrendikten sonra)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STRING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oluşturma: tırnaklar ve kaçış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verinin, etiketlerin, metnin tipi. Gerçek veri setlerinin çoğu bir metin sorunudur.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'tek tırnak'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"çift tırnak"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"""üç tırnak: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çok satırlı metin"""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Kaçış dizileri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print("satır1\nsatır2")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\n = yeni satır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print("sütun1\tsütun2")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\t = sekme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print("O\"Brien")           # tırnak kaçışı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Raw string — kaçışı iptal eder (dosya yolu, regex)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print(r"C:\yeni\klasor")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743200"/>
          </a:xfrm>
          <a:prstGeom prst="roundRect">
            <a:avLst>
              <a:gd name="adj" fmla="val 1667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satır1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satır2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sütun1	sütun2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O"Brien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C:\yeni\klasor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520750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5207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502920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\n ve \t'yi CSV/metin okurken sürekli göreceğiz. Raw string (r'...') ise Windows dosya yolları ve düzenli ifadelerde (regex) hayat kurtarır — Oturum 4'te .str.extract() ile regex kullanacağız.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STRING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İndeksleme ve dilimleme (slicing)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Dilimleme s[baş:son:adım] — string'lerde öğreneceğiz, sonra listelerde, NumPy'da, Pandas'ta hep aynı sözdizimi.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468880"/>
          </a:xfrm>
          <a:prstGeom prst="roundRect">
            <a:avLst>
              <a:gd name="adj" fmla="val 2222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"Veri Bilimi"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print(s[0])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'V'   (ilk)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print(s[-1])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'i'   (son)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print(s[0:4])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'Veri' (0,1,2,3 — son hariç)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print(s[5:])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'Bilimi'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print(s[:4])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'Veri'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print(s[::-1])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'imiliB ireV' (ters)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print(s[::2])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'Vr iii'  (2 atlayarak)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468880"/>
          </a:xfrm>
          <a:prstGeom prst="roundRect">
            <a:avLst>
              <a:gd name="adj" fmla="val 1852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Bilimi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imiliB ireV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 iii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9331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933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7548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s[:4] = ilk 4 → Pandas'ta df.head(4). s[::2] = 2 atlayarak → örnekleme. Dilimlemeyi bir kez öğrenince, tüm veri yapılarında aynı şekilde kullanacaksınız. Kritik: son indeks HARİÇtir (0:4 → 0,1,2,3).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STRING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Türkçe karakter felaketi — her Türk veri bilimcisinin başına gelir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2926080"/>
          </a:xfrm>
          <a:prstGeom prst="roundRect">
            <a:avLst>
              <a:gd name="adj" fmla="val 1875"/>
            </a:avLst>
          </a:prstGeom>
          <a:solidFill>
            <a:srgbClr val="1B2333"/>
          </a:solidFill>
          <a:ln w="12700">
            <a:solidFill>
              <a:srgbClr val="FF7B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45920"/>
            <a:ext cx="10835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İngilizce mantığıyla küçültme Türkçe'de BOZULUR: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print("İstanbul".lower())      </a:t>
            </a:r>
            <a:r>
              <a:rPr lang="en-US" sz="115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'i̇stanbul'  ← noktalı i, bozuk!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print("IĞDIR".lower())         </a:t>
            </a:r>
            <a:r>
              <a:rPr lang="en-US" sz="115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'iğdir'      ← I → ı olmalıydı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Kategori eşleştirmede felaket: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print("İSTANBUL".lower() == "istanbul")   </a:t>
            </a:r>
            <a:r>
              <a:rPr lang="en-US" sz="115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(!!)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Güvenli çözüm: casefold() + tutarlı normalize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sehir = "  İSTANBUL  "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 = sehir.strip().casefold()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print(temiz)                   </a:t>
            </a:r>
            <a:r>
              <a:rPr lang="en-US" sz="115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'i̇stanbul' ama TUTARLI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UTF-8 kodlama — Türkçe için standart</a:t>
            </a:r>
            <a:endParaRPr lang="en-US" sz="1151" dirty="0"/>
          </a:p>
          <a:p>
            <a:pPr marL="0" indent="0">
              <a:lnSpc>
                <a:spcPts val="1543"/>
              </a:lnSpc>
              <a:buNone/>
            </a:pPr>
            <a:r>
              <a:rPr lang="en-US" sz="115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"çğıöşü".encode("utf-8")</a:t>
            </a:r>
            <a:endParaRPr lang="en-US" sz="1151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13232" y="502462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13232" y="50246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2144" y="484632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slayt Oturum 4'te geri gelecek: read_csv(encoding='utf-8'), to_csv(encoding='utf-8-sig'). Türkçe veriyle çalışan herkesin ilk 3 hatasından biri encoding'dir. İ/ı meselesini bugün bilirseniz, saatlerce hata ayıklamaktan kurtulursunuz.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STRING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 — modern metin biçimlendirme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String'lerin en kullanışlı özelliği. Bundan sonra rapor ve çıktı üretirken her yerde kullanacağız — o yüzden erken öğreniyoruz.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3017520"/>
          </a:xfrm>
          <a:prstGeom prst="roundRect">
            <a:avLst>
              <a:gd name="adj" fmla="val 1818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965960"/>
            <a:ext cx="10835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ad, yas = "Ayşe", 34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print(f"{ad}, {yas} yaşında")   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Ayşe, 34 yaşında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İçine ifade gömülebilir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print(f"Gelecek yıl {yas + 1} olacak")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Biçimlendirme belirteçleri (: sonrası)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 = 0.7364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print(f"{oran:.1%}")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73.6%   (yüzde, 1 ondalık)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print(f"{oran:.3f}")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0.736   (3 ondalık)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print(f"{1234567.89:,.2f}")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1,234,567.89  (binlik ayraç)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print(f"{ad:&gt;10}")  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      Ayşe' (sağa yasla)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print(f"{oran=}")          </a:t>
            </a: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oran=0.7364  (debug — isim + değer)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13232" y="543610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13232" y="54361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525780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{deger:.1%} ve {deger:,.2f} biçimlerini rapor üretirken (ciro, oran, yüzde) her yerde kullanacağız. {oran=} debug biçimi ise 'bu değişkenin değeri ne?' diye bakarken altın değerinde — hızlı hata ayıklama.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STRING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metotları — veri temizliğinin araçları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2926080"/>
          </a:xfrm>
          <a:prstGeom prst="roundRect">
            <a:avLst>
              <a:gd name="adj" fmla="val 1875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6053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Ankara  ".strip()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'Ankara' (baş/son boşluk sil)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"ankara".capitalize()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'Ankara'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"Veri Bilimi".upper()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'VERİ BİLİMİ'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"a,b,c".split(",")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['a','b','c'] → liste!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"-".join(["1","2","3"])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'1-2-3'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"2026-07".replace("-","/")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'2026/07'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"Ankara".startswith("An")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"42".isdigit()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Zincirleme — arka arkaya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ANKARA  ".strip().capitalize()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'Ankara'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0" y="161848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kadar önemli?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0" y="2011680"/>
            <a:ext cx="4507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veride şehir isimleri hep karışık gelir: '  Ankara ', 'ankara', 'ANKARA'...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strip().capitalize() zinciri hepsini 'Ankara'ya çevirir.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Aklınızda tutun: elimizde 5 farklı yazımda şehir var — birazdan comprehension'la HEPSİNİ tek satırda temizleyeceğiz.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4'te bu metotlar .str erişimcisiyle 1 milyon satırda aynı anda çalışacak.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ALIŞTIRMA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Şimdi siz: bir kaydı ayrıştır ve temizle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ŞİMDİ SİZ  ·  5 dk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26314A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CSV satırını virgülden bölün (split → liste).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adını, şehri (temizlenmiş) ve tutarı çıkarın.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Şehri normalize edin: baş/son boşluğu sil + ilk harf büyük.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Tutarı float'a çevirip binlik ayraçla, 2 ondalıkla yazdırın (f-string).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çıktı: 'Ayşe Yılmaz | Ankara | 7,850.50 TL'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1728216"/>
            <a:ext cx="5605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başlangıç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5272" cy="3291840"/>
          </a:xfrm>
          <a:prstGeom prst="roundRect">
            <a:avLst>
              <a:gd name="adj" fmla="val 166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163056" y="205740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satir = "1021,Ayşe Yılmaz, ankara ,7850.50"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alanlar = satir.split(",")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alanlar[1]=ad, [2]=şehir, [3]=tutar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= alanlar[1]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sehir = alanlar[2]...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tutar = float(alanlar[3])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print(f"{ad} | {sehir} | {tutar:...} TL")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ipucu: strip() · capitalize() · :,.2f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13232" y="56875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13232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5577840"/>
            <a:ext cx="10323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alıştırma tek bir kayıt üzerinde çalışır — henüz döngü yok. Oturum 4'te pd.read_csv bunu tüm dosya için tek satırda yapacak.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— bir sütunun ilkel hâli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koleksiyon. Bir liste = birçok değeri sırayla tutar. Veri biliminde bir SÜTUNA karşılık gelir.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sicakliklar = [22.5, 24.1, 19.8, 31.2, 28.0]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Erişim ve dilimleme (string gibi!)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print(sicakliklar[0])      </a:t>
            </a: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22.5  (ilk)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print(sicakliklar[-1])     </a:t>
            </a: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28.0  (son)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print(sicakliklar[:3])     </a:t>
            </a: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ilk 3 → df.head(3)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print(sicakliklar[-2:])    </a:t>
            </a: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son 2 → df.tail(2)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print(len(sicakliklar))    </a:t>
            </a: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İç içe liste = tablo/matris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tablo = [[1, 2, 3], [4, 5, 6]]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print(tablo[1][2])         </a:t>
            </a: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 → df.iloc[1, 2]</a:t>
            </a:r>
            <a:endParaRPr lang="en-US" sz="1157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743200"/>
          </a:xfrm>
          <a:prstGeom prst="roundRect">
            <a:avLst>
              <a:gd name="adj" fmla="val 1667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22.5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28.0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[22.5, 24.1, 19.8]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[31.2, 28.0]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520750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5207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502920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 = bir sütun. sicakliklar[:3] = ilk 3 kayıt (dilimleme string'teki gibi). İç içe liste = tablo. Oturum 3'te bu NumPy dizisi, Oturum 4'te DataFrame olacak. Ama fikir bugün öğrendiğiniz basit liste.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metotları — ekleme, çıkarma, sıralama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45920"/>
            <a:ext cx="10835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[22.5, 24.1, 19.8]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v.append(31.2)        </a:t>
            </a: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sona ekle       → [22.5, 24.1, 19.8, 31.2]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v.insert(0, 20.0)     </a:t>
            </a: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başa ekle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v.remove(19.8)        </a:t>
            </a: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değeri sil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 = v.pop()         </a:t>
            </a: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sonu al ve sil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print(v)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Sıralama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v.sort()              </a:t>
            </a: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yerinde sırala (listeyi DEĞİŞTİRİR)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v.sort(reverse=True)  </a:t>
            </a: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büyükten küçüğe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sirali = sorted(v)    </a:t>
            </a: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YENİ sıralı liste (orijinal korunur)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büyük 3 → nlargest(3)</a:t>
            </a:r>
            <a:endParaRPr lang="en-US" sz="1039" dirty="0"/>
          </a:p>
          <a:p>
            <a:pPr marL="0" indent="0">
              <a:lnSpc>
                <a:spcPts val="1392"/>
              </a:lnSpc>
              <a:buNone/>
            </a:pPr>
            <a:r>
              <a:rPr lang="en-US" sz="1039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print(sorted(v, reverse=True)[:3])</a:t>
            </a:r>
            <a:endParaRPr lang="en-US" sz="1039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13232" y="49331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13232" y="4933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2144" y="47548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listeyi değiştirir; sorted() yeni liste döndürür — bu ayrım önemli (birazdan mutability'de göreceğiz). sorted(v, reverse=True)[:3] = 'en büyük 3', ki Oturum 4'te df.nlargest(3, 'sütun') olacak.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LIST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Betimsel istatistik — elle, saf Python'la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 üzerinde ortalama, min, max, medyan. Oturum 4'te bunlar df.describe() olacak. (f-string'i az önce öğrendik ✓)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[22.5, 24.1, 19.8, 31.2, 28.0, 15.3]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len(v)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ortalama = sum(v) / n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en_dusuk = min(v)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en_yuksek = max(v)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Medyan (sıralayıp ortadaki)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sorted(v)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medyan = s[n // 2] if n % 2 else (s[n//2-1] + s[n//2]) / 2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print(f"n={n} ort={ortalama:.1f} "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f"medyan={medyan:.1f} min={en_dusuk} max={en_yuksek}")</a:t>
            </a:r>
            <a:endParaRPr lang="en-US" sz="1157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743200"/>
          </a:xfrm>
          <a:prstGeom prst="roundRect">
            <a:avLst>
              <a:gd name="adj" fmla="val 1667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n=6 ort=23.5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medyan=23.3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min=15.3 max=31.2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520750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5207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502920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sum/len = mean, min, max, sorted+orta = median. Bunları elle yazınca, Oturum 4'te df['x'].describe() tek satırda hepsini verdiğinde 'altında ne olduğunu' bileceksiniz. Kütüphane sihir değil, kısayol.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TUPLE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— değişmez kayıt ve unpacking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list'in değişmez kardeşi. Oluşturunca değiştirilemez — sabit veriler için.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309360" cy="3474720"/>
          </a:xfrm>
          <a:prstGeom prst="roundRect">
            <a:avLst>
              <a:gd name="adj" fmla="val 157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053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Değişmez (immutable)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koordinat = (39.93, 32.85)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Ankara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koordinat[0] = 40  ❌ TypeError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Tek elemanlı tuple — virgül ŞART!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 = (5,)     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tuple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degil = (5)    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sadece sayı 5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UNPACKING — çok kullanışlı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boyut = (150, 4)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satir, sutun = boyut      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aynen df.shape gibi!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print(f"{satir} satır, {sutun} sütun")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namedtuple — okunabilir kayıt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namedtuple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Olcum = namedtuple("Olcum", ["ist", "sicaklik", "nem"])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= Olcum("Esenboğa", 23.5, 45)</a:t>
            </a:r>
            <a:endParaRPr lang="en-US" sz="1075" dirty="0"/>
          </a:p>
          <a:p>
            <a:pPr marL="0" indent="0">
              <a:lnSpc>
                <a:spcPts val="1440"/>
              </a:lnSpc>
              <a:buNone/>
            </a:pPr>
            <a:r>
              <a:rPr lang="en-US" sz="107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print(o.sicaklik)            </a:t>
            </a:r>
            <a:r>
              <a:rPr lang="en-US" sz="107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23.5 → df.sicaklik'in ruhu</a:t>
            </a:r>
            <a:endParaRPr lang="en-US" sz="1075" dirty="0"/>
          </a:p>
        </p:txBody>
      </p:sp>
      <p:sp>
        <p:nvSpPr>
          <p:cNvPr id="7" name="Text 5"/>
          <p:cNvSpPr/>
          <p:nvPr/>
        </p:nvSpPr>
        <p:spPr>
          <a:xfrm>
            <a:off x="7132320" y="193852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tuple?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0" y="2331720"/>
            <a:ext cx="45079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Değişmemesi gereken veri: koordinat, RGB rengi, sabit ayar.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df.shape bir tuple döndürür: (satır, sütun) — unpacking ile yakalarsınız.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Fonksiyondan birden çok değer döndürmenin yolu (Oturum 2).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namedtuple, indeks yerine isimle erişim sağlar — Series'in habercisi.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elif / else — veri sınıflandırma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koşullu dallanma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3017520"/>
          </a:xfrm>
          <a:prstGeom prst="roundRect">
            <a:avLst>
              <a:gd name="adj" fmla="val 1818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kategori(sicaklik):     </a:t>
            </a: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def'i Oturum 2'de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sicaklik &lt; 0: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"Donma"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sicaklik &lt; 15: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"Soğuk"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sicaklik &lt; 25: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"Ilıman"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"Sıcak"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Basit hâli (fonksiyonsuz):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sicaklik = 23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sicaklik &lt; 25: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print("Ilıman")   </a:t>
            </a: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çalışır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print("Sıcak")</a:t>
            </a:r>
            <a:endParaRPr lang="en-US" sz="1041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ternary — eksik veri doldurma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3017520"/>
          </a:xfrm>
          <a:prstGeom prst="roundRect">
            <a:avLst>
              <a:gd name="adj" fmla="val 1818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Koşullu ifade (tek satır if/else)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 = 20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 = "Yetişkin" if yas &gt;= 18 else "Çocuk"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En sık kullanım: eksik veri (None → 0)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deger = None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 = deger if deger is not None else 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print(temiz)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Zincir de olur (okunabilirlik düşer)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puan = 85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harf = "A" if puan &gt;= 90 else "B" if puan &gt;= 80 else "C"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51617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51617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9834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if/elif zinciri, Oturum 4'te pd.cut() ve np.select() ile 1 milyon satırda anında çalışacak. 'deger if deger is not None else 0' kalıbı ise eksik veriyi doldurmanın (fillna) saf Python hâli.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/ case — modern desen eşleme (Python 3.10+)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değeri birçok olasılıkla karşılaştırırken uzun if/elif yerine daha okunaklı bir seçenek.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965960"/>
            <a:ext cx="10835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uzanti = "csv"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uzanti: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"csv":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print("pd.read_csv")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"xlsx" | "xls":       </a:t>
            </a: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birden çok değer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print("pd.read_excel")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"json":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print("pd.read_json")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_:                    </a:t>
            </a: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 = diğer her şey (else)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print("desteklenmiyor")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7" dirty="0"/>
          </a:p>
          <a:p>
            <a:pPr marL="0" indent="0">
              <a:lnSpc>
                <a:spcPts val="1551"/>
              </a:lnSpc>
              <a:buNone/>
            </a:pPr>
            <a:r>
              <a:rPr lang="en-US" sz="1157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Çıktı: pd.read_csv</a:t>
            </a:r>
            <a:endParaRPr lang="en-US" sz="1157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13232" y="51617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13232" y="51617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49834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match/case Python'a yeni eklendi (3.10). Colab güncel olduğu için kullanabiliriz. '_' joker deseni 'geri kalan her şey' demektir — if/elif'teki else'in karşılığı. Basit eşlemelerde if/elif'ten daha okunaklıdır.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 içe ve birleşik koşullar — ve kritik if/elif farkı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3566160"/>
          </a:xfrm>
          <a:prstGeom prst="roundRect">
            <a:avLst>
              <a:gd name="adj" fmla="val 1538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6053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İÇ İÇE koşul (koşul içinde koşul)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kayit is not None: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kayit["yas"] &gt;= 18: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print("yetişkin")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 CLAUSE (erken çıkış) — iç içeyi düzleştirir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kontrol(kayit):             </a:t>
            </a: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def'i Oturum 2'de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kayit is None: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"kayıt yok"       </a:t>
            </a: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erken çık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kayit["yas"] &lt; 0: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"geçersiz yaş"    </a:t>
            </a: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erken çık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"geçerli"             </a:t>
            </a: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hepsini geçtiyse OK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ardışık if  ≠  elif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0: print("a")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3: print("b")     </a:t>
            </a: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İKİSİ de çalışır → a, b</a:t>
            </a:r>
            <a:endParaRPr lang="en-US" sz="1104" dirty="0"/>
          </a:p>
          <a:p>
            <a:pPr marL="0" indent="0">
              <a:lnSpc>
                <a:spcPts val="1480"/>
              </a:lnSpc>
              <a:buNone/>
            </a:pPr>
            <a:r>
              <a:rPr lang="en-US" sz="1104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elif olsaydı sadece "a" — ilk uyan dalda durur</a:t>
            </a:r>
            <a:endParaRPr lang="en-US" sz="1104" dirty="0"/>
          </a:p>
        </p:txBody>
      </p:sp>
      <p:sp>
        <p:nvSpPr>
          <p:cNvPr id="6" name="Text 4"/>
          <p:cNvSpPr/>
          <p:nvPr/>
        </p:nvSpPr>
        <p:spPr>
          <a:xfrm>
            <a:off x="7132320" y="161848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kritik nokta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0" y="2011680"/>
            <a:ext cx="45079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if okunması zordur; guard clause (erken return) ile düzleştirin — profesyonel kod böyle yazılır.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'önceki hiçbiri değilse'. İlk uyan dal çalışır, gerisi ATLANIR.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 ardışık if'ler HER koşulu tek tek kontrol eder — bu farkı bilmemek en yaygın mantık hatasıdır.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veri: = 'doluysa', if not veri: = 'boşsa'. Eksik/boş veri kontrolünde sürekli kullanılır.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Koşul deseni: gerçek dünya sınıflandırma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koşul araçlarını (if/elif zinciri + birleşik koşul + ternary) tek bir gerçek problemde birleştirelim: kargo ücreti.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3383280"/>
          </a:xfrm>
          <a:prstGeom prst="roundRect">
            <a:avLst>
              <a:gd name="adj" fmla="val 1622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kargo_ucreti(kg, mesafe_km, uye=False):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1) Ağırlığa göre temel ücret (if/elif zinciri)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kg &lt;= 1:      ucret = 20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kg &lt;= 5:    ucret = 35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kg &lt;= 20:   ucret = 60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ucret = 100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2) Mesafe eki (BİRLEŞİK koşul — and)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mesafe_km &gt; 500 and kg &gt; 5: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ucret += 40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mesafe_km &gt; 500: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ucret += 20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3) Üyelik indirimi (ternary)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round(ucret * 0.85 if uye else ucret, 2)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print(kargo_ucreti(3, 300))            </a:t>
            </a:r>
            <a:r>
              <a:rPr lang="en-US" sz="104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35</a:t>
            </a:r>
            <a:endParaRPr lang="en-US" sz="1045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45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print(kargo_ucreti(8, 600, uye=True))  </a:t>
            </a:r>
            <a:r>
              <a:rPr lang="en-US" sz="1045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(60+40)*0.85</a:t>
            </a:r>
            <a:endParaRPr lang="en-US" sz="1045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3383280"/>
          </a:xfrm>
          <a:prstGeom prst="roundRect">
            <a:avLst>
              <a:gd name="adj" fmla="val 1351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85.0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8kg → 60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+500km &amp; &gt;5kg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+40 = 100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üye → *0.85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85.0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58475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58475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56692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fonksiyonda koşulların tamamı: if/elif zinciri (kademeli fiyat), birleşik and koşulu, ternary indirim. Bu 'kademeli sınıflandırma' deseni Oturum 4'te pd.cut() (aralıklara bölme) ve np.select() (çok koşullu atama) olarak vektörleşecek — ama mantık aynı.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ALIŞTIRMA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Şimdi siz: koşullu değerlendirme sistemi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ŞİMDİ SİZ  ·  6 dk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26314A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öğrenciyi notuna göre değerlendiren degerlendir(not_, devamsizlik=0) fonksiyonu yazın: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Guard clause: not 0-100 dışındaysa 'geçersiz not' döndürün.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Harf notu (if/elif): 90+ AA · 80+ BA · 70+ BB · 60+ CC · 50+ DD · altı FF.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Geçti mi? 50 ve üzeri geçer (ternary).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Burs: not 85+ VE devamsizlik &lt; 3 ise 'burslu' (birleşik koşul).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örn: 'BA | Geçti | burslu değil'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1728216"/>
            <a:ext cx="5605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başlangıç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5272" cy="3291840"/>
          </a:xfrm>
          <a:prstGeom prst="roundRect">
            <a:avLst>
              <a:gd name="adj" fmla="val 166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163056" y="205740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degerlendir(not_, devamsizlik=0):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1) guard clause — geçersiz girdi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(0 &lt;= not_ &lt;= 100):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"geçersiz not"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2) harf notu (if/elif zinciri)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not_ &gt;= 90:   harf = "AA"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not_ &gt;= 80: harf = "BA"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devamını siz yazın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3) gecti = ...   (ternary)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4) burs = ...    (not_ &gt;= 85 and devamsizlik &lt; 3)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f"{harf} | ... | ..."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print(degerlendir(84, 1))   </a:t>
            </a: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 | Geçti | burslu değil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13232" y="56875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13232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5577840"/>
            <a:ext cx="10323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alıştırma bugünkü koşul araçlarının hepsini kullanır: guard clause + if/elif zinciri + ternary + birleşik koşul. Çözümü birlikte yapacağız.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döngüsü, range ve enumerate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+ range — koleksiyon üzerinde dön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Liste üzerinde (Blok 2 başında öğrendik)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[22.5, 24.1, 19.8]: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range(baş, son, adım)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range(0, 50, 10):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print(f"{i}-{i+9} yaş grubu")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0-9, 10-19, 20-29, 30-39, 40-49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 — indeks + değer birlikte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sutunlar = ["yas", "gelir", "sehir"]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ad in enumerate(sutunlar):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print(f"Sütun {i}: {ad}")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Sütun 0: yas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Sütun 1: gelir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Sütun 2: sehir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df.columns üzerinde gezinmenin habercisi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4759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2976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artık listeleri (Blok 2 başı) biliyoruz, o yüzden anlamlı. enumerate 'kaçıncı elemandayım?' bilgisini bedava verir. Pandas'ta genelde döngüden kaçınırız (vektörizasyon), ama sütunlar/gruplar üzerinde gezerken bu kalıbı kullanırız.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 — iki listeyi eşleştir (JOIN'in atası)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2468880"/>
          </a:xfrm>
          <a:prstGeom prst="roundRect">
            <a:avLst>
              <a:gd name="adj" fmla="val 2222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6236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adlar   = ["Ayşe", "Mehmet", "Zeynep"]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maaslar = [7850, 9200, 6400]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İkisini paralel gez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ad, maas in zip(adlar, maaslar):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print(f"{ad:&lt;8} {maas:&gt;7,} TL")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İki listeden sözlük/tablo kur (dict'i birazdan)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print(dict(zip(adlar, maaslar)))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{'Ayşe':7850, 'Mehmet':9200, 'Zeynep':6400}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0" y="1600200"/>
            <a:ext cx="4416552" cy="2468880"/>
          </a:xfrm>
          <a:prstGeom prst="roundRect">
            <a:avLst>
              <a:gd name="adj" fmla="val 1852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406640" y="1691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06640" y="1984248"/>
            <a:ext cx="40507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Ayşe       7,850 TL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Mehmet     9,200 TL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Zeynep     6,400 TL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{'Ayşe': 7850,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'Mehmet': 9200,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'Zeynep': 6400}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13232" y="461314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3232" y="4613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" y="443484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iki ayrı listeyi 'satır satır' birleştirir — bu, Oturum 4'teki pd.merge() (tabloları birleştirme) fikrinin çekirdeği. dict(zip(...)) ile iki listeden anında sözlük kurmak da çok kullanışlı bir kalıp.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ve döngü kontrolü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— koşul sağlandıkça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788920"/>
          </a:xfrm>
          <a:prstGeom prst="roundRect">
            <a:avLst>
              <a:gd name="adj" fmla="val 196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Sayfalama (API'den veri çekme kalıbı)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sayfa, toplam = 1, 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sayfa &lt;= 5: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toplam += sayfa * 100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sayfa += 1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print(toplam)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1500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Koşulu güncellemeyi unutma → sonsuz döngü!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· continue · pass · for-else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788920"/>
          </a:xfrm>
          <a:prstGeom prst="roundRect">
            <a:avLst>
              <a:gd name="adj" fmla="val 1967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olcumler = [22.1, 23.4, -999, 25.0]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continue → bu adımı atla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 = []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 in olcumler: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 == -999:      </a:t>
            </a:r>
            <a:r>
              <a:rPr lang="en-US" sz="102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bozuk kayıt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temiz.append(o)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break → döngüden tamamen çık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 in olcumler: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 &gt; 100: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print("Anomali!"); break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21" dirty="0"/>
          </a:p>
          <a:p>
            <a:pPr marL="0" indent="0">
              <a:lnSpc>
                <a:spcPts val="1368"/>
              </a:lnSpc>
              <a:buNone/>
            </a:pPr>
            <a:r>
              <a:rPr lang="en-US" sz="102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print("Anomali yok")   </a:t>
            </a:r>
            <a:r>
              <a:rPr lang="en-US" sz="102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break olmadıysa</a:t>
            </a:r>
            <a:endParaRPr lang="en-US" sz="1021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9331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933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7548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= 'bu kaydı atla', break = 'döngüyü bitir'. Bozuk veriyi (-999 gibi sentinel değerler) atlarken continue'yu sürekli kullanacağız. for-else'teki else, döngü break'siz bitince çalışır — az bilinen ama kullanışlı.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 · ★★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 — döngüyü tek satıra indirmek (ve o 5 şehri temizlemek)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o karışık şehirler — Blok 2 başında söz vermiştik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 = ["  Ankara ", "ankara", "ANKARA",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"Ankara\n", " ANKara "]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Tek satır: "her eleman için temizle"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 = [s.strip().capitalize() for s in ham]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print(set(temiz))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{'Ankara'}  ← 5 kategori 1'e indi!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üç temel kalıp (döngünün kısa yazımı)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 = [22.5, 24.1, 19.8, 31.2, 28.0]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Dönüştür → df["c"] * 9/5 + 32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 * 9/5 + 32 for c in sic]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Filtrele → df[df.c &gt; 25]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 for c in sic if c &gt; 25]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[31.2, 28.0]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Kategorilendir → np.where(...)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["Sıcak" if c &gt; 25 else "Ilıman" for c in sic]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79602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7960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61772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Comprehension'ı özellikle döngülerden SONRA öğrendik — çünkü '[... for x in ...]' aslında bir for döngüsünün kısa yazımı. Üç kalıp (dönüştür/filtrele/kategorilendir) Oturum 3-4'te NumPy/Pandas'ta tek satır olacak. Bu, 'vektörel düşünmenin' ilk adımı.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2 · KONTROL AKIŞI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Yerleşik toplulaştırıcılar — istatistiğin ilkel hâli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6656" y="1691640"/>
            <a:ext cx="6236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[22.5, 24.1, 19.8, 31.2, 28.0]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print(len(v))                    </a:t>
            </a: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print(sum(v))                    </a:t>
            </a: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125.6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print(min(v), max(v))            </a:t>
            </a: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19.8 31.2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print(sum(v) / len(v))           </a:t>
            </a: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ortalama → .mean()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any / all — koşul kontrolü (comprehension ile)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print(any(x &gt; 30 for x in v))    </a:t>
            </a: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→ (s&gt;30).any()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print(all(x &gt; 0 for x in v))     </a:t>
            </a: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→ (s&gt;0).all()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print(round(3.14159, 2))         </a:t>
            </a: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3.14</a:t>
            </a:r>
            <a:endParaRPr lang="en-US" sz="1116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1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print(abs(-7))                   </a:t>
            </a:r>
            <a:r>
              <a:rPr lang="en-US" sz="111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</a:t>
            </a:r>
            <a:endParaRPr lang="en-US" sz="1116" dirty="0"/>
          </a:p>
        </p:txBody>
      </p:sp>
      <p:sp>
        <p:nvSpPr>
          <p:cNvPr id="6" name="Shape 4"/>
          <p:cNvSpPr/>
          <p:nvPr/>
        </p:nvSpPr>
        <p:spPr>
          <a:xfrm>
            <a:off x="7223760" y="1600200"/>
            <a:ext cx="4416552" cy="2651760"/>
          </a:xfrm>
          <a:prstGeom prst="roundRect">
            <a:avLst>
              <a:gd name="adj" fmla="val 172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406640" y="1691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06640" y="1984248"/>
            <a:ext cx="4050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125.6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19.8 31.2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25.12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13232" y="479602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3232" y="47960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" y="461772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sum/len/min/max/any/all — hepsi Pandas'ta bir metoda karşılık gelir. any(x &gt; 30 for x in v) = '30'dan büyük var mı?' → Pandas'ta (s &gt; 30).any(). Bugün elle kullanıyoruz, yarın vektörel. (any/all comprehension ile çalışır — onu da az önce öğrendik.)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1828800"/>
            <a:ext cx="4023360" cy="3200400"/>
          </a:xfrm>
          <a:prstGeom prst="roundRect">
            <a:avLst>
              <a:gd name="adj" fmla="val 11429"/>
            </a:avLst>
          </a:prstGeom>
          <a:solidFill>
            <a:srgbClr val="2631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D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3291840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13:40–14:40 · 60 dk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Sözlükler, Kümeler ve Veri Köprüsü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10128" y="3429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— bir satır/kayıt; get() ile eksik veri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Sözlük listesi = tablo · defaultdict = groupby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— tekillik ve veri sızıntısı · mutability &amp; kopya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 okuma + 3 uygulamalı lab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— anahtar/değer, bir satır/kayıt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ve en önemli koleksiyon. Sözlük = bir kayıt (bir yolcu, sipariş, kullanıcı). JSON ve API cevaplarının dili.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yolcu = {"ad": "Ayşe", "yas": 34,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"sinif": 1, "hayatta": True}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print(yolcu["ad"])            </a:t>
            </a:r>
            <a:r>
              <a:rPr lang="en-US" sz="103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Ayşe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print(yolcu["yas"])           </a:t>
            </a:r>
            <a:r>
              <a:rPr lang="en-US" sz="103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34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Ekleme / güncelleme / silme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yolcu["liman"] = "S"          </a:t>
            </a:r>
            <a:r>
              <a:rPr lang="en-US" sz="103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yeni anahtar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yolcu["yas"] = 35             </a:t>
            </a:r>
            <a:r>
              <a:rPr lang="en-US" sz="103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güncelle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yolcu["hayatta"]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Tüm anahtar / değerler (for ile gezilebilir)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print(list(yolcu.keys()))</a:t>
            </a:r>
            <a:endParaRPr lang="en-US" sz="1036" dirty="0"/>
          </a:p>
          <a:p>
            <a:pPr marL="0" indent="0">
              <a:lnSpc>
                <a:spcPts val="1389"/>
              </a:lnSpc>
              <a:buNone/>
            </a:pPr>
            <a:r>
              <a:rPr lang="en-US" sz="1036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print(list(yolcu.values()))</a:t>
            </a:r>
            <a:endParaRPr lang="en-US" sz="1036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651760"/>
          </a:xfrm>
          <a:prstGeom prst="roundRect">
            <a:avLst>
              <a:gd name="adj" fmla="val 172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Ayşe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['ad','yas','sinif',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'liman']</a:t>
            </a:r>
            <a:endParaRPr lang="en-US" sz="1150" dirty="0"/>
          </a:p>
          <a:p>
            <a:pPr marL="0" indent="0">
              <a:lnSpc>
                <a:spcPts val="1725"/>
              </a:lnSpc>
              <a:buNone/>
            </a:pPr>
            <a:r>
              <a:rPr lang="en-US" sz="115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['Ayşe',35,1,'S']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51160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5116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93776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sözlük = bir satır. Sütun adları = anahtarlar, hücre değerleri = değerler. Bir sonraki adımda sözlüklerden oluşan bir LİSTE yapacağız — ve o, tam olarak bir tablo (DataFrame) olacak.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get() eksik veri için, Counter sayım için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— KeyError yerine varsayılan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yolcu = {"ad": "Ayşe", "yas": 34}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print(yolcu["kabin"])  ❌ KeyError!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print(yolcu.get("kabin"))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print(yolcu.get("kabin", "yok"))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'yok'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"veri var mı?" güvenli erişim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kabin = yolcu.get("kabin", "bilinmiyor")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— otomatik frekans sayacı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sehirler = ["Ankara","İzmir","Ankara",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"Bursa","Ankara","İzmir"]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print(Counter(sehirler))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{'Ankara':3, 'İzmir':2, 'Bursa':1}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print(Counter(sehirler).most_common(2))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[('Ankara',3), ('İzmir',2)]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4759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2976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ile 'eksik anahtarı çökemeden ele alma', Oturum 4'te Pandas'ın NaN yönetiminin habercisi. Counter ise doğrudan df['sehir'].value_counts()'un ta kendisi — kategori dağılımını saymanın en hızlı yolu.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DICT · ★★ ANA KÖPRÜ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Sözlük listesi = tablo. DataFrame'in tam atası.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 Python: sözlük listesi (comprehension ✓)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514600"/>
          </a:xfrm>
          <a:prstGeom prst="roundRect">
            <a:avLst>
              <a:gd name="adj" fmla="val 2182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yolcular = [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{"ad":"Ayşe","yas":34,"sinif":1,"hayatta":True},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{"ad":"Mehmet","yas":28,"sinif":3,"hayatta":False},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{"ad":"Zeynep","yas":41,"sinif":1,"hayatta":True},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Sütun çek → df["yas"]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print([y["yas"] for y in yolcular])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Ortalama yaş → df["yas"].mean()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print(sum(y["yas"] for y in yolcular)/3)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Filtre → df[df.hayatta]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print([y["ad"] for y in yolcular if y["hayatta"]])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aynı veriyi Pandas'a ver — Oturum 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514600"/>
          </a:xfrm>
          <a:prstGeom prst="roundRect">
            <a:avLst>
              <a:gd name="adj" fmla="val 2182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print(pd.DataFrame(yolcular))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ad  yas  sinif  hayatta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   Ayşe   34      1     True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Mehmet   28      3    False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 Zeynep   41      1     True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Sizin sözlük listeniz = bir DataFrame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6588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658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48056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“İşte Oturum 4. Aynı veri, tablo hâlinde. Sizin elle kurduğunuz sözlük listesini Pandas'a verdim, o bir DataFrame yaptı.” Not: sol taraftaki comprehension'ları artık öğrendik (Blok 2) — o yüzden bu örnek artık tamamen anlaşılır. Bu, sıralamayı düzeltmenin somut faydası.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DICT · ★★ ANA KÖPRÜ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groupby'ı elle yazdırıyoruz — sonra tek satırını veriyoruz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Oturum 1 — defaultdict + for, elle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defaultdict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gruplar = defaultdict(list)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y in yolcular:             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 (for ✓)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gruplar[y["sinif"]].append(y["yas"])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sinif, yaslar in sorted(gruplar.items()):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ort = sum(yaslar)/len(yaslar)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print(f"Sınıf {sinif}: {ort:.1f}")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Oturum 4 — Pandas ile, tek satır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df.groupby("sinif")["yas"].mean()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Aynı sonuç. Aynı fikir.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Sadece C hızında ve 1 satırda.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 → apply → combine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Üç kelime — artık soyut değil,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yaşanmış bir deneyim.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4759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2976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Müfredatın en önemli hamlesi: groupby'ı ÖĞRENMEDEN ÖNCE kendiniz icat ediyorsunuz. for döngüsü ve dict artık bilindiği için (Blok 2 → Blok 3) bu kod tamamen anlaşılır. defaultdict(list): olmayan anahtara erişince otomatik boş liste açar.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SET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— tekillik ve veri sızıntısı kontrolü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tekilleştirme + hız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sehirler = ["Ankara","İzmir","Ankara",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"Bursa","İzmir","Ankara"]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print(set(sehirler))    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tekil → df.unique()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print(len(set(sehirler)))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kaç farklı → df.nunique()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'in' testi: set, list'ten KAT KAT hızlı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(büyük veride fark eder)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4204" y="1362456"/>
            <a:ext cx="5454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küme işlemleri = veri seti kıyası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85916" y="1600200"/>
            <a:ext cx="5454396" cy="2331720"/>
          </a:xfrm>
          <a:prstGeom prst="roundRect">
            <a:avLst>
              <a:gd name="adj" fmla="val 2353"/>
            </a:avLst>
          </a:prstGeom>
          <a:solidFill>
            <a:srgbClr val="1B2333"/>
          </a:solidFill>
          <a:ln w="12700">
            <a:solidFill>
              <a:srgbClr val="FF7B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13932" y="1691640"/>
            <a:ext cx="51983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egitim = {"a1", "a2", "a3", "a4"}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 = {"a3", "a4", "a5"}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print(egitim &amp; test)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{'a3','a4'} → SIZINTI!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print(egitim - test)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{'a1','a2'} (fark)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print(egitim | test)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birleşim</a:t>
            </a:r>
            <a:endParaRPr lang="en-US" sz="1150" dirty="0"/>
          </a:p>
          <a:p>
            <a:pPr marL="0" indent="0">
              <a:lnSpc>
                <a:spcPts val="1541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print(egitim ^ test)   </a:t>
            </a:r>
            <a:r>
              <a:rPr lang="en-US" sz="115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simetrik fark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447598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29768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 (data leakage): eğitim ve test setinde aynı kayıt varsa model 'kopya çeker' ve sahte yüksek başarı verir. Kontrol tek satır: egitim &amp; test boş mu? Oturum 8-9'da model kurarken bu kritik olacak. set ayrıca df.unique()/nunique()'in habercisi.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MUTABILITY ·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Değiştirilebilirlik ve kopyalama — sığ vs derin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list/dict/set DEĞİŞTİRİLEBİLİR (mutable); str/tuple değiştirilemez. Bu ayrım kopyalarken kritik — ve slayt 12'deki b=a sürprizinin tam açıklaması.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3017520"/>
          </a:xfrm>
          <a:prstGeom prst="roundRect">
            <a:avLst>
              <a:gd name="adj" fmla="val 1818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1965960"/>
            <a:ext cx="10835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copy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Atama kopyalamaz (slayt 12'yi hatırla)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3]; b = a; b.append(4)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     </a:t>
            </a: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4]  ← a da değişti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Sığ kopya — bir seviye kopyalar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a.copy()          </a:t>
            </a: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veya a[:] / list(a)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c.append(5)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     </a:t>
            </a: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[1,2,3,4] ← etkilenmedi ✔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İç içe yapıda sığ kopya YETMEZ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tablo = [[1, 2], [3, 4]]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= tablo.copy(); sig[0].append(99)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print(tablo)          </a:t>
            </a: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[[1,2,99],[3,4]] ← içeriden bozuldu!</a:t>
            </a:r>
            <a:endParaRPr lang="en-US" sz="1041" dirty="0"/>
          </a:p>
          <a:p>
            <a:pPr marL="0" indent="0">
              <a:lnSpc>
                <a:spcPts val="1395"/>
              </a:lnSpc>
              <a:buNone/>
            </a:pPr>
            <a:r>
              <a:rPr lang="en-US" sz="104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derin = copy.deepcopy(tablo)   </a:t>
            </a:r>
            <a:r>
              <a:rPr lang="en-US" sz="1041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✔ gerçek çözüm</a:t>
            </a:r>
            <a:endParaRPr lang="en-US" sz="1041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13232" y="543610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13232" y="54361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525780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Pandas'ın en meşhur uyarısı SettingWithCopyWarning tam olarak buradan doğar: bir dilim view mı yoksa copy mi? Oturum 4'te bu uyarıyı gördüğünüzde 'hah, view vs copy, .copy() lazım' diyeceksiniz. Blok 1'deki b=a tohumunun çiçeği bu.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HATA OKUMA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Hata mesajı (traceback) okumak — aşağıdan yukarı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çok kod yazdık, bazıları hata verecek. Panik yok: traceback'i AŞAĞIDAN YUKARI okuyun; en alt satır sorunu söyler.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2651760"/>
          </a:xfrm>
          <a:prstGeom prst="roundRect">
            <a:avLst>
              <a:gd name="adj" fmla="val 206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011680"/>
            <a:ext cx="6236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notlar = {"Ayşe": 85, "Mehmet": 90}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print(notlar["Zeynep"])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Traceback (most recent call last):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File "...", line 2, in &lt;module&gt;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print(notlar["Zeynep"])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KeyError: 'Zeynep'</a:t>
            </a:r>
            <a:endParaRPr lang="en-US" sz="1200" dirty="0"/>
          </a:p>
          <a:p>
            <a:pPr marL="0" indent="0">
              <a:lnSpc>
                <a:spcPts val="1608"/>
              </a:lnSpc>
              <a:buNone/>
            </a:pPr>
            <a:r>
              <a:rPr lang="en-US" sz="12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↑ EN ALT satır: hatanın TÜRÜ ve nedeni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4416552" cy="2651760"/>
          </a:xfrm>
          <a:prstGeom prst="roundRect">
            <a:avLst>
              <a:gd name="adj" fmla="val 172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2304288"/>
            <a:ext cx="4050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KeyError: 'Zeynep'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"Zeynep" anahtarı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sözlükte yok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Çözüm: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notlar.get("Zeynep",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"yok")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13232" y="51160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5116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493776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okumak, kod yazmadan önce gelen beceridir. En alt satır hatanın tipini (KeyError, ValueError, TypeError...) ve mesajını verir. Oturum 2'de bu hataları try/except ile yakalamayı, her birinin veri bilimindeki karşılığını öğreneceğiz.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LAB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A: Sensör Veri Temizleyici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ŞİMDİ SİZ  ·  10 dk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26314A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ölçüm listesinde bozuk değerler var: -999, 999 (sensör hatası) ve None (kayıp).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Bu üç bozuk değeri ayıklayıp temiz bir liste üretin (comprehension + not in).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Temiz veride n, ortalama, min, max ve medyan hesaplayın.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25°C üstünde kaç ölçüm olduğunu bulun.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Verinin yüzde kaçı bozuktu? (bozuk / toplam)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1728216"/>
            <a:ext cx="5605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başlangıç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5272" cy="3291840"/>
          </a:xfrm>
          <a:prstGeom prst="roundRect">
            <a:avLst>
              <a:gd name="adj" fmla="val 166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163056" y="205740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 = [22.5, -999, 24.1, None, 19.8,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999, 31.2, -999, 28.0, 24.4]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BOZUK = (-999, 999, None)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temizle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 = [x for x in ham if x ...]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istatistik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len(temiz)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 = ...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25 üstü sayısı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bozuk oranı = 1 - len(temiz)/len(ham)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13232" y="56875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13232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5577840"/>
            <a:ext cx="10323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İpuçları: 'x not in BOZUK' · sum()/len() · sorted()[n//2] · sum(1 for x in temiz if x &gt; 25) · f'{oran:.1%}'. Bugünkü her araç burada.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LAB 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B: Anket Verisi Analizi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ŞİMDİ SİZ  ·  10 dk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26314A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Elinizde sözlük listesi (bir tablo!) var — bu bloğu hatırlayın.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Şehir isimlerini normalize edin (boşluk sil + ilk harf büyük).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Şehir başına ortalama memnuniyet — defaultdict ile. None'ları hariç tutun.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Yaş gruplarına ayırın (yas // 10 * 10) ve Counter ile dağılımı çıkarın.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En memnun ve en memnuniyetsiz katılımcıyı bulun.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1728216"/>
            <a:ext cx="5605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başlangıç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5272" cy="3291840"/>
          </a:xfrm>
          <a:prstGeom prst="roundRect">
            <a:avLst>
              <a:gd name="adj" fmla="val 166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163056" y="205740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cevaplar = [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{"ad":"Ayşe","yas":34,"sehir":" ankara ","mem":4},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{"ad":"Mehmet","yas":28,"sehir":"İZMİR","mem":2},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{"ad":"Zeynep","yas":41,"sehir":"Ankara","mem":5},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{"ad":"Can","yas":19,"sehir":"izmir","mem":3},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{"ad":"Elif","yas":55,"sehir":"Bursa ","mem":None},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c["sehir"].strip().capitalize()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defaultdict(list) → şehir: [mem...]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Counter(yas//10*10 ...)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max(..., key=lambda c: c["mem"])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13232" y="56875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13232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5577840"/>
            <a:ext cx="10323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lab bugünkü HER ŞEYİ birleştirir: string temizliği + dict + defaultdict + Counter + comprehension. Oturum 4'te aynı analizi 3-4 satır Pandas'la yapacağız.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5A9B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BLOK 3 · LAB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C: Sayı Tahmin Oyunu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ŞİMDİ SİZ  ·  10 dk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26314A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1-100 arası rastgele bir sayı tutsun.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tahmin etsin; 'daha büyük / daha küçük' ipucu verin.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tahminde döngüyü bitirin (break) ve kaç denemede bildiğini söyleyin.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geçersiz giriş gelirse try/except ile çökemeden uyarın (Oturum 2 teaser).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1728216"/>
            <a:ext cx="5605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başlangıç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5272" cy="3291840"/>
          </a:xfrm>
          <a:prstGeom prst="roundRect">
            <a:avLst>
              <a:gd name="adj" fmla="val 166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163056" y="205740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gizli = random.randint(1, 100)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deneme = 0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deneme += 1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tahmin = int(input("Tahmin (1-100): "))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tahmin &lt; gizli: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print("Daha büyük")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tahmin &gt; gizli: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print("Daha küçük")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print(f"Bildin! {deneme} denemede")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2A2410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13232" y="5687568"/>
            <a:ext cx="329184" cy="329184"/>
          </a:xfrm>
          <a:prstGeom prst="ellipse">
            <a:avLst/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13232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5577840"/>
            <a:ext cx="10323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+ break = 'koşul sağlanana kadar dön'. Bu oyun bir arama algoritması (binary search) sezgisi kazandırır — akıllıca oynarsanız 7 denemede bulursunuz.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OTURUM 1 · KAPANIŞ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Oturum 1 özeti — neyi öğrendik?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56432" cy="4206240"/>
          </a:xfrm>
          <a:prstGeom prst="roundRect">
            <a:avLst>
              <a:gd name="adj" fmla="val 132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56432" cy="402336"/>
          </a:xfrm>
          <a:prstGeom prst="roundRect">
            <a:avLst>
              <a:gd name="adj" fmla="val 11364"/>
            </a:avLst>
          </a:prstGeom>
          <a:solidFill>
            <a:srgbClr val="FFD3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94944" y="15087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1: Değişken · tip · operatör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4944" y="2011680"/>
            <a:ext cx="32186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Değişken = ilk yapı (name binding)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 = a sürprizi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int · float (IEEE-754 tuzağı)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bool = oran ★ · None = eksik veri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Tip dönüşümü → sonra input()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Aritmetik · / vs // · %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Karşılaştırma · and/or · is/in · &amp; 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456432" cy="4206240"/>
          </a:xfrm>
          <a:prstGeom prst="roundRect">
            <a:avLst>
              <a:gd name="adj" fmla="val 132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456432" cy="402336"/>
          </a:xfrm>
          <a:prstGeom prst="roundRect">
            <a:avLst>
              <a:gd name="adj" fmla="val 11364"/>
            </a:avLst>
          </a:prstGeom>
          <a:solidFill>
            <a:srgbClr val="5A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398264" y="15087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2: Metin · liste · akış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98264" y="2011680"/>
            <a:ext cx="32186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String + Türkçe İ/ı ★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Dilimleme [a:b:c] · f-string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String metotları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list = sütun · metotlar · istatistik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tuple + unpacking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if/elif · match/case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for · zip=join · while · ★ comprehension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456432" cy="4206240"/>
          </a:xfrm>
          <a:prstGeom prst="roundRect">
            <a:avLst>
              <a:gd name="adj" fmla="val 1323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456432" cy="402336"/>
          </a:xfrm>
          <a:prstGeom prst="roundRect">
            <a:avLst>
              <a:gd name="adj" fmla="val 11364"/>
            </a:avLst>
          </a:prstGeom>
          <a:solidFill>
            <a:srgbClr val="7BC98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101584" y="15087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3: Sözlük · küme · köprü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01584" y="2011680"/>
            <a:ext cx="32186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dict = satır/kayıt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get() · Counter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★★ sözlük listesi = tablo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★★ defaultdict = groupby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set = tekillik + sızıntı ★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Mutability &amp; derin kopya ★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Traceback okuma · 3 lab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ileride bir kütüphaneye köprü kuran kavram. Sıralama bağımlılığa göre: değişken → tip → operatör → metin/liste → kontrol akışı → sözlük/köprü. Hiçbir yapı, gereken ön bilgi verilmeden kullanılmadı.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468880"/>
            <a:ext cx="6766560" cy="5943600"/>
          </a:xfrm>
          <a:prstGeom prst="roundRect">
            <a:avLst>
              <a:gd name="adj" fmla="val 923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KAPANIŞ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Hatırlayın: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E9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ilk 4 satır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6126480" cy="1691640"/>
          </a:xfrm>
          <a:prstGeom prst="roundRect">
            <a:avLst>
              <a:gd name="adj" fmla="val 3243"/>
            </a:avLst>
          </a:prstGeom>
          <a:solidFill>
            <a:srgbClr val="1B2333"/>
          </a:solidFill>
          <a:ln w="12700">
            <a:solidFill>
              <a:srgbClr val="FFD34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880360"/>
            <a:ext cx="5870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df.groupby("sex")["survived"].mean()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↑ groupby     ↑ sütun seçimi  ↑ bool ortalaması = ORAN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defaultdict   dict            sum(x)/len(x)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(Blok 3)      (Blok 3)        (Blok 1)</a:t>
            </a:r>
            <a:endParaRPr lang="en-US" sz="1100" dirty="0"/>
          </a:p>
          <a:p>
            <a:pPr marL="0" indent="0">
              <a:lnSpc>
                <a:spcPts val="1474"/>
              </a:lnSpc>
              <a:buNone/>
            </a:pPr>
            <a:r>
              <a:rPr lang="en-US" sz="1100" dirty="0">
                <a:solidFill>
                  <a:srgbClr val="7BC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Artık her parçasını tanıyorsunuz.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2'de: fonksiyonlar, OOP (kendi Series'inizi yazacaksınız), modüller, dosya okuma ve hata yönetimi — ve 60 satır saf Python'u 5 satır Pandas'a çevireceğiz.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960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ÖDEV 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223760" y="13716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saat  ·  30 soru  ·  hepsi veri temalı  ·  çözüm notebook'u yarın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1874520"/>
            <a:ext cx="6217920" cy="658368"/>
          </a:xfrm>
          <a:prstGeom prst="roundRect">
            <a:avLst>
              <a:gd name="adj" fmla="val 694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60920" y="19293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192938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Değişkenler, tipler, operatörler, float tuzağı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2624328"/>
            <a:ext cx="6217920" cy="658368"/>
          </a:xfrm>
          <a:prstGeom prst="roundRect">
            <a:avLst>
              <a:gd name="adj" fmla="val 694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360920" y="267919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9–14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2679192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temizliği: Türkçe karakter, strip/split/join, f-string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3374136"/>
            <a:ext cx="6217920" cy="658368"/>
          </a:xfrm>
          <a:prstGeom prst="roundRect">
            <a:avLst>
              <a:gd name="adj" fmla="val 694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360920" y="34290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15–22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342900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dilimleme · tuple · dict kayıt · set tekilleştirme · Counter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23760" y="4123944"/>
            <a:ext cx="6217920" cy="658368"/>
          </a:xfrm>
          <a:prstGeom prst="roundRect">
            <a:avLst>
              <a:gd name="adj" fmla="val 694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360920" y="417880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23–27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417880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akışı: if · for · comprehension · filtreleme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23760" y="4873752"/>
            <a:ext cx="6217920" cy="658368"/>
          </a:xfrm>
          <a:prstGeom prst="roundRect">
            <a:avLst>
              <a:gd name="adj" fmla="val 6944"/>
            </a:avLst>
          </a:prstGeom>
          <a:solidFill>
            <a:srgbClr val="26314A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360920" y="49286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28–30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4928616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proje: 20 kayıtlık ham satış listesinden metin rapor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23760" y="5806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Python Docs Tutorial 3–5  ·  Automate the Boring Stuff, Böl. 1–5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10941</Words>
  <Application>Microsoft Office PowerPoint</Application>
  <PresentationFormat>Geniş ekran</PresentationFormat>
  <Paragraphs>1360</Paragraphs>
  <Slides>60</Slides>
  <Notes>60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Oturum 1 — Python'a Giriş</dc:title>
  <dc:subject>PptxGenJS Presentation</dc:subject>
  <dc:creator>TalkToWeb</dc:creator>
  <cp:lastModifiedBy>Cengiz Ceylan</cp:lastModifiedBy>
  <cp:revision>4</cp:revision>
  <dcterms:created xsi:type="dcterms:W3CDTF">2026-07-20T16:47:06Z</dcterms:created>
  <dcterms:modified xsi:type="dcterms:W3CDTF">2026-07-21T11:15:55Z</dcterms:modified>
</cp:coreProperties>
</file>