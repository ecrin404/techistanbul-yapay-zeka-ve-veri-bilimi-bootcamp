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0A8D35-D812-3B4C-07A1-295CC64131B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293B36C5-9B03-3A79-1798-284333B14F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B3BD3D56-F629-8C75-593F-02255C12C13A}"/>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AAC72B04-D824-3514-C6B8-55C95C06F05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868720E-57C1-E5D9-4AFC-F0FBE7D99709}"/>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2699415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B5CED32-B20D-BCD3-6E48-44ACD24A8BB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7FACC87-A6B8-E872-0308-4D431318AA97}"/>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679F09C-BD92-758C-8591-9D16BAA48E06}"/>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88EAAD65-B388-77A3-F738-1C872D968D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0C81CAF-DD05-C253-2663-3CEC0D46F0B9}"/>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92693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1DAC8DD-6C4A-40AE-A795-AC7FBE641020}"/>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D4F47770-4903-73CB-D562-1552933290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CBE8FB10-0ACC-753D-4ABD-230D365408AD}"/>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2231B5AE-F009-6FDE-6CAB-DFBA0D9C5DD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F076604-0DE3-9679-4E73-85A70C5A1EF6}"/>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2599516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EDB186C-39F1-AB9E-E80F-6007DA02FB8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5529BAD1-FDF9-D36C-D850-CDA757D3D7B7}"/>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1B029F3-1698-6C7A-E69D-B4501EACDAF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588CDAE4-9C74-2AB5-C9AC-64B014B10FFF}"/>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6" name="Alt Bilgi Yer Tutucusu 5">
            <a:extLst>
              <a:ext uri="{FF2B5EF4-FFF2-40B4-BE49-F238E27FC236}">
                <a16:creationId xmlns:a16="http://schemas.microsoft.com/office/drawing/2014/main" id="{A3E5EEF5-5F1D-0CD4-ED67-CF125D6B3DE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4A8489CE-9B52-CB61-AE31-BAFA22215D5F}"/>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335365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9181E8-0E20-A337-498B-9AC44469B562}"/>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C6A80F0-3BBF-32D8-4775-7384563DB9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BE751816-773F-5E1E-0D33-9FFD29859E80}"/>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B3FAED75-0143-307B-1C95-D31511FD15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F35B4FEA-DCD7-F8BF-05B4-702743080C10}"/>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F3F9B7FF-E130-7DF8-296F-903C34D71C64}"/>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8" name="Alt Bilgi Yer Tutucusu 7">
            <a:extLst>
              <a:ext uri="{FF2B5EF4-FFF2-40B4-BE49-F238E27FC236}">
                <a16:creationId xmlns:a16="http://schemas.microsoft.com/office/drawing/2014/main" id="{53E48254-3371-9A24-289A-70B2812736EB}"/>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15A5BF24-AA32-374E-9C44-1BEBB951FDEE}"/>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1387252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99E410B-26DA-E91D-F41C-8A13A5939FCC}"/>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271B806F-954A-0CE8-DA2C-0013DFFD727A}"/>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4" name="Alt Bilgi Yer Tutucusu 3">
            <a:extLst>
              <a:ext uri="{FF2B5EF4-FFF2-40B4-BE49-F238E27FC236}">
                <a16:creationId xmlns:a16="http://schemas.microsoft.com/office/drawing/2014/main" id="{CE2C59A1-73FD-4E6A-FC7F-6C9BC9160E57}"/>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CFA965F6-1E76-BB81-988B-95199D2F5672}"/>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2856084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476B7B8-335D-3920-96A5-4B1D6E647C94}"/>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3" name="Alt Bilgi Yer Tutucusu 2">
            <a:extLst>
              <a:ext uri="{FF2B5EF4-FFF2-40B4-BE49-F238E27FC236}">
                <a16:creationId xmlns:a16="http://schemas.microsoft.com/office/drawing/2014/main" id="{39A44295-5D47-ABBD-63FC-1174398177DD}"/>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4C51B9B4-B6D6-2F1C-1363-D14CECE52600}"/>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369757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E0F3DC-7A41-003B-4B76-272A5A4F961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40B6F8A8-72C6-6C00-F549-485FF0D2C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709F49F-1B32-7261-9BE3-88BF0BC74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701B5419-93B3-9633-3CCB-070296F0A4FE}"/>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6" name="Alt Bilgi Yer Tutucusu 5">
            <a:extLst>
              <a:ext uri="{FF2B5EF4-FFF2-40B4-BE49-F238E27FC236}">
                <a16:creationId xmlns:a16="http://schemas.microsoft.com/office/drawing/2014/main" id="{3E955774-F9E8-087A-0B9E-38859A0000A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EAAE470-8249-8E65-BC2C-569563113FC2}"/>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111795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E694FE2-83BE-38AC-184A-7A4CE0A76CE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A9FC5B2-9FEA-E0B0-9A2F-D92BFE7BE8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6DA58E40-B8E1-490B-358F-EEEFFF9BD2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1986FFE-8FBB-D0F6-9C02-6FD80E63C908}"/>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6" name="Alt Bilgi Yer Tutucusu 5">
            <a:extLst>
              <a:ext uri="{FF2B5EF4-FFF2-40B4-BE49-F238E27FC236}">
                <a16:creationId xmlns:a16="http://schemas.microsoft.com/office/drawing/2014/main" id="{37BA4240-ACB5-619C-82C8-F4F3AC18F87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DFC144B-1E3E-166F-868B-264014C82114}"/>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2377390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7D26814-4886-32B9-A381-0DB3F86176BA}"/>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8C4A68AD-D521-C41D-159A-B8C002AA7E60}"/>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67EF10B-8241-25AB-C5E5-A74085D4C73E}"/>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0DB69296-96BB-80AB-748F-66D0563A835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1B1D5ED-027D-D0E5-BDE0-9E6FE8906D7C}"/>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3825571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F14412CF-CD69-26EB-31B4-E75BD98ECC51}"/>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EE3C23D-BDEF-5622-38F0-F9B28554589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47A3656-8596-0DEB-CA6D-6982FD3C6758}"/>
              </a:ext>
            </a:extLst>
          </p:cNvPr>
          <p:cNvSpPr>
            <a:spLocks noGrp="1"/>
          </p:cNvSpPr>
          <p:nvPr>
            <p:ph type="dt" sz="half" idx="10"/>
          </p:nvPr>
        </p:nvSpPr>
        <p:spPr/>
        <p:txBody>
          <a:body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AC4087F6-07F8-60D9-5260-A16C3D9DE61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C8BB2AA-CCA8-6C20-7A23-109A7FFB3A56}"/>
              </a:ext>
            </a:extLst>
          </p:cNvPr>
          <p:cNvSpPr>
            <a:spLocks noGrp="1"/>
          </p:cNvSpPr>
          <p:nvPr>
            <p:ph type="sldNum" sz="quarter" idx="12"/>
          </p:nvPr>
        </p:nvSpPr>
        <p:spPr/>
        <p:txBody>
          <a:bodyPr/>
          <a:lstStyle/>
          <a:p>
            <a:fld id="{C5DDC86D-647D-40ED-AE3F-C853E5080391}" type="slidenum">
              <a:rPr lang="tr-TR" smtClean="0"/>
              <a:t>‹#›</a:t>
            </a:fld>
            <a:endParaRPr lang="tr-TR"/>
          </a:p>
        </p:txBody>
      </p:sp>
    </p:spTree>
    <p:extLst>
      <p:ext uri="{BB962C8B-B14F-4D97-AF65-F5344CB8AC3E}">
        <p14:creationId xmlns:p14="http://schemas.microsoft.com/office/powerpoint/2010/main" val="3685376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24F36DE5-D432-1C15-441C-718885BC58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6922973-47E9-BCC6-B4A7-BBBC88D9D3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F0C234A-0D34-E6B1-97B7-4CBB9F1D8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FFA23-AD70-4CE0-87FC-189B43A9E37F}" type="datetimeFigureOut">
              <a:rPr lang="tr-TR" smtClean="0"/>
              <a:t>30.07.2026</a:t>
            </a:fld>
            <a:endParaRPr lang="tr-TR"/>
          </a:p>
        </p:txBody>
      </p:sp>
      <p:sp>
        <p:nvSpPr>
          <p:cNvPr id="5" name="Alt Bilgi Yer Tutucusu 4">
            <a:extLst>
              <a:ext uri="{FF2B5EF4-FFF2-40B4-BE49-F238E27FC236}">
                <a16:creationId xmlns:a16="http://schemas.microsoft.com/office/drawing/2014/main" id="{12357667-1C6C-837D-6717-EA3C10C03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62C62F42-428F-D3D3-3F06-F703580B69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DDC86D-647D-40ED-AE3F-C853E5080391}" type="slidenum">
              <a:rPr lang="tr-TR" smtClean="0"/>
              <a:t>‹#›</a:t>
            </a:fld>
            <a:endParaRPr lang="tr-TR"/>
          </a:p>
        </p:txBody>
      </p:sp>
    </p:spTree>
    <p:extLst>
      <p:ext uri="{BB962C8B-B14F-4D97-AF65-F5344CB8AC3E}">
        <p14:creationId xmlns:p14="http://schemas.microsoft.com/office/powerpoint/2010/main" val="2880569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1905344" y="5458968"/>
            <a:ext cx="8381312" cy="830997"/>
          </a:xfrm>
          <a:prstGeom prst="rect">
            <a:avLst/>
          </a:prstGeom>
          <a:noFill/>
        </p:spPr>
        <p:txBody>
          <a:bodyPr wrap="square" rtlCol="0">
            <a:spAutoFit/>
          </a:bodyPr>
          <a:lstStyle/>
          <a:p>
            <a:pPr algn="ctr"/>
            <a:r>
              <a:rPr lang="tr-TR" sz="4800" dirty="0"/>
              <a:t>Doğrusal Regresyon Modelleri</a:t>
            </a:r>
          </a:p>
        </p:txBody>
      </p:sp>
      <p:pic>
        <p:nvPicPr>
          <p:cNvPr id="3" name="Resim 2">
            <a:extLst>
              <a:ext uri="{FF2B5EF4-FFF2-40B4-BE49-F238E27FC236}">
                <a16:creationId xmlns:a16="http://schemas.microsoft.com/office/drawing/2014/main" id="{8165EB87-18C8-71FB-872F-CC714C469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49" y="568035"/>
            <a:ext cx="4522902" cy="4522902"/>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E1F62F2D-31D0-DA12-32EF-8FFB378131EC}"/>
              </a:ext>
            </a:extLst>
          </p:cNvPr>
          <p:cNvPicPr>
            <a:picLocks noChangeAspect="1"/>
          </p:cNvPicPr>
          <p:nvPr/>
        </p:nvPicPr>
        <p:blipFill>
          <a:blip r:embed="rId3"/>
          <a:stretch>
            <a:fillRect/>
          </a:stretch>
        </p:blipFill>
        <p:spPr>
          <a:xfrm>
            <a:off x="1524000" y="257736"/>
            <a:ext cx="9144000" cy="5143500"/>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599F563-6BF9-3434-7F65-6FB629055F2A}"/>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68E70A44-6B5E-DA5D-9CE0-EF507761AA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1923" y="365125"/>
            <a:ext cx="11050261" cy="5985301"/>
          </a:xfrm>
        </p:spPr>
      </p:pic>
    </p:spTree>
    <p:extLst>
      <p:ext uri="{BB962C8B-B14F-4D97-AF65-F5344CB8AC3E}">
        <p14:creationId xmlns:p14="http://schemas.microsoft.com/office/powerpoint/2010/main" val="254708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EF04B5-6754-52A3-714A-1A83B1FEC770}"/>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FF025A52-DABC-33DF-114C-C8427D9D4A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3295" y="138469"/>
            <a:ext cx="11538259" cy="6445846"/>
          </a:xfrm>
        </p:spPr>
      </p:pic>
    </p:spTree>
    <p:extLst>
      <p:ext uri="{BB962C8B-B14F-4D97-AF65-F5344CB8AC3E}">
        <p14:creationId xmlns:p14="http://schemas.microsoft.com/office/powerpoint/2010/main" val="166329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34EC4E5D-576F-90FB-CD26-7089110738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0533"/>
            <a:ext cx="10515600" cy="5445350"/>
          </a:xfrm>
        </p:spPr>
      </p:pic>
      <p:sp>
        <p:nvSpPr>
          <p:cNvPr id="6" name="Metin kutusu 5">
            <a:extLst>
              <a:ext uri="{FF2B5EF4-FFF2-40B4-BE49-F238E27FC236}">
                <a16:creationId xmlns:a16="http://schemas.microsoft.com/office/drawing/2014/main" id="{7364EB9C-D952-F28A-DDE2-7110B95494B5}"/>
              </a:ext>
            </a:extLst>
          </p:cNvPr>
          <p:cNvSpPr txBox="1"/>
          <p:nvPr/>
        </p:nvSpPr>
        <p:spPr>
          <a:xfrm>
            <a:off x="2999232" y="6044184"/>
            <a:ext cx="5068182" cy="369332"/>
          </a:xfrm>
          <a:prstGeom prst="rect">
            <a:avLst/>
          </a:prstGeom>
          <a:noFill/>
        </p:spPr>
        <p:txBody>
          <a:bodyPr wrap="none" rtlCol="0">
            <a:spAutoFit/>
          </a:bodyPr>
          <a:lstStyle/>
          <a:p>
            <a:r>
              <a:rPr lang="tr-TR" dirty="0"/>
              <a:t>Hazır veri setleri : https://www.kaggle.com/datasets</a:t>
            </a:r>
          </a:p>
        </p:txBody>
      </p:sp>
    </p:spTree>
    <p:extLst>
      <p:ext uri="{BB962C8B-B14F-4D97-AF65-F5344CB8AC3E}">
        <p14:creationId xmlns:p14="http://schemas.microsoft.com/office/powerpoint/2010/main" val="2814065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49321F9-7815-6E08-2985-4C5F073F1E8B}"/>
              </a:ext>
            </a:extLst>
          </p:cNvPr>
          <p:cNvSpPr>
            <a:spLocks noGrp="1"/>
          </p:cNvSpPr>
          <p:nvPr>
            <p:ph type="title"/>
          </p:nvPr>
        </p:nvSpPr>
        <p:spPr/>
        <p:txBody>
          <a:bodyPr/>
          <a:lstStyle/>
          <a:p>
            <a:pPr algn="ctr"/>
            <a:r>
              <a:rPr lang="tr-TR" b="1" i="0" dirty="0">
                <a:effectLst/>
                <a:latin typeface="Arial" panose="020B0604020202020204" pitchFamily="34" charset="0"/>
                <a:cs typeface="Arial" panose="020B0604020202020204" pitchFamily="34" charset="0"/>
              </a:rPr>
              <a:t>Standardizasyon</a:t>
            </a:r>
            <a:endParaRPr lang="tr-TR" dirty="0"/>
          </a:p>
        </p:txBody>
      </p:sp>
      <p:sp>
        <p:nvSpPr>
          <p:cNvPr id="3" name="İçerik Yer Tutucusu 2">
            <a:extLst>
              <a:ext uri="{FF2B5EF4-FFF2-40B4-BE49-F238E27FC236}">
                <a16:creationId xmlns:a16="http://schemas.microsoft.com/office/drawing/2014/main" id="{4269C405-5612-C10F-E1F4-ABB866D7B4D4}"/>
              </a:ext>
            </a:extLst>
          </p:cNvPr>
          <p:cNvSpPr>
            <a:spLocks noGrp="1"/>
          </p:cNvSpPr>
          <p:nvPr>
            <p:ph idx="1"/>
          </p:nvPr>
        </p:nvSpPr>
        <p:spPr/>
        <p:txBody>
          <a:bodyPr>
            <a:normAutofit fontScale="70000" lnSpcReduction="20000"/>
          </a:bodyPr>
          <a:lstStyle/>
          <a:p>
            <a:pPr algn="l"/>
            <a:r>
              <a:rPr lang="tr-TR" b="1" i="0" dirty="0">
                <a:effectLst/>
                <a:latin typeface="Arial" panose="020B0604020202020204" pitchFamily="34" charset="0"/>
                <a:cs typeface="Arial" panose="020B0604020202020204" pitchFamily="34" charset="0"/>
              </a:rPr>
              <a:t>Standardizasyon, veri setindeki değerleri belirli bir ölçüde dönüştürmek ve belirli bir ölçekte birleştirmek için kullanılan bir ölçeklendirme işlemidir. Veri setindeki değerlerin birbirlerine göre ölçeklerinin farklı olması durumunda, bazı modellerin diğerlerine göre daha fazla etkilenmesine neden olabilir. Bu durumda, standardizasyon veri değerlerini, belirli bir ortalamaya ve standart sapmaya (genellikle ortalama 0 ve standart sapma 1) dönüştürerek tüm özellikleri aynı ölçeğe getirir.</a:t>
            </a:r>
          </a:p>
          <a:p>
            <a:pPr algn="l"/>
            <a:r>
              <a:rPr lang="tr-TR" b="1" i="0" dirty="0">
                <a:effectLst/>
                <a:latin typeface="Arial" panose="020B0604020202020204" pitchFamily="34" charset="0"/>
                <a:cs typeface="Arial" panose="020B0604020202020204" pitchFamily="34" charset="0"/>
              </a:rPr>
              <a:t>Örneğin, bir veri setinde boyutlar farklı birimlerde temsil ediliyorsa, mesela bir özellik metre cinsinden, diğer özellik santimetre cinsinden olabilir. Bu durumda, bu özelliklerin doğrudan karşılaştırılması problemli olabilir. Standardizasyon, verileri farklı birimlerden aynı ölçeğe getirerek, modelin her özellik üzerindeki etkisini dengeler.</a:t>
            </a:r>
          </a:p>
          <a:p>
            <a:pPr algn="l"/>
            <a:r>
              <a:rPr lang="tr-TR" b="1" i="0" dirty="0">
                <a:effectLst/>
                <a:latin typeface="Arial" panose="020B0604020202020204" pitchFamily="34" charset="0"/>
                <a:cs typeface="Arial" panose="020B0604020202020204" pitchFamily="34" charset="0"/>
              </a:rPr>
              <a:t>Örnek olarak, bir öğrenci veri seti düşünelim. Boy ölçüleri 'cm' cinsinden, ağırlıklar 'kg' cinsinden verilmiş olsun. Boy ve ağırlık ölçülerini standartlaştırarak (örneğin, ortalamayı çıkartıp standart sapmaya bölebiliriz), her iki özellik de aynı ölçekte olur ve modelimizin boyutlar arasında adil bir şekilde ağırlıklandırılmasını sağlarız. Bu şekilde, her iki özellik de model tarafından eşit öneme sahip olarak değerlendirilir.</a:t>
            </a:r>
          </a:p>
          <a:p>
            <a:endParaRPr lang="tr-T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03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AAF75A-90CA-E9CD-F641-3341A6E2A36B}"/>
              </a:ext>
            </a:extLst>
          </p:cNvPr>
          <p:cNvSpPr>
            <a:spLocks noGrp="1"/>
          </p:cNvSpPr>
          <p:nvPr>
            <p:ph type="title"/>
          </p:nvPr>
        </p:nvSpPr>
        <p:spPr/>
        <p:txBody>
          <a:bodyPr/>
          <a:lstStyle/>
          <a:p>
            <a:pPr algn="ctr"/>
            <a:r>
              <a:rPr lang="tr-TR" dirty="0"/>
              <a:t>PCR</a:t>
            </a:r>
          </a:p>
        </p:txBody>
      </p:sp>
      <p:sp>
        <p:nvSpPr>
          <p:cNvPr id="3" name="İçerik Yer Tutucusu 2">
            <a:extLst>
              <a:ext uri="{FF2B5EF4-FFF2-40B4-BE49-F238E27FC236}">
                <a16:creationId xmlns:a16="http://schemas.microsoft.com/office/drawing/2014/main" id="{3E0B157F-A368-0F36-643F-3585D3969094}"/>
              </a:ext>
            </a:extLst>
          </p:cNvPr>
          <p:cNvSpPr>
            <a:spLocks noGrp="1"/>
          </p:cNvSpPr>
          <p:nvPr>
            <p:ph idx="1"/>
          </p:nvPr>
        </p:nvSpPr>
        <p:spPr/>
        <p:txBody>
          <a:bodyPr>
            <a:normAutofit fontScale="55000" lnSpcReduction="20000"/>
          </a:bodyPr>
          <a:lstStyle/>
          <a:p>
            <a:pPr marL="0" indent="0" algn="l">
              <a:buNone/>
            </a:pPr>
            <a:r>
              <a:rPr lang="tr-TR" b="1" i="0" dirty="0">
                <a:effectLst/>
                <a:latin typeface="Arial" panose="020B0604020202020204" pitchFamily="34" charset="0"/>
                <a:cs typeface="Arial" panose="020B0604020202020204" pitchFamily="34" charset="0"/>
              </a:rPr>
              <a:t>PCR (</a:t>
            </a:r>
            <a:r>
              <a:rPr lang="tr-TR" b="1" i="0" dirty="0" err="1">
                <a:effectLst/>
                <a:latin typeface="Arial" panose="020B0604020202020204" pitchFamily="34" charset="0"/>
                <a:cs typeface="Arial" panose="020B0604020202020204" pitchFamily="34" charset="0"/>
              </a:rPr>
              <a:t>Principal</a:t>
            </a:r>
            <a:r>
              <a:rPr lang="tr-TR" b="1" i="0" dirty="0">
                <a:effectLst/>
                <a:latin typeface="Arial" panose="020B0604020202020204" pitchFamily="34" charset="0"/>
                <a:cs typeface="Arial" panose="020B0604020202020204" pitchFamily="34" charset="0"/>
              </a:rPr>
              <a:t> Component </a:t>
            </a:r>
            <a:r>
              <a:rPr lang="tr-TR" b="1" i="0" dirty="0" err="1">
                <a:effectLst/>
                <a:latin typeface="Arial" panose="020B0604020202020204" pitchFamily="34" charset="0"/>
                <a:cs typeface="Arial" panose="020B0604020202020204" pitchFamily="34" charset="0"/>
              </a:rPr>
              <a:t>Regression</a:t>
            </a:r>
            <a:r>
              <a:rPr lang="tr-TR" b="1" i="0" dirty="0">
                <a:effectLst/>
                <a:latin typeface="Arial" panose="020B0604020202020204" pitchFamily="34" charset="0"/>
                <a:cs typeface="Arial" panose="020B0604020202020204" pitchFamily="34" charset="0"/>
              </a:rPr>
              <a:t> - Temel Bileşen Regresyonu), temel bileşen analizi (PCA) kullanarak çoklu doğrusal regresyon modelini geliştiren bir tekniktir. Bu yöntem, değişken sayısını azaltarak modelin daha iyi çalışmasını sağlamayı amaçlar.</a:t>
            </a:r>
          </a:p>
          <a:p>
            <a:pPr marL="0" indent="0" algn="l">
              <a:buNone/>
            </a:pPr>
            <a:endParaRPr lang="tr-TR" b="1"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PCR, aşağıdaki adımları içerir:</a:t>
            </a:r>
          </a:p>
          <a:p>
            <a:pPr algn="l">
              <a:buFont typeface="+mj-lt"/>
              <a:buAutoNum type="arabicPeriod"/>
            </a:pPr>
            <a:r>
              <a:rPr lang="tr-TR" b="1" i="0" dirty="0">
                <a:effectLst/>
                <a:latin typeface="Arial" panose="020B0604020202020204" pitchFamily="34" charset="0"/>
                <a:cs typeface="Arial" panose="020B0604020202020204" pitchFamily="34" charset="0"/>
              </a:rPr>
              <a:t>Verilerin Standartlaştırılması: Veri setindeki özelliklerin farklı ölçeklerde olması, PCR için ilk adımdır. Standartlaştırma, verilerin ortalamasını 0 yapmak ve standart sapmasını 1 yapmak için kullanılır. Bu işlem, her özelliği aynı ölçeğe getirir ve analiz sürecini stabilize eder.</a:t>
            </a:r>
          </a:p>
          <a:p>
            <a:pPr algn="l">
              <a:buFont typeface="+mj-lt"/>
              <a:buAutoNum type="arabicPeriod"/>
            </a:pPr>
            <a:r>
              <a:rPr lang="tr-TR" b="1" i="0" dirty="0">
                <a:effectLst/>
                <a:latin typeface="Arial" panose="020B0604020202020204" pitchFamily="34" charset="0"/>
                <a:cs typeface="Arial" panose="020B0604020202020204" pitchFamily="34" charset="0"/>
              </a:rPr>
              <a:t>Temel Bileşen Analizi (PCA): </a:t>
            </a:r>
            <a:r>
              <a:rPr lang="tr-TR" b="1" i="0" dirty="0" err="1">
                <a:effectLst/>
                <a:latin typeface="Arial" panose="020B0604020202020204" pitchFamily="34" charset="0"/>
                <a:cs typeface="Arial" panose="020B0604020202020204" pitchFamily="34" charset="0"/>
              </a:rPr>
              <a:t>PCR'nin</a:t>
            </a:r>
            <a:r>
              <a:rPr lang="tr-TR" b="1" i="0" dirty="0">
                <a:effectLst/>
                <a:latin typeface="Arial" panose="020B0604020202020204" pitchFamily="34" charset="0"/>
                <a:cs typeface="Arial" panose="020B0604020202020204" pitchFamily="34" charset="0"/>
              </a:rPr>
              <a:t> ana adımı, PCA ile boyut azaltma işlemidir. PCA, orijinal değişkenler arasındaki ilişkileri anlamak ve veri setindeki varyansı en iyi şekilde temsil eden yeni bir değişkenler seti oluşturmak için kullanılır. Bu bileşenler, verideki varyansın büyük bir kısmını tutarak orijinal veri setinin özeti niteliğindedir. PCA, korelasyonlu özellikleri birleştirerek ve bu özellikler arasındaki ilişkileri özetleyerek boyut azaltma sağlar.</a:t>
            </a:r>
          </a:p>
          <a:p>
            <a:pPr algn="l">
              <a:buFont typeface="+mj-lt"/>
              <a:buAutoNum type="arabicPeriod"/>
            </a:pPr>
            <a:r>
              <a:rPr lang="tr-TR" b="1" i="0" dirty="0">
                <a:effectLst/>
                <a:latin typeface="Arial" panose="020B0604020202020204" pitchFamily="34" charset="0"/>
                <a:cs typeface="Arial" panose="020B0604020202020204" pitchFamily="34" charset="0"/>
              </a:rPr>
              <a:t>PCR Modeli Oluşturma: PCR, PCA ile elde edilen bileşenleri kullanarak çoklu doğrusal regresyon modeli oluşturur. Bu bileşenler, temsil ettikleri orijinal değişkenlerin bir kombinasyonudur. PCR, azaltılmış boyutta yeni bileşenler üzerinden regresyon modeli kurar. Bu şekilde, regresyon modeli daha az değişken üzerinden çalışır ve aynı zamanda daha az gürültüye sahip olabilir.</a:t>
            </a:r>
          </a:p>
          <a:p>
            <a:pPr marL="0" indent="0" algn="l">
              <a:buNone/>
            </a:pPr>
            <a:endParaRPr lang="tr-TR" b="1"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PCR, değişken sayısını azaltarak modelin karmaşıklığını azaltmaya ve aşırı uyumun (</a:t>
            </a:r>
            <a:r>
              <a:rPr lang="tr-TR" b="1" i="0" dirty="0" err="1">
                <a:effectLst/>
                <a:latin typeface="Arial" panose="020B0604020202020204" pitchFamily="34" charset="0"/>
                <a:cs typeface="Arial" panose="020B0604020202020204" pitchFamily="34" charset="0"/>
              </a:rPr>
              <a:t>overfitting</a:t>
            </a:r>
            <a:r>
              <a:rPr lang="tr-TR" b="1" i="0" dirty="0">
                <a:effectLst/>
                <a:latin typeface="Arial" panose="020B0604020202020204" pitchFamily="34" charset="0"/>
                <a:cs typeface="Arial" panose="020B0604020202020204" pitchFamily="34" charset="0"/>
              </a:rPr>
              <a:t>) önlenmesine yardımcı olabilir. Ancak, bileşenlerin seçimi ve modelin performansını belirleyen bileşen sayısının belirlenmesi önemlidir.</a:t>
            </a:r>
          </a:p>
          <a:p>
            <a:endParaRPr lang="tr-T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3362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1673D92-0B66-A6FA-C800-7E5506576E61}"/>
              </a:ext>
            </a:extLst>
          </p:cNvPr>
          <p:cNvSpPr>
            <a:spLocks noGrp="1"/>
          </p:cNvSpPr>
          <p:nvPr>
            <p:ph type="title"/>
          </p:nvPr>
        </p:nvSpPr>
        <p:spPr/>
        <p:txBody>
          <a:bodyPr/>
          <a:lstStyle/>
          <a:p>
            <a:pPr algn="ctr"/>
            <a:r>
              <a:rPr lang="tr-TR" dirty="0"/>
              <a:t>PLS</a:t>
            </a:r>
          </a:p>
        </p:txBody>
      </p:sp>
      <p:sp>
        <p:nvSpPr>
          <p:cNvPr id="3" name="İçerik Yer Tutucusu 2">
            <a:extLst>
              <a:ext uri="{FF2B5EF4-FFF2-40B4-BE49-F238E27FC236}">
                <a16:creationId xmlns:a16="http://schemas.microsoft.com/office/drawing/2014/main" id="{94A781E9-CBCC-EA95-1308-CCB526B958D2}"/>
              </a:ext>
            </a:extLst>
          </p:cNvPr>
          <p:cNvSpPr>
            <a:spLocks noGrp="1"/>
          </p:cNvSpPr>
          <p:nvPr>
            <p:ph idx="1"/>
          </p:nvPr>
        </p:nvSpPr>
        <p:spPr/>
        <p:txBody>
          <a:bodyPr>
            <a:normAutofit fontScale="47500" lnSpcReduction="20000"/>
          </a:bodyPr>
          <a:lstStyle/>
          <a:p>
            <a:pPr marL="0" indent="0" algn="l">
              <a:buNone/>
            </a:pPr>
            <a:r>
              <a:rPr lang="tr-TR" b="1" i="0" dirty="0">
                <a:effectLst/>
                <a:latin typeface="Arial" panose="020B0604020202020204" pitchFamily="34" charset="0"/>
                <a:cs typeface="Arial" panose="020B0604020202020204" pitchFamily="34" charset="0"/>
              </a:rPr>
              <a:t>Kısmi En Küçük Kareler (</a:t>
            </a:r>
            <a:r>
              <a:rPr lang="tr-TR" b="1" i="0" dirty="0" err="1">
                <a:effectLst/>
                <a:latin typeface="Arial" panose="020B0604020202020204" pitchFamily="34" charset="0"/>
                <a:cs typeface="Arial" panose="020B0604020202020204" pitchFamily="34" charset="0"/>
              </a:rPr>
              <a:t>Partial</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Least</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Squares</a:t>
            </a:r>
            <a:r>
              <a:rPr lang="tr-TR" b="1" i="0" dirty="0">
                <a:effectLst/>
                <a:latin typeface="Arial" panose="020B0604020202020204" pitchFamily="34" charset="0"/>
                <a:cs typeface="Arial" panose="020B0604020202020204" pitchFamily="34" charset="0"/>
              </a:rPr>
              <a:t> - PLS), çoklu doğrusal regresyon yöntemlerinden biridir ve özellikle çoklu değişkenler arasındaki karmaşık ilişkilerin olduğu durumlarda kullanılır. PLS, değişkenler arasındaki korelasyonları ve aynı zamanda bağımlı değişkenle olan ilişkiyi inceleyerek regresyon modeli oluşturur.</a:t>
            </a:r>
          </a:p>
          <a:p>
            <a:pPr marL="0" indent="0" algn="l">
              <a:buNone/>
            </a:pPr>
            <a:r>
              <a:rPr lang="tr-TR" b="1" i="0" dirty="0" err="1">
                <a:effectLst/>
                <a:latin typeface="Arial" panose="020B0604020202020204" pitchFamily="34" charset="0"/>
                <a:cs typeface="Arial" panose="020B0604020202020204" pitchFamily="34" charset="0"/>
              </a:rPr>
              <a:t>PLS'nin</a:t>
            </a:r>
            <a:r>
              <a:rPr lang="tr-TR" b="1" i="0" dirty="0">
                <a:effectLst/>
                <a:latin typeface="Arial" panose="020B0604020202020204" pitchFamily="34" charset="0"/>
                <a:cs typeface="Arial" panose="020B0604020202020204" pitchFamily="34" charset="0"/>
              </a:rPr>
              <a:t> ana amacı, hem bağımsız değişkenlerin hem de bağımlı değişkenin en küçük kareler metoduyla modellenmesini sağlamaktır. Yani, bağımsız değişkenler arasındaki en yüksek korelasyonlu yapıları bulurken, aynı zamanda bu yapıların bağımlı değişken ile olan ilişkisini de göz önünde bulundurur.</a:t>
            </a:r>
          </a:p>
          <a:p>
            <a:pPr marL="0" indent="0" algn="l">
              <a:buNone/>
            </a:pPr>
            <a:endParaRPr lang="tr-TR" b="1"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PLS, aşağıdaki adımları izler:</a:t>
            </a:r>
          </a:p>
          <a:p>
            <a:pPr algn="l">
              <a:buFont typeface="+mj-lt"/>
              <a:buAutoNum type="arabicPeriod"/>
            </a:pPr>
            <a:r>
              <a:rPr lang="tr-TR" b="1" i="0" dirty="0">
                <a:effectLst/>
                <a:latin typeface="Arial" panose="020B0604020202020204" pitchFamily="34" charset="0"/>
                <a:cs typeface="Arial" panose="020B0604020202020204" pitchFamily="34" charset="0"/>
              </a:rPr>
              <a:t>Bağımlı ve Bağımsız Değişkenler Arasındaki İlişkileri Belirleme: PLS, bağımlı değişken ile bağımsız değişkenler arasındaki korelasyonları belirler. Bu adımda, veri setindeki korelasyonlu değişken yapılarını tespit eder.</a:t>
            </a:r>
          </a:p>
          <a:p>
            <a:pPr algn="l">
              <a:buFont typeface="+mj-lt"/>
              <a:buAutoNum type="arabicPeriod"/>
            </a:pPr>
            <a:r>
              <a:rPr lang="tr-TR" b="1" i="0" dirty="0">
                <a:effectLst/>
                <a:latin typeface="Arial" panose="020B0604020202020204" pitchFamily="34" charset="0"/>
                <a:cs typeface="Arial" panose="020B0604020202020204" pitchFamily="34" charset="0"/>
              </a:rPr>
              <a:t>Korelasyonlu Bileşenlerin Oluşturulması: PLS, korelasyonlu bileşenleri oluşturarak bağımsız değişkenler arasındaki korelasyonu en iyi şekilde temsil eden yapıları bulur. Bu bileşenler, bağımsız değişkenlerin birleşik özetleridir ve bağımlı değişken ile olan ilişkiyi en iyi şekilde yansıtmaya çalışır.</a:t>
            </a:r>
          </a:p>
          <a:p>
            <a:pPr algn="l">
              <a:buFont typeface="+mj-lt"/>
              <a:buAutoNum type="arabicPeriod"/>
            </a:pPr>
            <a:r>
              <a:rPr lang="tr-TR" b="1" i="0" dirty="0">
                <a:effectLst/>
                <a:latin typeface="Arial" panose="020B0604020202020204" pitchFamily="34" charset="0"/>
                <a:cs typeface="Arial" panose="020B0604020202020204" pitchFamily="34" charset="0"/>
              </a:rPr>
              <a:t>Regresyon Modeli Oluşturma: Oluşturulan korelasyonlu bileşenler üzerinden çoklu doğrusal regresyon modeli kurulur. Bu model, hem bağımsız değişkenler arasındaki karmaşık ilişkileri göz önünde bulundurur hem de bağımlı değişken ile olan ilişkiyi maksimize etmeye çalışır.</a:t>
            </a:r>
          </a:p>
          <a:p>
            <a:pPr algn="l">
              <a:buFont typeface="+mj-lt"/>
              <a:buAutoNum type="arabicPeriod"/>
            </a:pPr>
            <a:endParaRPr lang="tr-TR" b="1" i="0" dirty="0">
              <a:effectLst/>
              <a:latin typeface="Arial" panose="020B0604020202020204" pitchFamily="34" charset="0"/>
              <a:cs typeface="Arial" panose="020B0604020202020204" pitchFamily="34" charset="0"/>
            </a:endParaRPr>
          </a:p>
          <a:p>
            <a:pPr marL="0" indent="0" algn="l">
              <a:buNone/>
            </a:pPr>
            <a:r>
              <a:rPr lang="tr-TR" b="1" i="0" dirty="0">
                <a:effectLst/>
                <a:latin typeface="Arial" panose="020B0604020202020204" pitchFamily="34" charset="0"/>
                <a:cs typeface="Arial" panose="020B0604020202020204" pitchFamily="34" charset="0"/>
              </a:rPr>
              <a:t>PLS, boyut azaltma yöntemlerinden biri olarak da düşünülebilir. Orijinal değişkenler yerine, oluşturulan korelasyonlu bileşenleri kullanarak model oluşturulması, veri setinin karmaşıklığını azaltabilir ve aynı zamanda modelin genel performansını artırabilir.</a:t>
            </a:r>
          </a:p>
          <a:p>
            <a:pPr marL="0" indent="0" algn="l">
              <a:buNone/>
            </a:pPr>
            <a:r>
              <a:rPr lang="tr-TR" b="1" i="0" dirty="0">
                <a:effectLst/>
                <a:latin typeface="Arial" panose="020B0604020202020204" pitchFamily="34" charset="0"/>
                <a:cs typeface="Arial" panose="020B0604020202020204" pitchFamily="34" charset="0"/>
              </a:rPr>
              <a:t>Özellikle, çoklu değişkenler arasında yüksek korelasyonların olduğu durumlarda, PLS modeli veri setinin doğru şekilde modellenmesine ve karmaşıklığın azaltılmasına yardımcı olabilir.</a:t>
            </a:r>
          </a:p>
          <a:p>
            <a:endParaRPr lang="tr-TR"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7064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6ED194-8FA2-F451-899C-B873595CA800}"/>
              </a:ext>
            </a:extLst>
          </p:cNvPr>
          <p:cNvSpPr>
            <a:spLocks noGrp="1"/>
          </p:cNvSpPr>
          <p:nvPr>
            <p:ph type="title"/>
          </p:nvPr>
        </p:nvSpPr>
        <p:spPr/>
        <p:txBody>
          <a:bodyPr/>
          <a:lstStyle/>
          <a:p>
            <a:pPr algn="ctr"/>
            <a:r>
              <a:rPr lang="tr-TR" dirty="0" err="1"/>
              <a:t>Ridge</a:t>
            </a:r>
            <a:r>
              <a:rPr lang="tr-TR" dirty="0"/>
              <a:t> Regresyon</a:t>
            </a:r>
          </a:p>
        </p:txBody>
      </p:sp>
      <p:sp>
        <p:nvSpPr>
          <p:cNvPr id="3" name="İçerik Yer Tutucusu 2">
            <a:extLst>
              <a:ext uri="{FF2B5EF4-FFF2-40B4-BE49-F238E27FC236}">
                <a16:creationId xmlns:a16="http://schemas.microsoft.com/office/drawing/2014/main" id="{981363DD-876D-730D-5861-C808D2E12BC7}"/>
              </a:ext>
            </a:extLst>
          </p:cNvPr>
          <p:cNvSpPr>
            <a:spLocks noGrp="1"/>
          </p:cNvSpPr>
          <p:nvPr>
            <p:ph idx="1"/>
          </p:nvPr>
        </p:nvSpPr>
        <p:spPr>
          <a:xfrm>
            <a:off x="838200" y="1545336"/>
            <a:ext cx="10515600" cy="5120639"/>
          </a:xfrm>
        </p:spPr>
        <p:txBody>
          <a:bodyPr>
            <a:normAutofit fontScale="55000" lnSpcReduction="20000"/>
          </a:bodyPr>
          <a:lstStyle/>
          <a:p>
            <a:pPr algn="l"/>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 çoklu doğrusal regresyonun bir türüdür ve aşırı öğrenmeyi (</a:t>
            </a:r>
            <a:r>
              <a:rPr lang="tr-TR" b="1" i="0" dirty="0" err="1">
                <a:effectLst/>
                <a:latin typeface="Arial" panose="020B0604020202020204" pitchFamily="34" charset="0"/>
                <a:cs typeface="Arial" panose="020B0604020202020204" pitchFamily="34" charset="0"/>
              </a:rPr>
              <a:t>overfitting</a:t>
            </a:r>
            <a:r>
              <a:rPr lang="tr-TR" b="1" i="0" dirty="0">
                <a:effectLst/>
                <a:latin typeface="Arial" panose="020B0604020202020204" pitchFamily="34" charset="0"/>
                <a:cs typeface="Arial" panose="020B0604020202020204" pitchFamily="34" charset="0"/>
              </a:rPr>
              <a:t>) azaltmak için kullanılan bir regresyon yöntemidir. </a:t>
            </a:r>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 genellikle çoklu korelasyonlu bağımsız değişkenlerin olduğu ve bu durumun standart regresyon modellerinde aşırı öğrenmeye yol açtığı durumlarda tercih edilir.</a:t>
            </a:r>
          </a:p>
          <a:p>
            <a:pPr algn="l"/>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 geleneksel en küçük kareler (OLS - </a:t>
            </a:r>
            <a:r>
              <a:rPr lang="tr-TR" b="1" i="0" dirty="0" err="1">
                <a:effectLst/>
                <a:latin typeface="Arial" panose="020B0604020202020204" pitchFamily="34" charset="0"/>
                <a:cs typeface="Arial" panose="020B0604020202020204" pitchFamily="34" charset="0"/>
              </a:rPr>
              <a:t>Ordinary</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Least</a:t>
            </a:r>
            <a:r>
              <a:rPr lang="tr-T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Squares</a:t>
            </a:r>
            <a:r>
              <a:rPr lang="tr-TR" b="1" i="0" dirty="0">
                <a:effectLst/>
                <a:latin typeface="Arial" panose="020B0604020202020204" pitchFamily="34" charset="0"/>
                <a:cs typeface="Arial" panose="020B0604020202020204" pitchFamily="34" charset="0"/>
              </a:rPr>
              <a:t>) yöntemine bir düzenlileştirme (</a:t>
            </a:r>
            <a:r>
              <a:rPr lang="tr-TR" b="1" i="0" dirty="0" err="1">
                <a:effectLst/>
                <a:latin typeface="Arial" panose="020B0604020202020204" pitchFamily="34" charset="0"/>
                <a:cs typeface="Arial" panose="020B0604020202020204" pitchFamily="34" charset="0"/>
              </a:rPr>
              <a:t>regularization</a:t>
            </a:r>
            <a:r>
              <a:rPr lang="tr-TR" b="1" i="0" dirty="0">
                <a:effectLst/>
                <a:latin typeface="Arial" panose="020B0604020202020204" pitchFamily="34" charset="0"/>
                <a:cs typeface="Arial" panose="020B0604020202020204" pitchFamily="34" charset="0"/>
              </a:rPr>
              <a:t>) ekleyerek çalışır. Bu düzenlileştirme terimi, genellikle L2 normu olarak adlandırılan kare toplam terimiyle ifade edilir.</a:t>
            </a:r>
          </a:p>
          <a:p>
            <a:pPr algn="l"/>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 için amaç fonksiyonu, </a:t>
            </a:r>
            <a:r>
              <a:rPr lang="tr-TR" b="1" i="0" dirty="0" err="1">
                <a:effectLst/>
                <a:latin typeface="Arial" panose="020B0604020202020204" pitchFamily="34" charset="0"/>
                <a:cs typeface="Arial" panose="020B0604020202020204" pitchFamily="34" charset="0"/>
              </a:rPr>
              <a:t>OLS'nin</a:t>
            </a:r>
            <a:r>
              <a:rPr lang="tr-TR" b="1" i="0" dirty="0">
                <a:effectLst/>
                <a:latin typeface="Arial" panose="020B0604020202020204" pitchFamily="34" charset="0"/>
                <a:cs typeface="Arial" panose="020B0604020202020204" pitchFamily="34" charset="0"/>
              </a:rPr>
              <a:t> minimumunu aramak yerine katsayıları küçültmek için bir ceza terimi içerir. </a:t>
            </a:r>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regresyonunun amaç fonksiyonu şu şekilde ifade edilebilir:</a:t>
            </a:r>
          </a:p>
          <a:p>
            <a:pPr algn="l"/>
            <a:endParaRPr lang="tr-TR" b="1" dirty="0">
              <a:latin typeface="Arial" panose="020B0604020202020204" pitchFamily="34" charset="0"/>
              <a:cs typeface="Arial" panose="020B0604020202020204" pitchFamily="34" charset="0"/>
            </a:endParaRPr>
          </a:p>
          <a:p>
            <a:pPr algn="l"/>
            <a:endParaRPr lang="tr-TR" b="1" dirty="0">
              <a:latin typeface="Arial" panose="020B0604020202020204" pitchFamily="34" charset="0"/>
              <a:cs typeface="Arial" panose="020B0604020202020204" pitchFamily="34" charset="0"/>
            </a:endParaRPr>
          </a:p>
          <a:p>
            <a:pPr algn="l"/>
            <a:endParaRPr lang="tr-TR" b="1" dirty="0">
              <a:latin typeface="Arial" panose="020B0604020202020204" pitchFamily="34" charset="0"/>
              <a:cs typeface="Arial" panose="020B0604020202020204" pitchFamily="34" charset="0"/>
            </a:endParaRPr>
          </a:p>
          <a:p>
            <a:pPr algn="l"/>
            <a:endParaRPr lang="tr-TR" b="1" dirty="0">
              <a:latin typeface="Arial" panose="020B0604020202020204" pitchFamily="34" charset="0"/>
              <a:cs typeface="Arial" panose="020B0604020202020204" pitchFamily="34" charset="0"/>
            </a:endParaRPr>
          </a:p>
          <a:p>
            <a:pPr algn="l"/>
            <a:endParaRPr lang="tr-TR" b="1" i="0" dirty="0">
              <a:effectLst/>
              <a:latin typeface="Arial" panose="020B0604020202020204" pitchFamily="34" charset="0"/>
              <a:cs typeface="Arial" panose="020B0604020202020204" pitchFamily="34" charset="0"/>
            </a:endParaRPr>
          </a:p>
          <a:p>
            <a:pPr algn="l"/>
            <a:endParaRPr lang="tr-TR" b="1" i="0" dirty="0">
              <a:effectLst/>
              <a:latin typeface="Arial" panose="020B0604020202020204" pitchFamily="34" charset="0"/>
              <a:cs typeface="Arial" panose="020B0604020202020204" pitchFamily="34" charset="0"/>
            </a:endParaRPr>
          </a:p>
          <a:p>
            <a:pPr algn="l"/>
            <a:r>
              <a:rPr lang="tr-TR" b="1" i="0" dirty="0">
                <a:effectLst/>
                <a:latin typeface="Arial" panose="020B0604020202020204" pitchFamily="34" charset="0"/>
                <a:cs typeface="Arial" panose="020B0604020202020204" pitchFamily="34" charset="0"/>
              </a:rPr>
              <a:t>Burada, amaç fonksiyonu, hem </a:t>
            </a:r>
            <a:r>
              <a:rPr lang="tr-TR" b="1" i="0" dirty="0" err="1">
                <a:effectLst/>
                <a:latin typeface="Arial" panose="020B0604020202020204" pitchFamily="34" charset="0"/>
                <a:cs typeface="Arial" panose="020B0604020202020204" pitchFamily="34" charset="0"/>
              </a:rPr>
              <a:t>OLS'nin</a:t>
            </a:r>
            <a:r>
              <a:rPr lang="tr-TR" b="1" i="0" dirty="0">
                <a:effectLst/>
                <a:latin typeface="Arial" panose="020B0604020202020204" pitchFamily="34" charset="0"/>
                <a:cs typeface="Arial" panose="020B0604020202020204" pitchFamily="34" charset="0"/>
              </a:rPr>
              <a:t> karesel hata terimini (MSE) hem de regresyon katsayılarının karesel toplamını içerir. İkinci terim, regresyon katsayılarının büyüklüğünü kontrol eder. </a:t>
            </a:r>
            <a:r>
              <a:rPr lang="el-GR" b="1" i="1" dirty="0">
                <a:effectLst/>
                <a:latin typeface="Arial" panose="020B0604020202020204" pitchFamily="34" charset="0"/>
                <a:cs typeface="Arial" panose="020B0604020202020204" pitchFamily="34" charset="0"/>
              </a:rPr>
              <a:t>α</a:t>
            </a:r>
            <a:r>
              <a:rPr lang="el-GR" b="1" i="0" dirty="0">
                <a:effectLst/>
                <a:latin typeface="Arial" panose="020B0604020202020204" pitchFamily="34" charset="0"/>
                <a:cs typeface="Arial" panose="020B0604020202020204" pitchFamily="34" charset="0"/>
              </a:rPr>
              <a:t> </a:t>
            </a:r>
            <a:r>
              <a:rPr lang="tr-TR" b="1" i="0" dirty="0">
                <a:effectLst/>
                <a:latin typeface="Arial" panose="020B0604020202020204" pitchFamily="34" charset="0"/>
                <a:cs typeface="Arial" panose="020B0604020202020204" pitchFamily="34" charset="0"/>
              </a:rPr>
              <a:t>parametresi, düzenlileştirme derecesini belirler. Bu parametre arttıkça, katsayılar daha da küçülür.</a:t>
            </a:r>
          </a:p>
          <a:p>
            <a:pPr algn="l"/>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 katsayıları sıfıra yakınlaştırarak aşırı öğrenmeyi azaltır ve modelin daha iyi genelleme yapmasını sağlar. </a:t>
            </a:r>
            <a:r>
              <a:rPr lang="el-GR" b="1" i="1" dirty="0">
                <a:effectLst/>
                <a:latin typeface="Arial" panose="020B0604020202020204" pitchFamily="34" charset="0"/>
                <a:cs typeface="Arial" panose="020B0604020202020204" pitchFamily="34" charset="0"/>
              </a:rPr>
              <a:t>α</a:t>
            </a:r>
            <a:r>
              <a:rPr lang="el-GR" b="1" i="0" dirty="0">
                <a:effectLst/>
                <a:latin typeface="Arial" panose="020B0604020202020204" pitchFamily="34" charset="0"/>
                <a:cs typeface="Arial" panose="020B0604020202020204" pitchFamily="34" charset="0"/>
              </a:rPr>
              <a:t> </a:t>
            </a:r>
            <a:r>
              <a:rPr lang="tr-TR" b="1" i="0" dirty="0">
                <a:effectLst/>
                <a:latin typeface="Arial" panose="020B0604020202020204" pitchFamily="34" charset="0"/>
                <a:cs typeface="Arial" panose="020B0604020202020204" pitchFamily="34" charset="0"/>
              </a:rPr>
              <a:t>parametresi, modelin karmaşıklığını ve düzenlileştirme seviyesini kontrol eder. Çok büyük bir </a:t>
            </a:r>
            <a:r>
              <a:rPr lang="el-GR" b="1" i="1" dirty="0">
                <a:effectLst/>
                <a:latin typeface="Arial" panose="020B0604020202020204" pitchFamily="34" charset="0"/>
                <a:cs typeface="Arial" panose="020B0604020202020204" pitchFamily="34" charset="0"/>
              </a:rPr>
              <a:t>α</a:t>
            </a:r>
            <a:r>
              <a:rPr lang="el-GR" b="1" i="0" dirty="0">
                <a:effectLst/>
                <a:latin typeface="Arial" panose="020B0604020202020204" pitchFamily="34" charset="0"/>
                <a:cs typeface="Arial" panose="020B0604020202020204" pitchFamily="34" charset="0"/>
              </a:rPr>
              <a:t>, </a:t>
            </a:r>
            <a:r>
              <a:rPr lang="tr-TR" b="1" i="0" dirty="0">
                <a:effectLst/>
                <a:latin typeface="Arial" panose="020B0604020202020204" pitchFamily="34" charset="0"/>
                <a:cs typeface="Arial" panose="020B0604020202020204" pitchFamily="34" charset="0"/>
              </a:rPr>
              <a:t>katsayıları çok küçültebilir ve modeli daha basit hale getirebilirken, çok küçük bir </a:t>
            </a:r>
            <a:r>
              <a:rPr lang="el-GR" b="1" i="1" dirty="0">
                <a:effectLst/>
                <a:latin typeface="Arial" panose="020B0604020202020204" pitchFamily="34" charset="0"/>
                <a:cs typeface="Arial" panose="020B0604020202020204" pitchFamily="34" charset="0"/>
              </a:rPr>
              <a:t>α</a:t>
            </a:r>
            <a:r>
              <a:rPr lang="el-GR" b="1" i="0" dirty="0">
                <a:effectLst/>
                <a:latin typeface="Arial" panose="020B0604020202020204" pitchFamily="34" charset="0"/>
                <a:cs typeface="Arial" panose="020B0604020202020204" pitchFamily="34" charset="0"/>
              </a:rPr>
              <a:t>, </a:t>
            </a:r>
            <a:r>
              <a:rPr lang="tr-TR" b="1" i="0" dirty="0" err="1">
                <a:effectLst/>
                <a:latin typeface="Arial" panose="020B0604020202020204" pitchFamily="34" charset="0"/>
                <a:cs typeface="Arial" panose="020B0604020202020204" pitchFamily="34" charset="0"/>
              </a:rPr>
              <a:t>Ridge</a:t>
            </a:r>
            <a:r>
              <a:rPr lang="tr-TR" b="1" i="0" dirty="0">
                <a:effectLst/>
                <a:latin typeface="Arial" panose="020B0604020202020204" pitchFamily="34" charset="0"/>
                <a:cs typeface="Arial" panose="020B0604020202020204" pitchFamily="34" charset="0"/>
              </a:rPr>
              <a:t> regresyonunu </a:t>
            </a:r>
            <a:r>
              <a:rPr lang="tr-TR" b="1" i="0" dirty="0" err="1">
                <a:effectLst/>
                <a:latin typeface="Arial" panose="020B0604020202020204" pitchFamily="34" charset="0"/>
                <a:cs typeface="Arial" panose="020B0604020202020204" pitchFamily="34" charset="0"/>
              </a:rPr>
              <a:t>OLS'ye</a:t>
            </a:r>
            <a:r>
              <a:rPr lang="tr-TR" b="1" i="0" dirty="0">
                <a:effectLst/>
                <a:latin typeface="Arial" panose="020B0604020202020204" pitchFamily="34" charset="0"/>
                <a:cs typeface="Arial" panose="020B0604020202020204" pitchFamily="34" charset="0"/>
              </a:rPr>
              <a:t> daha yaklaştırabilir. Bu nedenle, </a:t>
            </a:r>
            <a:r>
              <a:rPr lang="el-GR" b="1" i="1" dirty="0">
                <a:effectLst/>
                <a:latin typeface="Arial" panose="020B0604020202020204" pitchFamily="34" charset="0"/>
                <a:cs typeface="Arial" panose="020B0604020202020204" pitchFamily="34" charset="0"/>
              </a:rPr>
              <a:t>α</a:t>
            </a:r>
            <a:r>
              <a:rPr lang="el-GR" b="1" i="0" dirty="0">
                <a:effectLst/>
                <a:latin typeface="Arial" panose="020B0604020202020204" pitchFamily="34" charset="0"/>
                <a:cs typeface="Arial" panose="020B0604020202020204" pitchFamily="34" charset="0"/>
              </a:rPr>
              <a:t> </a:t>
            </a:r>
            <a:r>
              <a:rPr lang="tr-TR" b="1" i="0" dirty="0">
                <a:effectLst/>
                <a:latin typeface="Arial" panose="020B0604020202020204" pitchFamily="34" charset="0"/>
                <a:cs typeface="Arial" panose="020B0604020202020204" pitchFamily="34" charset="0"/>
              </a:rPr>
              <a:t>parametresi modelin performansını etkileyen önemli bir </a:t>
            </a:r>
            <a:r>
              <a:rPr lang="tr-TR" b="1" i="0" dirty="0" err="1">
                <a:effectLst/>
                <a:latin typeface="Arial" panose="020B0604020202020204" pitchFamily="34" charset="0"/>
                <a:cs typeface="Arial" panose="020B0604020202020204" pitchFamily="34" charset="0"/>
              </a:rPr>
              <a:t>hiperparametredir</a:t>
            </a:r>
            <a:r>
              <a:rPr lang="tr-TR" b="1" i="0" dirty="0">
                <a:effectLst/>
                <a:latin typeface="Arial" panose="020B0604020202020204" pitchFamily="34" charset="0"/>
                <a:cs typeface="Arial" panose="020B0604020202020204" pitchFamily="34" charset="0"/>
              </a:rPr>
              <a:t>.</a:t>
            </a:r>
          </a:p>
          <a:p>
            <a:pPr algn="l"/>
            <a:endParaRPr lang="tr-TR" b="0" i="0" dirty="0">
              <a:solidFill>
                <a:srgbClr val="D1D5DB"/>
              </a:solidFill>
              <a:effectLst/>
              <a:latin typeface="Söhne"/>
            </a:endParaRPr>
          </a:p>
          <a:p>
            <a:endParaRPr lang="tr-TR" dirty="0"/>
          </a:p>
        </p:txBody>
      </p:sp>
      <p:pic>
        <p:nvPicPr>
          <p:cNvPr id="5" name="Resim 4">
            <a:extLst>
              <a:ext uri="{FF2B5EF4-FFF2-40B4-BE49-F238E27FC236}">
                <a16:creationId xmlns:a16="http://schemas.microsoft.com/office/drawing/2014/main" id="{3F5ED07E-E4DB-E1F2-6F78-129BC53A9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2662" y="3163824"/>
            <a:ext cx="5687219" cy="1746074"/>
          </a:xfrm>
          <a:prstGeom prst="rect">
            <a:avLst/>
          </a:prstGeom>
        </p:spPr>
      </p:pic>
    </p:spTree>
    <p:extLst>
      <p:ext uri="{BB962C8B-B14F-4D97-AF65-F5344CB8AC3E}">
        <p14:creationId xmlns:p14="http://schemas.microsoft.com/office/powerpoint/2010/main" val="2010569398"/>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930</Words>
  <Application>Microsoft Office PowerPoint</Application>
  <PresentationFormat>Geniş ekran</PresentationFormat>
  <Paragraphs>38</Paragraphs>
  <Slides>8</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8</vt:i4>
      </vt:variant>
    </vt:vector>
  </HeadingPairs>
  <TitlesOfParts>
    <vt:vector size="13" baseType="lpstr">
      <vt:lpstr>Arial</vt:lpstr>
      <vt:lpstr>Calibri</vt:lpstr>
      <vt:lpstr>Calibri Light</vt:lpstr>
      <vt:lpstr>Söhne</vt:lpstr>
      <vt:lpstr>Office Teması</vt:lpstr>
      <vt:lpstr>PowerPoint Sunusu</vt:lpstr>
      <vt:lpstr>PowerPoint Sunusu</vt:lpstr>
      <vt:lpstr>PowerPoint Sunusu</vt:lpstr>
      <vt:lpstr>PowerPoint Sunusu</vt:lpstr>
      <vt:lpstr>Standardizasyon</vt:lpstr>
      <vt:lpstr>PCR</vt:lpstr>
      <vt:lpstr>PLS</vt:lpstr>
      <vt:lpstr>Ridge Regresyon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Noo Nickk</dc:creator>
  <cp:lastModifiedBy>Cengiz Ceylan</cp:lastModifiedBy>
  <cp:revision>6</cp:revision>
  <dcterms:created xsi:type="dcterms:W3CDTF">2023-12-06T13:32:23Z</dcterms:created>
  <dcterms:modified xsi:type="dcterms:W3CDTF">2026-07-30T10:47:20Z</dcterms:modified>
</cp:coreProperties>
</file>