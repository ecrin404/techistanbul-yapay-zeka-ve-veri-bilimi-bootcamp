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8" r:id="rId11"/>
    <p:sldId id="272" r:id="rId12"/>
    <p:sldId id="270" r:id="rId13"/>
    <p:sldId id="271" r:id="rId14"/>
    <p:sldId id="266" r:id="rId15"/>
    <p:sldId id="273" r:id="rId16"/>
    <p:sldId id="267" r:id="rId17"/>
    <p:sldId id="269" r:id="rId18"/>
    <p:sldId id="274" r:id="rId19"/>
    <p:sldId id="275" r:id="rId20"/>
    <p:sldId id="276" r:id="rId21"/>
    <p:sldId id="277" r:id="rId22"/>
    <p:sldId id="278" r:id="rId23"/>
    <p:sldId id="279" r:id="rId2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6FE9264-BA33-4EAE-4840-ABD4766F74A6}"/>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2FD9DD6B-2347-DA2E-D573-4624C4C194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9FF72A79-999B-2AA4-2E42-C21444CBF426}"/>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5" name="Alt Bilgi Yer Tutucusu 4">
            <a:extLst>
              <a:ext uri="{FF2B5EF4-FFF2-40B4-BE49-F238E27FC236}">
                <a16:creationId xmlns:a16="http://schemas.microsoft.com/office/drawing/2014/main" id="{27E1CF88-1521-D8DD-3D40-4ED3B2AC2D6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9692CED-0AA3-F1A2-0EA0-A35109150149}"/>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1745242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62793CC-99CF-77C2-3C20-C219FE57FDD4}"/>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E2AC75EA-26FF-99FA-D926-9CD2BB4F436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CD339E7-64DA-8115-5B9D-14F428C5D770}"/>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5" name="Alt Bilgi Yer Tutucusu 4">
            <a:extLst>
              <a:ext uri="{FF2B5EF4-FFF2-40B4-BE49-F238E27FC236}">
                <a16:creationId xmlns:a16="http://schemas.microsoft.com/office/drawing/2014/main" id="{E932F27D-E685-3F21-1FF3-19498F80A94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33F2008-A6AF-3023-9910-3DE9DDF4A342}"/>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4134488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453D08-01AD-5FD4-DFE8-B50B7DAF697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7FA15698-E658-0E03-4534-09962F7544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F5B109A0-9D10-82EB-C405-9695BEAD4AD4}"/>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5" name="Alt Bilgi Yer Tutucusu 4">
            <a:extLst>
              <a:ext uri="{FF2B5EF4-FFF2-40B4-BE49-F238E27FC236}">
                <a16:creationId xmlns:a16="http://schemas.microsoft.com/office/drawing/2014/main" id="{CEFF7969-DEB7-508F-7889-584510112DA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9376693-3896-E773-D123-54C3F6FD0DFE}"/>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312442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625B8DC-A145-BD2B-FFE9-994DD3E8FDAB}"/>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A13676B-4903-1F09-27C8-B55A7D9B07E6}"/>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5C1E6547-EEE1-DDE9-5203-A8EA5468099A}"/>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E8E2415B-2D9C-019E-B103-E35B0A02322C}"/>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6" name="Alt Bilgi Yer Tutucusu 5">
            <a:extLst>
              <a:ext uri="{FF2B5EF4-FFF2-40B4-BE49-F238E27FC236}">
                <a16:creationId xmlns:a16="http://schemas.microsoft.com/office/drawing/2014/main" id="{6C8EEC68-E981-47C3-4E52-D8F70FA3243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0EBE093-AC69-7EBF-5743-50B970A5C5E6}"/>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277778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5E6653F-F392-FA00-9994-A2357F559B7A}"/>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8299B407-6163-160A-F40C-DF3D3362B7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48561004-223D-A07E-5087-2F65CDA17781}"/>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9593C1AC-E815-6289-2EB5-4E69F65DC0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662D18CF-4BBB-9B39-307B-D1D82F6B1AF1}"/>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08E546A1-EFD6-A49B-AC52-4662646E2918}"/>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8" name="Alt Bilgi Yer Tutucusu 7">
            <a:extLst>
              <a:ext uri="{FF2B5EF4-FFF2-40B4-BE49-F238E27FC236}">
                <a16:creationId xmlns:a16="http://schemas.microsoft.com/office/drawing/2014/main" id="{89DA9AB1-3EA3-B2FC-0EFC-3442B25A0375}"/>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AA72FFAE-20F6-6654-7867-A662EF20C53E}"/>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3220301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A8B653-38D6-2961-254D-756130744C6B}"/>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30EDA84-A2B2-1909-C894-E0EA139D9D1A}"/>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4" name="Alt Bilgi Yer Tutucusu 3">
            <a:extLst>
              <a:ext uri="{FF2B5EF4-FFF2-40B4-BE49-F238E27FC236}">
                <a16:creationId xmlns:a16="http://schemas.microsoft.com/office/drawing/2014/main" id="{D82926DD-98B5-4F0D-3F2E-BDF068153825}"/>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7E822F55-9AC8-DEBD-62D1-A5900DC14AFB}"/>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2940869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00696BE5-66D6-D390-E4BA-9843250946A7}"/>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3" name="Alt Bilgi Yer Tutucusu 2">
            <a:extLst>
              <a:ext uri="{FF2B5EF4-FFF2-40B4-BE49-F238E27FC236}">
                <a16:creationId xmlns:a16="http://schemas.microsoft.com/office/drawing/2014/main" id="{F801635F-57DD-AC10-33E4-D69D55E770B0}"/>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4AC6465C-BA9A-2815-F2F2-EA8BD813B53B}"/>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861233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F2E828-4710-109A-F49B-F83C5B3BEDD7}"/>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7ECE8D3F-DE0F-35D7-BB31-77ED035F68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33A1C517-97BD-5500-9B8E-B4B13C6353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C364FCEE-FA98-2CC9-2990-6D1D965976F2}"/>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6" name="Alt Bilgi Yer Tutucusu 5">
            <a:extLst>
              <a:ext uri="{FF2B5EF4-FFF2-40B4-BE49-F238E27FC236}">
                <a16:creationId xmlns:a16="http://schemas.microsoft.com/office/drawing/2014/main" id="{8F54B640-23AA-08F6-3F64-102E51EC3A06}"/>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5D5E845E-D17D-EBC6-7FB2-966E55A3100D}"/>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2339868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8B8976-6B96-7A2A-14C9-FCE16B73DB83}"/>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4055BA2D-C367-6C64-F9CF-9BF7E271EB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220B6655-B86E-C4E9-6CE0-C533973F6D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E5764E0A-FC27-EE20-8EA1-2D452E1A5596}"/>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6" name="Alt Bilgi Yer Tutucusu 5">
            <a:extLst>
              <a:ext uri="{FF2B5EF4-FFF2-40B4-BE49-F238E27FC236}">
                <a16:creationId xmlns:a16="http://schemas.microsoft.com/office/drawing/2014/main" id="{6B435EBC-B546-9238-D9C3-3D1F809D9476}"/>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19E91E8-6F7C-831D-4027-3EE652214BF6}"/>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74869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11251BA-32FE-769F-D49F-248AE84D4977}"/>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C67243F2-D562-7DCB-C443-D0AAFDAEE3EE}"/>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F6A785D-17AC-A9DB-9EE4-6D5B2C1A0E1B}"/>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5" name="Alt Bilgi Yer Tutucusu 4">
            <a:extLst>
              <a:ext uri="{FF2B5EF4-FFF2-40B4-BE49-F238E27FC236}">
                <a16:creationId xmlns:a16="http://schemas.microsoft.com/office/drawing/2014/main" id="{FC77A75C-3889-109C-AA40-E0F27D1B335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535A90D-9EF2-F4EB-A384-734C4FC74CE1}"/>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182683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F5848E32-EA83-ACDF-9AC0-47491AD38717}"/>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4EE2C39-7245-BD9E-DF09-FDE18A2767B4}"/>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8EB353F-98D2-E912-AD3C-F04AEA3F26B4}"/>
              </a:ext>
            </a:extLst>
          </p:cNvPr>
          <p:cNvSpPr>
            <a:spLocks noGrp="1"/>
          </p:cNvSpPr>
          <p:nvPr>
            <p:ph type="dt" sz="half" idx="10"/>
          </p:nvPr>
        </p:nvSpPr>
        <p:spPr/>
        <p:txBody>
          <a:bodyPr/>
          <a:lstStyle/>
          <a:p>
            <a:fld id="{42D1CB6C-0831-4FFD-8E05-3E1F2EF55016}" type="datetimeFigureOut">
              <a:rPr lang="tr-TR" smtClean="0"/>
              <a:t>4.08.2026</a:t>
            </a:fld>
            <a:endParaRPr lang="tr-TR"/>
          </a:p>
        </p:txBody>
      </p:sp>
      <p:sp>
        <p:nvSpPr>
          <p:cNvPr id="5" name="Alt Bilgi Yer Tutucusu 4">
            <a:extLst>
              <a:ext uri="{FF2B5EF4-FFF2-40B4-BE49-F238E27FC236}">
                <a16:creationId xmlns:a16="http://schemas.microsoft.com/office/drawing/2014/main" id="{4DE2C275-ADF2-FDF7-178A-44C20F8B08F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428DD18-CEEE-18F8-413C-98D4E7B7E8BC}"/>
              </a:ext>
            </a:extLst>
          </p:cNvPr>
          <p:cNvSpPr>
            <a:spLocks noGrp="1"/>
          </p:cNvSpPr>
          <p:nvPr>
            <p:ph type="sldNum" sz="quarter" idx="12"/>
          </p:nvPr>
        </p:nvSpPr>
        <p:spPr/>
        <p:txBody>
          <a:bodyPr/>
          <a:lstStyle/>
          <a:p>
            <a:fld id="{3DE06E38-0C7E-458B-BCA9-3D3C0C113DD4}" type="slidenum">
              <a:rPr lang="tr-TR" smtClean="0"/>
              <a:t>‹#›</a:t>
            </a:fld>
            <a:endParaRPr lang="tr-TR"/>
          </a:p>
        </p:txBody>
      </p:sp>
    </p:spTree>
    <p:extLst>
      <p:ext uri="{BB962C8B-B14F-4D97-AF65-F5344CB8AC3E}">
        <p14:creationId xmlns:p14="http://schemas.microsoft.com/office/powerpoint/2010/main" val="1007010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3BE900A3-E610-124F-0A76-3D13F846BA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706192C9-5D4A-D708-AD5A-9910B3A4E4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115833F-BFB8-4533-9F14-10ECF6CE93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D1CB6C-0831-4FFD-8E05-3E1F2EF55016}" type="datetimeFigureOut">
              <a:rPr lang="tr-TR" smtClean="0"/>
              <a:t>4.08.2026</a:t>
            </a:fld>
            <a:endParaRPr lang="tr-TR"/>
          </a:p>
        </p:txBody>
      </p:sp>
      <p:sp>
        <p:nvSpPr>
          <p:cNvPr id="5" name="Alt Bilgi Yer Tutucusu 4">
            <a:extLst>
              <a:ext uri="{FF2B5EF4-FFF2-40B4-BE49-F238E27FC236}">
                <a16:creationId xmlns:a16="http://schemas.microsoft.com/office/drawing/2014/main" id="{A0F508EE-1F4D-BB14-3646-CB4AA6FF38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A238F966-5DE3-8AFB-9E46-6BDDBEA673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E06E38-0C7E-458B-BCA9-3D3C0C113DD4}" type="slidenum">
              <a:rPr lang="tr-TR" smtClean="0"/>
              <a:t>‹#›</a:t>
            </a:fld>
            <a:endParaRPr lang="tr-TR"/>
          </a:p>
        </p:txBody>
      </p:sp>
    </p:spTree>
    <p:extLst>
      <p:ext uri="{BB962C8B-B14F-4D97-AF65-F5344CB8AC3E}">
        <p14:creationId xmlns:p14="http://schemas.microsoft.com/office/powerpoint/2010/main" val="1619171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F33C809D-3BEB-332F-EFDD-FAAE3AB0F113}"/>
              </a:ext>
            </a:extLst>
          </p:cNvPr>
          <p:cNvSpPr txBox="1"/>
          <p:nvPr/>
        </p:nvSpPr>
        <p:spPr>
          <a:xfrm>
            <a:off x="2142743" y="5412683"/>
            <a:ext cx="7906512" cy="830997"/>
          </a:xfrm>
          <a:prstGeom prst="rect">
            <a:avLst/>
          </a:prstGeom>
          <a:noFill/>
        </p:spPr>
        <p:txBody>
          <a:bodyPr wrap="square" rtlCol="0">
            <a:spAutoFit/>
          </a:bodyPr>
          <a:lstStyle/>
          <a:p>
            <a:pPr algn="ctr"/>
            <a:r>
              <a:rPr lang="tr-TR" sz="4800" dirty="0"/>
              <a:t>Doğrusal Olmayan Regresyon</a:t>
            </a:r>
          </a:p>
        </p:txBody>
      </p:sp>
      <p:pic>
        <p:nvPicPr>
          <p:cNvPr id="3" name="Resim 2">
            <a:extLst>
              <a:ext uri="{FF2B5EF4-FFF2-40B4-BE49-F238E27FC236}">
                <a16:creationId xmlns:a16="http://schemas.microsoft.com/office/drawing/2014/main" id="{E96B5B8B-4FA3-ECB9-CE9C-13694DBA79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3274" y="524366"/>
            <a:ext cx="4645451" cy="4645451"/>
          </a:xfrm>
          <a:prstGeom prst="rect">
            <a:avLst/>
          </a:prstGeom>
        </p:spPr>
      </p:pic>
      <p:pic>
        <p:nvPicPr>
          <p:cNvPr id="2" name="Resim 1" descr="Zemin İstanbul ve Veri Laboratuvarı, Tech Istanbul markası altında  birleşiyor - Webrazzi">
            <a:extLst>
              <a:ext uri="{FF2B5EF4-FFF2-40B4-BE49-F238E27FC236}">
                <a16:creationId xmlns:a16="http://schemas.microsoft.com/office/drawing/2014/main" id="{E6CC4CB8-B040-D698-76D2-0E7221411D49}"/>
              </a:ext>
            </a:extLst>
          </p:cNvPr>
          <p:cNvPicPr>
            <a:picLocks noChangeAspect="1"/>
          </p:cNvPicPr>
          <p:nvPr/>
        </p:nvPicPr>
        <p:blipFill>
          <a:blip r:embed="rId3"/>
          <a:stretch>
            <a:fillRect/>
          </a:stretch>
        </p:blipFill>
        <p:spPr>
          <a:xfrm>
            <a:off x="1523999" y="275341"/>
            <a:ext cx="9144000" cy="5143500"/>
          </a:xfrm>
          <a:prstGeom prst="rect">
            <a:avLst/>
          </a:prstGeom>
        </p:spPr>
      </p:pic>
    </p:spTree>
    <p:extLst>
      <p:ext uri="{BB962C8B-B14F-4D97-AF65-F5344CB8AC3E}">
        <p14:creationId xmlns:p14="http://schemas.microsoft.com/office/powerpoint/2010/main" val="350960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69FDB8-A0B5-CEC7-FA55-76CE1551804C}"/>
              </a:ext>
            </a:extLst>
          </p:cNvPr>
          <p:cNvSpPr>
            <a:spLocks noGrp="1"/>
          </p:cNvSpPr>
          <p:nvPr>
            <p:ph type="title"/>
          </p:nvPr>
        </p:nvSpPr>
        <p:spPr/>
        <p:txBody>
          <a:bodyPr/>
          <a:lstStyle/>
          <a:p>
            <a:pPr algn="ctr"/>
            <a:r>
              <a:rPr lang="tr-TR" dirty="0"/>
              <a:t>KNN</a:t>
            </a:r>
          </a:p>
        </p:txBody>
      </p:sp>
      <p:sp>
        <p:nvSpPr>
          <p:cNvPr id="3" name="İçerik Yer Tutucusu 2">
            <a:extLst>
              <a:ext uri="{FF2B5EF4-FFF2-40B4-BE49-F238E27FC236}">
                <a16:creationId xmlns:a16="http://schemas.microsoft.com/office/drawing/2014/main" id="{954C2B74-1218-0899-A476-DA5AC68C32E3}"/>
              </a:ext>
            </a:extLst>
          </p:cNvPr>
          <p:cNvSpPr>
            <a:spLocks noGrp="1"/>
          </p:cNvSpPr>
          <p:nvPr>
            <p:ph idx="1"/>
          </p:nvPr>
        </p:nvSpPr>
        <p:spPr/>
        <p:txBody>
          <a:bodyPr>
            <a:normAutofit fontScale="62500" lnSpcReduction="20000"/>
          </a:bodyPr>
          <a:lstStyle/>
          <a:p>
            <a:pPr marL="0" indent="0" algn="l">
              <a:buNone/>
            </a:pPr>
            <a:r>
              <a:rPr lang="tr-TR" b="0" i="0" dirty="0">
                <a:effectLst/>
                <a:latin typeface="Arial" panose="020B0604020202020204" pitchFamily="34" charset="0"/>
                <a:cs typeface="Arial" panose="020B0604020202020204" pitchFamily="34" charset="0"/>
              </a:rPr>
              <a:t>K-En Yakın Komşu (K-</a:t>
            </a:r>
            <a:r>
              <a:rPr lang="tr-TR" b="0" i="0" dirty="0" err="1">
                <a:effectLst/>
                <a:latin typeface="Arial" panose="020B0604020202020204" pitchFamily="34" charset="0"/>
                <a:cs typeface="Arial" panose="020B0604020202020204" pitchFamily="34" charset="0"/>
              </a:rPr>
              <a:t>Nearest</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Neighbors</a:t>
            </a:r>
            <a:r>
              <a:rPr lang="tr-TR" b="0" i="0" dirty="0">
                <a:effectLst/>
                <a:latin typeface="Arial" panose="020B0604020202020204" pitchFamily="34" charset="0"/>
                <a:cs typeface="Arial" panose="020B0604020202020204" pitchFamily="34" charset="0"/>
              </a:rPr>
              <a:t> - KNN), temel bir sınıflandırma ve regresyon algoritmasıdır. Veri noktalarının etrafındaki komşularına bakarak sınıflandırma veya regresyon yapar.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1" i="0" dirty="0">
                <a:effectLst/>
                <a:latin typeface="Arial" panose="020B0604020202020204" pitchFamily="34" charset="0"/>
                <a:cs typeface="Arial" panose="020B0604020202020204" pitchFamily="34" charset="0"/>
              </a:rPr>
              <a:t>Çalışma Mantığı:</a:t>
            </a:r>
          </a:p>
          <a:p>
            <a:pPr algn="l">
              <a:buFont typeface="+mj-lt"/>
              <a:buAutoNum type="arabicPeriod"/>
            </a:pPr>
            <a:r>
              <a:rPr lang="tr-TR" b="1" i="0" dirty="0">
                <a:effectLst/>
                <a:latin typeface="Arial" panose="020B0604020202020204" pitchFamily="34" charset="0"/>
                <a:cs typeface="Arial" panose="020B0604020202020204" pitchFamily="34" charset="0"/>
              </a:rPr>
              <a:t>Komşuluk Temelli Karar Mekanizması:</a:t>
            </a:r>
            <a:endParaRPr lang="tr-TR" b="0" i="0" dirty="0">
              <a:effectLst/>
              <a:latin typeface="Arial" panose="020B0604020202020204" pitchFamily="34" charset="0"/>
              <a:cs typeface="Arial" panose="020B0604020202020204" pitchFamily="34" charset="0"/>
            </a:endParaRPr>
          </a:p>
          <a:p>
            <a:pPr marL="742950" lvl="1" indent="-285750" algn="l">
              <a:buFont typeface="+mj-lt"/>
              <a:buAutoNum type="arabicPeriod"/>
            </a:pPr>
            <a:r>
              <a:rPr lang="tr-TR" b="0" i="0" dirty="0">
                <a:effectLst/>
                <a:latin typeface="Arial" panose="020B0604020202020204" pitchFamily="34" charset="0"/>
                <a:cs typeface="Arial" panose="020B0604020202020204" pitchFamily="34" charset="0"/>
              </a:rPr>
              <a:t>Sınıflandırma: Bir veri noktasını sınıflandırmak için, bu noktaya en yakın olan k (bir sayı) komşusunun etiketlerine bakar. Çoğunluk etiketi, o veri noktasının etiketi olarak atanır.</a:t>
            </a:r>
          </a:p>
          <a:p>
            <a:pPr marL="742950" lvl="1" indent="-285750" algn="l">
              <a:buFont typeface="+mj-lt"/>
              <a:buAutoNum type="arabicPeriod"/>
            </a:pPr>
            <a:r>
              <a:rPr lang="tr-TR" b="0" i="0" dirty="0">
                <a:effectLst/>
                <a:latin typeface="Arial" panose="020B0604020202020204" pitchFamily="34" charset="0"/>
                <a:cs typeface="Arial" panose="020B0604020202020204" pitchFamily="34" charset="0"/>
              </a:rPr>
              <a:t>Regresyon: Bir veri noktasının tahmin edilmesi için, bu noktaya en yakın olan k komşusunun değerlerine bakar ve bu değerlerin ortalamasını alır.</a:t>
            </a:r>
          </a:p>
          <a:p>
            <a:pPr algn="l">
              <a:buFont typeface="+mj-lt"/>
              <a:buAutoNum type="arabicPeriod"/>
            </a:pPr>
            <a:r>
              <a:rPr lang="tr-TR" b="1" i="0" dirty="0">
                <a:effectLst/>
                <a:latin typeface="Arial" panose="020B0604020202020204" pitchFamily="34" charset="0"/>
                <a:cs typeface="Arial" panose="020B0604020202020204" pitchFamily="34" charset="0"/>
              </a:rPr>
              <a:t>Komşuluk Belirleme:</a:t>
            </a:r>
            <a:endParaRPr lang="tr-TR" b="0" i="0" dirty="0">
              <a:effectLst/>
              <a:latin typeface="Arial" panose="020B0604020202020204" pitchFamily="34" charset="0"/>
              <a:cs typeface="Arial" panose="020B0604020202020204" pitchFamily="34" charset="0"/>
            </a:endParaRPr>
          </a:p>
          <a:p>
            <a:pPr marL="742950" lvl="1" indent="-285750" algn="l">
              <a:buFont typeface="+mj-lt"/>
              <a:buAutoNum type="arabicPeriod"/>
            </a:pPr>
            <a:r>
              <a:rPr lang="tr-TR" b="0" i="0" dirty="0" err="1">
                <a:effectLst/>
                <a:latin typeface="Arial" panose="020B0604020202020204" pitchFamily="34" charset="0"/>
                <a:cs typeface="Arial" panose="020B0604020202020204" pitchFamily="34" charset="0"/>
              </a:rPr>
              <a:t>KNN'de</a:t>
            </a:r>
            <a:r>
              <a:rPr lang="tr-TR" b="0" i="0" dirty="0">
                <a:effectLst/>
                <a:latin typeface="Arial" panose="020B0604020202020204" pitchFamily="34" charset="0"/>
                <a:cs typeface="Arial" panose="020B0604020202020204" pitchFamily="34" charset="0"/>
              </a:rPr>
              <a:t> genellikle </a:t>
            </a:r>
            <a:r>
              <a:rPr lang="tr-TR" b="0" i="0" dirty="0" err="1">
                <a:effectLst/>
                <a:latin typeface="Arial" panose="020B0604020202020204" pitchFamily="34" charset="0"/>
                <a:cs typeface="Arial" panose="020B0604020202020204" pitchFamily="34" charset="0"/>
              </a:rPr>
              <a:t>Euclidean</a:t>
            </a:r>
            <a:r>
              <a:rPr lang="tr-TR" b="0" i="0" dirty="0">
                <a:effectLst/>
                <a:latin typeface="Arial" panose="020B0604020202020204" pitchFamily="34" charset="0"/>
                <a:cs typeface="Arial" panose="020B0604020202020204" pitchFamily="34" charset="0"/>
              </a:rPr>
              <a:t> (Öklid) uzaklık ölçüsü kullanılır. Ancak, başka uzaklık metrikleri de kullanılabilir.</a:t>
            </a:r>
          </a:p>
          <a:p>
            <a:pPr marL="742950" lvl="1" indent="-285750" algn="l">
              <a:buFont typeface="+mj-lt"/>
              <a:buAutoNum type="arabicPeriod"/>
            </a:pPr>
            <a:r>
              <a:rPr lang="tr-TR" b="0" i="0" dirty="0">
                <a:effectLst/>
                <a:latin typeface="Arial" panose="020B0604020202020204" pitchFamily="34" charset="0"/>
                <a:cs typeface="Arial" panose="020B0604020202020204" pitchFamily="34" charset="0"/>
              </a:rPr>
              <a:t>Öklid uzaklığı, veri noktaları arasındaki doğrudan mesafeyi ölçer:</a:t>
            </a:r>
          </a:p>
          <a:p>
            <a:pPr marL="742950" lvl="1" indent="-285750" algn="l">
              <a:buFont typeface="+mj-lt"/>
              <a:buAutoNum type="arabicPeriod"/>
            </a:pPr>
            <a:endParaRPr lang="tr-TR" b="0" i="0" dirty="0">
              <a:effectLst/>
              <a:latin typeface="Arial" panose="020B0604020202020204" pitchFamily="34" charset="0"/>
              <a:cs typeface="Arial" panose="020B0604020202020204" pitchFamily="34" charset="0"/>
            </a:endParaRPr>
          </a:p>
          <a:p>
            <a:pPr marL="742950" lvl="1" indent="-285750" algn="l">
              <a:buFont typeface="+mj-lt"/>
              <a:buAutoNum type="arabicPeriod"/>
            </a:pPr>
            <a:endParaRPr lang="tr-TR" b="0" i="0" dirty="0">
              <a:effectLst/>
              <a:latin typeface="Arial" panose="020B0604020202020204" pitchFamily="34" charset="0"/>
              <a:cs typeface="Arial" panose="020B0604020202020204" pitchFamily="34" charset="0"/>
            </a:endParaRPr>
          </a:p>
          <a:p>
            <a:pPr marL="742950" lvl="1" indent="-285750" algn="l">
              <a:buFont typeface="+mj-lt"/>
              <a:buAutoNum type="arabicPeriod"/>
            </a:pPr>
            <a:endParaRPr lang="tr-TR" dirty="0">
              <a:latin typeface="Arial" panose="020B0604020202020204" pitchFamily="34" charset="0"/>
              <a:cs typeface="Arial" panose="020B0604020202020204" pitchFamily="34" charset="0"/>
            </a:endParaRPr>
          </a:p>
          <a:p>
            <a:pPr marL="742950" lvl="1" indent="-285750" algn="l">
              <a:buFont typeface="+mj-lt"/>
              <a:buAutoNum type="arabicPeriod"/>
            </a:pPr>
            <a:r>
              <a:rPr lang="tr-TR" b="0" i="0" dirty="0">
                <a:effectLst/>
                <a:latin typeface="Arial" panose="020B0604020202020204" pitchFamily="34" charset="0"/>
                <a:cs typeface="Arial" panose="020B0604020202020204" pitchFamily="34" charset="0"/>
              </a:rPr>
              <a:t>K, en yakın </a:t>
            </a:r>
            <a:r>
              <a:rPr lang="tr-TR" b="0" i="0" dirty="0" err="1">
                <a:effectLst/>
                <a:latin typeface="Arial" panose="020B0604020202020204" pitchFamily="34" charset="0"/>
                <a:cs typeface="Arial" panose="020B0604020202020204" pitchFamily="34" charset="0"/>
              </a:rPr>
              <a:t>komsularin</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sayisini</a:t>
            </a:r>
            <a:r>
              <a:rPr lang="tr-TR" b="0" i="0" dirty="0">
                <a:effectLst/>
                <a:latin typeface="Arial" panose="020B0604020202020204" pitchFamily="34" charset="0"/>
                <a:cs typeface="Arial" panose="020B0604020202020204" pitchFamily="34" charset="0"/>
              </a:rPr>
              <a:t> temsil eder. Modelin performansı ve tahminlerin doğruluğu k değeri ile ilişkilidir. Küçük k değerleri aşırı uymaya (</a:t>
            </a:r>
            <a:r>
              <a:rPr lang="tr-TR" b="0" i="0" dirty="0" err="1">
                <a:effectLst/>
                <a:latin typeface="Arial" panose="020B0604020202020204" pitchFamily="34" charset="0"/>
                <a:cs typeface="Arial" panose="020B0604020202020204" pitchFamily="34" charset="0"/>
              </a:rPr>
              <a:t>overfitting</a:t>
            </a:r>
            <a:r>
              <a:rPr lang="tr-TR" b="0" i="0" dirty="0">
                <a:effectLst/>
                <a:latin typeface="Arial" panose="020B0604020202020204" pitchFamily="34" charset="0"/>
                <a:cs typeface="Arial" panose="020B0604020202020204" pitchFamily="34" charset="0"/>
              </a:rPr>
              <a:t>) eğilimli olabilirken, büyük k değerleri genelleme yapmayı artırabilir ancak modelin hassasiyetini düşürebilir.</a:t>
            </a:r>
          </a:p>
          <a:p>
            <a:endParaRPr lang="tr-TR" dirty="0">
              <a:latin typeface="Arial" panose="020B0604020202020204" pitchFamily="34" charset="0"/>
              <a:cs typeface="Arial" panose="020B0604020202020204" pitchFamily="34" charset="0"/>
            </a:endParaRPr>
          </a:p>
        </p:txBody>
      </p:sp>
      <p:pic>
        <p:nvPicPr>
          <p:cNvPr id="5" name="Resim 4">
            <a:extLst>
              <a:ext uri="{FF2B5EF4-FFF2-40B4-BE49-F238E27FC236}">
                <a16:creationId xmlns:a16="http://schemas.microsoft.com/office/drawing/2014/main" id="{41FAA8C0-9FFF-8DAE-2D1F-93F0CFA740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555" y="4801524"/>
            <a:ext cx="2457793" cy="409632"/>
          </a:xfrm>
          <a:prstGeom prst="rect">
            <a:avLst/>
          </a:prstGeom>
        </p:spPr>
      </p:pic>
    </p:spTree>
    <p:extLst>
      <p:ext uri="{BB962C8B-B14F-4D97-AF65-F5344CB8AC3E}">
        <p14:creationId xmlns:p14="http://schemas.microsoft.com/office/powerpoint/2010/main" val="4159055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81907BF-8720-9A38-53F3-B627D0F4D62B}"/>
              </a:ext>
            </a:extLst>
          </p:cNvPr>
          <p:cNvSpPr>
            <a:spLocks noGrp="1"/>
          </p:cNvSpPr>
          <p:nvPr>
            <p:ph type="title"/>
          </p:nvPr>
        </p:nvSpPr>
        <p:spPr/>
        <p:txBody>
          <a:bodyPr/>
          <a:lstStyle/>
          <a:p>
            <a:pPr algn="ctr"/>
            <a:r>
              <a:rPr lang="tr-TR" dirty="0"/>
              <a:t>KNN</a:t>
            </a:r>
          </a:p>
        </p:txBody>
      </p:sp>
      <p:sp>
        <p:nvSpPr>
          <p:cNvPr id="3" name="İçerik Yer Tutucusu 2">
            <a:extLst>
              <a:ext uri="{FF2B5EF4-FFF2-40B4-BE49-F238E27FC236}">
                <a16:creationId xmlns:a16="http://schemas.microsoft.com/office/drawing/2014/main" id="{E00E4E7B-F697-FC24-D485-FBD860BE06C3}"/>
              </a:ext>
            </a:extLst>
          </p:cNvPr>
          <p:cNvSpPr>
            <a:spLocks noGrp="1"/>
          </p:cNvSpPr>
          <p:nvPr>
            <p:ph idx="1"/>
          </p:nvPr>
        </p:nvSpPr>
        <p:spPr>
          <a:xfrm>
            <a:off x="838200" y="1825625"/>
            <a:ext cx="6394704" cy="4351338"/>
          </a:xfrm>
        </p:spPr>
        <p:txBody>
          <a:bodyPr>
            <a:normAutofit fontScale="62500" lnSpcReduction="20000"/>
          </a:bodyPr>
          <a:lstStyle/>
          <a:p>
            <a:pPr marL="0" indent="0" algn="l">
              <a:buNone/>
            </a:pPr>
            <a:r>
              <a:rPr lang="tr-TR" b="0" i="0" dirty="0">
                <a:effectLst/>
                <a:latin typeface="Arial" panose="020B0604020202020204" pitchFamily="34" charset="0"/>
                <a:cs typeface="Arial" panose="020B0604020202020204" pitchFamily="34" charset="0"/>
              </a:rPr>
              <a:t>Örneğin, bir evin metrekareye ve odaya sahip olduğu veri noktalarımız olsun. Bu veri noktalarını kullanarak yeni bir evin fiyatını tahmin etmek istiyoruz.</a:t>
            </a:r>
          </a:p>
          <a:p>
            <a:pPr marL="0" indent="0" algn="l">
              <a:buNone/>
            </a:pPr>
            <a:endParaRPr lang="tr-TR" b="0" i="0" dirty="0">
              <a:effectLst/>
              <a:latin typeface="Arial" panose="020B0604020202020204" pitchFamily="34" charset="0"/>
              <a:cs typeface="Arial" panose="020B0604020202020204" pitchFamily="34" charset="0"/>
            </a:endParaRPr>
          </a:p>
          <a:p>
            <a:pPr algn="l">
              <a:buFont typeface="+mj-lt"/>
              <a:buAutoNum type="arabicPeriod"/>
            </a:pPr>
            <a:r>
              <a:rPr lang="tr-TR" b="0" i="0" dirty="0">
                <a:effectLst/>
                <a:latin typeface="Arial" panose="020B0604020202020204" pitchFamily="34" charset="0"/>
                <a:cs typeface="Arial" panose="020B0604020202020204" pitchFamily="34" charset="0"/>
              </a:rPr>
              <a:t>Elimizdeki veri noktalarını grafikte gösterelim. X ekseni metrekare, Y ekseni ise oda sayısını temsil etsin.</a:t>
            </a:r>
          </a:p>
          <a:p>
            <a:pPr algn="l">
              <a:buFont typeface="+mj-lt"/>
              <a:buAutoNum type="arabicPeriod"/>
            </a:pPr>
            <a:r>
              <a:rPr lang="tr-TR" b="0" i="0" dirty="0">
                <a:effectLst/>
                <a:latin typeface="Arial" panose="020B0604020202020204" pitchFamily="34" charset="0"/>
                <a:cs typeface="Arial" panose="020B0604020202020204" pitchFamily="34" charset="0"/>
              </a:rPr>
              <a:t>Yeni evin özelliklerini belirledikten sonra, bu noktanın k komşusuna bakalım.</a:t>
            </a:r>
          </a:p>
          <a:p>
            <a:pPr algn="l">
              <a:buFont typeface="+mj-lt"/>
              <a:buAutoNum type="arabicPeriod"/>
            </a:pPr>
            <a:r>
              <a:rPr lang="tr-TR" b="0" i="0" dirty="0">
                <a:effectLst/>
                <a:latin typeface="Arial" panose="020B0604020202020204" pitchFamily="34" charset="0"/>
                <a:cs typeface="Arial" panose="020B0604020202020204" pitchFamily="34" charset="0"/>
              </a:rPr>
              <a:t>Eğer k=3 ise, yeni evin etrafındaki 3 komşuya bakarak bu komşuların fiyatlarının ortalamasını alabiliriz. Bu ortalamayı yeni evin fiyatı olarak tahmin edebiliriz.</a:t>
            </a:r>
          </a:p>
          <a:p>
            <a:pPr algn="l">
              <a:buFont typeface="+mj-lt"/>
              <a:buAutoNum type="arabicPeriod"/>
            </a:pPr>
            <a:endParaRPr lang="tr-TR" b="0" i="0" dirty="0">
              <a:effectLst/>
              <a:latin typeface="Arial" panose="020B0604020202020204" pitchFamily="34" charset="0"/>
              <a:cs typeface="Arial" panose="020B0604020202020204" pitchFamily="34" charset="0"/>
            </a:endParaRPr>
          </a:p>
          <a:p>
            <a:pPr marL="0" indent="0" algn="l">
              <a:buNone/>
            </a:pPr>
            <a:r>
              <a:rPr lang="tr-TR" b="0" i="0" dirty="0">
                <a:effectLst/>
                <a:latin typeface="Arial" panose="020B0604020202020204" pitchFamily="34" charset="0"/>
                <a:cs typeface="Arial" panose="020B0604020202020204" pitchFamily="34" charset="0"/>
              </a:rPr>
              <a:t>KNN, yeni bir veri noktasını sınıflandırırken veya tahmin yaparken, bu veri noktasının komşularına dayanarak karar verir. Özellikle küçük boyutlu veri setlerinde ve sınıflandırma/regresyon problemlerinde kullanılabilir. Ancak, büyük veri setlerinde hesaplama maliyeti artabilir.</a:t>
            </a:r>
          </a:p>
          <a:p>
            <a:endParaRPr lang="tr-TR" dirty="0">
              <a:latin typeface="Arial" panose="020B0604020202020204" pitchFamily="34" charset="0"/>
              <a:cs typeface="Arial" panose="020B0604020202020204" pitchFamily="34" charset="0"/>
            </a:endParaRPr>
          </a:p>
        </p:txBody>
      </p:sp>
      <p:pic>
        <p:nvPicPr>
          <p:cNvPr id="1026" name="Picture 2" descr="KNN (K-Nearest Neighbors) #1. How it works? | by Italo José | Towards Data  Science">
            <a:extLst>
              <a:ext uri="{FF2B5EF4-FFF2-40B4-BE49-F238E27FC236}">
                <a16:creationId xmlns:a16="http://schemas.microsoft.com/office/drawing/2014/main" id="{D6BFEB4C-C664-963D-076E-9B9A14813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2904" y="1918146"/>
            <a:ext cx="4488370" cy="3355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468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E1F37A-5BBE-FC5B-481E-59792F37DFD4}"/>
              </a:ext>
            </a:extLst>
          </p:cNvPr>
          <p:cNvSpPr>
            <a:spLocks noGrp="1"/>
          </p:cNvSpPr>
          <p:nvPr>
            <p:ph type="title"/>
          </p:nvPr>
        </p:nvSpPr>
        <p:spPr/>
        <p:txBody>
          <a:bodyPr/>
          <a:lstStyle/>
          <a:p>
            <a:pPr algn="ctr"/>
            <a:r>
              <a:rPr lang="tr-TR" dirty="0"/>
              <a:t>SVR</a:t>
            </a:r>
          </a:p>
        </p:txBody>
      </p:sp>
      <p:sp>
        <p:nvSpPr>
          <p:cNvPr id="3" name="İçerik Yer Tutucusu 2">
            <a:extLst>
              <a:ext uri="{FF2B5EF4-FFF2-40B4-BE49-F238E27FC236}">
                <a16:creationId xmlns:a16="http://schemas.microsoft.com/office/drawing/2014/main" id="{3D3928ED-1D79-08D2-4FF7-35A97D8DE39F}"/>
              </a:ext>
            </a:extLst>
          </p:cNvPr>
          <p:cNvSpPr>
            <a:spLocks noGrp="1"/>
          </p:cNvSpPr>
          <p:nvPr>
            <p:ph idx="1"/>
          </p:nvPr>
        </p:nvSpPr>
        <p:spPr>
          <a:xfrm>
            <a:off x="838200" y="1825625"/>
            <a:ext cx="5151120" cy="4667250"/>
          </a:xfrm>
        </p:spPr>
        <p:txBody>
          <a:bodyPr>
            <a:normAutofit fontScale="55000" lnSpcReduction="20000"/>
          </a:bodyPr>
          <a:lstStyle/>
          <a:p>
            <a:pPr marL="0" indent="0" algn="l">
              <a:buNone/>
            </a:pPr>
            <a:r>
              <a:rPr lang="tr-TR" b="0" i="0" dirty="0">
                <a:effectLst/>
                <a:latin typeface="Arial" panose="020B0604020202020204" pitchFamily="34" charset="0"/>
                <a:cs typeface="Arial" panose="020B0604020202020204" pitchFamily="34" charset="0"/>
              </a:rPr>
              <a:t>Örnek olarak, bir evin metrekare ve oda sayısı gibi özelliklerine dayalı olarak fiyatını tahmin etmek istediğimizi düşünelim.</a:t>
            </a:r>
          </a:p>
          <a:p>
            <a:pPr marL="0" indent="0" algn="l">
              <a:buNone/>
            </a:pPr>
            <a:endParaRPr lang="tr-TR" b="0" i="0" dirty="0">
              <a:effectLst/>
              <a:latin typeface="Arial" panose="020B0604020202020204" pitchFamily="34" charset="0"/>
              <a:cs typeface="Arial" panose="020B0604020202020204" pitchFamily="34" charset="0"/>
            </a:endParaRPr>
          </a:p>
          <a:p>
            <a:pPr algn="l">
              <a:buFont typeface="+mj-lt"/>
              <a:buAutoNum type="arabicPeriod"/>
            </a:pPr>
            <a:r>
              <a:rPr lang="tr-TR" b="0" i="0" dirty="0">
                <a:effectLst/>
                <a:latin typeface="Arial" panose="020B0604020202020204" pitchFamily="34" charset="0"/>
                <a:cs typeface="Arial" panose="020B0604020202020204" pitchFamily="34" charset="0"/>
              </a:rPr>
              <a:t>SVR kullanarak, evlerin metrekare ve oda sayısı gibi özelliklerine dayanarak bir model oluşturuyoruz.</a:t>
            </a:r>
          </a:p>
          <a:p>
            <a:pPr algn="l">
              <a:buFont typeface="+mj-lt"/>
              <a:buAutoNum type="arabicPeriod"/>
            </a:pPr>
            <a:r>
              <a:rPr lang="tr-TR" b="0" i="0" dirty="0">
                <a:effectLst/>
                <a:latin typeface="Arial" panose="020B0604020202020204" pitchFamily="34" charset="0"/>
                <a:cs typeface="Arial" panose="020B0604020202020204" pitchFamily="34" charset="0"/>
              </a:rPr>
              <a:t>Bu model, marjın içindeki veri noktalarını en iyi şekilde kapsamaya çalışırken, marjın dışındaki veri noktalarına belirli bir tolerans ile izin verir.</a:t>
            </a:r>
          </a:p>
          <a:p>
            <a:pPr algn="l">
              <a:buFont typeface="+mj-lt"/>
              <a:buAutoNum type="arabicPeriod"/>
            </a:pPr>
            <a:r>
              <a:rPr lang="tr-TR" b="0" i="0" dirty="0">
                <a:effectLst/>
                <a:latin typeface="Arial" panose="020B0604020202020204" pitchFamily="34" charset="0"/>
                <a:cs typeface="Arial" panose="020B0604020202020204" pitchFamily="34" charset="0"/>
              </a:rPr>
              <a:t>Bu şekilde, yeni bir evin fiyatını tahmin etmek için oluşturduğumuz modeli kullanabiliriz. Bu tahmin, marjın içindeki veri noktalarına göre yapılırken, marjın dışındaki hatalara karşı bir tolerans sağlar.</a:t>
            </a:r>
          </a:p>
          <a:p>
            <a:pPr algn="l">
              <a:buFont typeface="+mj-lt"/>
              <a:buAutoNum type="arabicPeriod"/>
            </a:pPr>
            <a:endParaRPr lang="tr-TR" b="0" i="0" dirty="0">
              <a:effectLst/>
              <a:latin typeface="Arial" panose="020B0604020202020204" pitchFamily="34" charset="0"/>
              <a:cs typeface="Arial" panose="020B0604020202020204" pitchFamily="34" charset="0"/>
            </a:endParaRPr>
          </a:p>
          <a:p>
            <a:pPr marL="0" indent="0" algn="l">
              <a:buNone/>
            </a:pPr>
            <a:r>
              <a:rPr lang="tr-TR" b="0" i="0" dirty="0">
                <a:effectLst/>
                <a:latin typeface="Arial" panose="020B0604020202020204" pitchFamily="34" charset="0"/>
                <a:cs typeface="Arial" panose="020B0604020202020204" pitchFamily="34" charset="0"/>
              </a:rPr>
              <a:t>SVR, regresyon problemlerinde lineer olmayan ilişkileri ele alabilir ve aynı zamanda marjın dışındaki veri noktalarına karşı dirençli olabilir. Bu nedenle, aşırı öğrenme (</a:t>
            </a:r>
            <a:r>
              <a:rPr lang="tr-TR" b="0" i="0" dirty="0" err="1">
                <a:effectLst/>
                <a:latin typeface="Arial" panose="020B0604020202020204" pitchFamily="34" charset="0"/>
                <a:cs typeface="Arial" panose="020B0604020202020204" pitchFamily="34" charset="0"/>
              </a:rPr>
              <a:t>overfitting</a:t>
            </a:r>
            <a:r>
              <a:rPr lang="tr-TR" b="0" i="0" dirty="0">
                <a:effectLst/>
                <a:latin typeface="Arial" panose="020B0604020202020204" pitchFamily="34" charset="0"/>
                <a:cs typeface="Arial" panose="020B0604020202020204" pitchFamily="34" charset="0"/>
              </a:rPr>
              <a:t>) eğilimli olmayan ve esnek bir regresyon yöntemidir.</a:t>
            </a:r>
          </a:p>
          <a:p>
            <a:endParaRPr lang="tr-TR" dirty="0">
              <a:latin typeface="Arial" panose="020B0604020202020204" pitchFamily="34" charset="0"/>
              <a:cs typeface="Arial" panose="020B0604020202020204" pitchFamily="34" charset="0"/>
            </a:endParaRPr>
          </a:p>
        </p:txBody>
      </p:sp>
      <p:pic>
        <p:nvPicPr>
          <p:cNvPr id="2050" name="Picture 2" descr="Schematic of the one-dimensional support vector regression (SVR) model....  | Download Scientific Diagram">
            <a:extLst>
              <a:ext uri="{FF2B5EF4-FFF2-40B4-BE49-F238E27FC236}">
                <a16:creationId xmlns:a16="http://schemas.microsoft.com/office/drawing/2014/main" id="{4CB2BB68-5ABC-3F44-B5AC-DF4F3F467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7628" y="1968722"/>
            <a:ext cx="4015066" cy="2920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672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ED0EF4-8A8C-AEA0-6B54-7BB6F200DA2C}"/>
              </a:ext>
            </a:extLst>
          </p:cNvPr>
          <p:cNvSpPr>
            <a:spLocks noGrp="1"/>
          </p:cNvSpPr>
          <p:nvPr>
            <p:ph type="title"/>
          </p:nvPr>
        </p:nvSpPr>
        <p:spPr/>
        <p:txBody>
          <a:bodyPr/>
          <a:lstStyle/>
          <a:p>
            <a:pPr algn="ctr"/>
            <a:r>
              <a:rPr lang="tr-TR" b="1" i="0" dirty="0">
                <a:solidFill>
                  <a:srgbClr val="242424"/>
                </a:solidFill>
                <a:effectLst/>
                <a:latin typeface="sohne"/>
              </a:rPr>
              <a:t>Yapay Sinir Ağı Nedir?</a:t>
            </a:r>
            <a:endParaRPr lang="tr-TR" dirty="0"/>
          </a:p>
        </p:txBody>
      </p:sp>
      <p:sp>
        <p:nvSpPr>
          <p:cNvPr id="3" name="İçerik Yer Tutucusu 2">
            <a:extLst>
              <a:ext uri="{FF2B5EF4-FFF2-40B4-BE49-F238E27FC236}">
                <a16:creationId xmlns:a16="http://schemas.microsoft.com/office/drawing/2014/main" id="{FDAE0385-6529-DE7C-06C9-2D0808C84F30}"/>
              </a:ext>
            </a:extLst>
          </p:cNvPr>
          <p:cNvSpPr>
            <a:spLocks noGrp="1"/>
          </p:cNvSpPr>
          <p:nvPr>
            <p:ph idx="1"/>
          </p:nvPr>
        </p:nvSpPr>
        <p:spPr>
          <a:xfrm>
            <a:off x="838200" y="1690689"/>
            <a:ext cx="10515600" cy="4719255"/>
          </a:xfrm>
        </p:spPr>
        <p:txBody>
          <a:bodyPr>
            <a:normAutofit fontScale="55000" lnSpcReduction="20000"/>
          </a:bodyPr>
          <a:lstStyle/>
          <a:p>
            <a:pPr marL="0" indent="0">
              <a:buNone/>
            </a:pPr>
            <a:r>
              <a:rPr lang="tr-TR" b="0" i="0" dirty="0">
                <a:solidFill>
                  <a:srgbClr val="242424"/>
                </a:solidFill>
                <a:effectLst/>
                <a:latin typeface="source-serif-pro"/>
              </a:rPr>
              <a:t>Canlıların davranışlarını inceleyip, matematiksel olarak modelleyip, benzer yapay modellerin üretilmesine </a:t>
            </a:r>
            <a:r>
              <a:rPr lang="tr-TR" b="1" i="1" dirty="0">
                <a:solidFill>
                  <a:srgbClr val="242424"/>
                </a:solidFill>
                <a:effectLst/>
                <a:latin typeface="source-serif-pro"/>
              </a:rPr>
              <a:t>sibernetik</a:t>
            </a:r>
            <a:r>
              <a:rPr lang="tr-TR" b="0" i="0" dirty="0">
                <a:solidFill>
                  <a:srgbClr val="242424"/>
                </a:solidFill>
                <a:effectLst/>
                <a:latin typeface="source-serif-pro"/>
              </a:rPr>
              <a:t> denir. Eğitilebilir, adaptif ve kendi kendine organize olup öğrenebilen ve değerlendirme yapabilen yapay sinir ağları ile insan beyninin öğrenme yapısı modellenmeye çalışılmaktadır. Aynı insanda olduğu gibi yapay sinir ağları vasıtasıyla makinelerin eğitilmesi, öğrenmesi ve karar vermesi amaçlanmaktadır.</a:t>
            </a:r>
          </a:p>
          <a:p>
            <a:pPr marL="0" indent="0" algn="l">
              <a:buNone/>
            </a:pPr>
            <a:r>
              <a:rPr lang="tr-TR" b="0" i="0" dirty="0">
                <a:solidFill>
                  <a:srgbClr val="242424"/>
                </a:solidFill>
                <a:effectLst/>
                <a:latin typeface="source-serif-pro"/>
              </a:rPr>
              <a:t>İnsandaki bir sinir hücresinin (nöron) yapısı şu şekildedir:</a:t>
            </a:r>
          </a:p>
          <a:p>
            <a:pPr marL="0" indent="0" algn="l">
              <a:buNone/>
            </a:pPr>
            <a:endParaRPr lang="tr-TR" b="0" i="0" dirty="0">
              <a:solidFill>
                <a:srgbClr val="242424"/>
              </a:solidFill>
              <a:effectLst/>
              <a:latin typeface="source-serif-pro"/>
            </a:endParaRPr>
          </a:p>
          <a:p>
            <a:pPr marL="0" indent="0" algn="l">
              <a:buNone/>
            </a:pPr>
            <a:endParaRPr lang="tr-TR" b="0" i="0" dirty="0">
              <a:solidFill>
                <a:srgbClr val="242424"/>
              </a:solidFill>
              <a:effectLst/>
              <a:latin typeface="source-serif-pro"/>
            </a:endParaRPr>
          </a:p>
          <a:p>
            <a:pPr marL="0" indent="0" algn="l">
              <a:buNone/>
            </a:pPr>
            <a:endParaRPr lang="tr-TR" dirty="0">
              <a:solidFill>
                <a:srgbClr val="242424"/>
              </a:solidFill>
              <a:latin typeface="source-serif-pro"/>
            </a:endParaRPr>
          </a:p>
          <a:p>
            <a:pPr marL="0" indent="0" algn="l">
              <a:buNone/>
            </a:pPr>
            <a:endParaRPr lang="tr-TR" dirty="0">
              <a:solidFill>
                <a:srgbClr val="242424"/>
              </a:solidFill>
              <a:latin typeface="source-serif-pro"/>
            </a:endParaRPr>
          </a:p>
          <a:p>
            <a:pPr marL="0" indent="0" algn="l">
              <a:buNone/>
            </a:pPr>
            <a:endParaRPr lang="tr-TR" dirty="0">
              <a:solidFill>
                <a:srgbClr val="242424"/>
              </a:solidFill>
              <a:latin typeface="source-serif-pro"/>
            </a:endParaRPr>
          </a:p>
          <a:p>
            <a:pPr marL="0" indent="0" algn="l">
              <a:buNone/>
            </a:pPr>
            <a:endParaRPr lang="tr-TR" b="0" i="0" dirty="0">
              <a:solidFill>
                <a:srgbClr val="242424"/>
              </a:solidFill>
              <a:effectLst/>
              <a:latin typeface="source-serif-pro"/>
            </a:endParaRPr>
          </a:p>
          <a:p>
            <a:pPr algn="l"/>
            <a:r>
              <a:rPr lang="tr-TR" b="0" i="0" dirty="0">
                <a:solidFill>
                  <a:srgbClr val="242424"/>
                </a:solidFill>
                <a:effectLst/>
                <a:latin typeface="source-serif-pro"/>
              </a:rPr>
              <a:t>Akson (</a:t>
            </a:r>
            <a:r>
              <a:rPr lang="tr-TR" b="0" i="0" dirty="0" err="1">
                <a:solidFill>
                  <a:srgbClr val="242424"/>
                </a:solidFill>
                <a:effectLst/>
                <a:latin typeface="source-serif-pro"/>
              </a:rPr>
              <a:t>Axon</a:t>
            </a:r>
            <a:r>
              <a:rPr lang="tr-TR" b="0" i="0" dirty="0">
                <a:solidFill>
                  <a:srgbClr val="242424"/>
                </a:solidFill>
                <a:effectLst/>
                <a:latin typeface="source-serif-pro"/>
              </a:rPr>
              <a:t>): Çıkış darbelerinin üretildiği elektriksel aktif gövdedir ve gövde üzerinde iletim tek yönlüdür. Sistem çıkışıdır.</a:t>
            </a:r>
          </a:p>
          <a:p>
            <a:pPr algn="l"/>
            <a:r>
              <a:rPr lang="tr-TR" b="0" i="0" dirty="0" err="1">
                <a:solidFill>
                  <a:srgbClr val="242424"/>
                </a:solidFill>
                <a:effectLst/>
                <a:latin typeface="source-serif-pro"/>
              </a:rPr>
              <a:t>Dentritler</a:t>
            </a:r>
            <a:r>
              <a:rPr lang="tr-TR" b="0" i="0" dirty="0">
                <a:solidFill>
                  <a:srgbClr val="242424"/>
                </a:solidFill>
                <a:effectLst/>
                <a:latin typeface="source-serif-pro"/>
              </a:rPr>
              <a:t> (</a:t>
            </a:r>
            <a:r>
              <a:rPr lang="tr-TR" b="0" i="0" dirty="0" err="1">
                <a:solidFill>
                  <a:srgbClr val="242424"/>
                </a:solidFill>
                <a:effectLst/>
                <a:latin typeface="source-serif-pro"/>
              </a:rPr>
              <a:t>Dendrites</a:t>
            </a:r>
            <a:r>
              <a:rPr lang="tr-TR" b="0" i="0" dirty="0">
                <a:solidFill>
                  <a:srgbClr val="242424"/>
                </a:solidFill>
                <a:effectLst/>
                <a:latin typeface="source-serif-pro"/>
              </a:rPr>
              <a:t>): Diğer hücrelerden gelen işaretleri toplayan elektriksel anlamda pasif kollardır. Sistem girişidir.</a:t>
            </a:r>
          </a:p>
          <a:p>
            <a:pPr algn="l"/>
            <a:r>
              <a:rPr lang="tr-TR" b="0" i="0" dirty="0">
                <a:solidFill>
                  <a:srgbClr val="242424"/>
                </a:solidFill>
                <a:effectLst/>
                <a:latin typeface="source-serif-pro"/>
              </a:rPr>
              <a:t>Sinaps (</a:t>
            </a:r>
            <a:r>
              <a:rPr lang="tr-TR" b="0" i="0" dirty="0" err="1">
                <a:solidFill>
                  <a:srgbClr val="242424"/>
                </a:solidFill>
                <a:effectLst/>
                <a:latin typeface="source-serif-pro"/>
              </a:rPr>
              <a:t>Synapse</a:t>
            </a:r>
            <a:r>
              <a:rPr lang="tr-TR" b="0" i="0" dirty="0">
                <a:solidFill>
                  <a:srgbClr val="242424"/>
                </a:solidFill>
                <a:effectLst/>
                <a:latin typeface="source-serif-pro"/>
              </a:rPr>
              <a:t>): Hücrelerin aksonlarının diğer </a:t>
            </a:r>
            <a:r>
              <a:rPr lang="tr-TR" b="0" i="0" dirty="0" err="1">
                <a:solidFill>
                  <a:srgbClr val="242424"/>
                </a:solidFill>
                <a:effectLst/>
                <a:latin typeface="source-serif-pro"/>
              </a:rPr>
              <a:t>dentritlerle</a:t>
            </a:r>
            <a:r>
              <a:rPr lang="tr-TR" b="0" i="0" dirty="0">
                <a:solidFill>
                  <a:srgbClr val="242424"/>
                </a:solidFill>
                <a:effectLst/>
                <a:latin typeface="source-serif-pro"/>
              </a:rPr>
              <a:t> olan bağlantısını sağlar.</a:t>
            </a:r>
          </a:p>
          <a:p>
            <a:pPr algn="l"/>
            <a:r>
              <a:rPr lang="tr-TR" b="0" i="0" dirty="0" err="1">
                <a:solidFill>
                  <a:srgbClr val="242424"/>
                </a:solidFill>
                <a:effectLst/>
                <a:latin typeface="source-serif-pro"/>
              </a:rPr>
              <a:t>Miyelin</a:t>
            </a:r>
            <a:r>
              <a:rPr lang="tr-TR" b="0" i="0" dirty="0">
                <a:solidFill>
                  <a:srgbClr val="242424"/>
                </a:solidFill>
                <a:effectLst/>
                <a:latin typeface="source-serif-pro"/>
              </a:rPr>
              <a:t> Tabaka (</a:t>
            </a:r>
            <a:r>
              <a:rPr lang="tr-TR" b="0" i="0" dirty="0" err="1">
                <a:solidFill>
                  <a:srgbClr val="242424"/>
                </a:solidFill>
                <a:effectLst/>
                <a:latin typeface="source-serif-pro"/>
              </a:rPr>
              <a:t>Myelin</a:t>
            </a:r>
            <a:r>
              <a:rPr lang="tr-TR" b="0" i="0" dirty="0">
                <a:solidFill>
                  <a:srgbClr val="242424"/>
                </a:solidFill>
                <a:effectLst/>
                <a:latin typeface="source-serif-pro"/>
              </a:rPr>
              <a:t> </a:t>
            </a:r>
            <a:r>
              <a:rPr lang="tr-TR" b="0" i="0" dirty="0" err="1">
                <a:solidFill>
                  <a:srgbClr val="242424"/>
                </a:solidFill>
                <a:effectLst/>
                <a:latin typeface="source-serif-pro"/>
              </a:rPr>
              <a:t>Sheath</a:t>
            </a:r>
            <a:r>
              <a:rPr lang="tr-TR" b="0" i="0" dirty="0">
                <a:solidFill>
                  <a:srgbClr val="242424"/>
                </a:solidFill>
                <a:effectLst/>
                <a:latin typeface="source-serif-pro"/>
              </a:rPr>
              <a:t>): Yayılma hızına etki eden yalıtım malzemesidir.</a:t>
            </a:r>
          </a:p>
          <a:p>
            <a:pPr algn="l"/>
            <a:r>
              <a:rPr lang="tr-TR" b="0" i="0" dirty="0">
                <a:solidFill>
                  <a:srgbClr val="242424"/>
                </a:solidFill>
                <a:effectLst/>
                <a:latin typeface="source-serif-pro"/>
              </a:rPr>
              <a:t>Çekirdek (</a:t>
            </a:r>
            <a:r>
              <a:rPr lang="tr-TR" b="0" i="0" dirty="0" err="1">
                <a:solidFill>
                  <a:srgbClr val="242424"/>
                </a:solidFill>
                <a:effectLst/>
                <a:latin typeface="source-serif-pro"/>
              </a:rPr>
              <a:t>Nucleus</a:t>
            </a:r>
            <a:r>
              <a:rPr lang="tr-TR" b="0" i="0" dirty="0">
                <a:solidFill>
                  <a:srgbClr val="242424"/>
                </a:solidFill>
                <a:effectLst/>
                <a:latin typeface="source-serif-pro"/>
              </a:rPr>
              <a:t>): Akson boyunca işaretlerin periyodik olarak yeniden üretilmesini sağlar.</a:t>
            </a:r>
          </a:p>
        </p:txBody>
      </p:sp>
      <p:pic>
        <p:nvPicPr>
          <p:cNvPr id="3074" name="Picture 2">
            <a:extLst>
              <a:ext uri="{FF2B5EF4-FFF2-40B4-BE49-F238E27FC236}">
                <a16:creationId xmlns:a16="http://schemas.microsoft.com/office/drawing/2014/main" id="{D4E1FBE8-3613-5427-07A5-87A93D2EA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2432" y="2434781"/>
            <a:ext cx="4318254" cy="1844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997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11305C9-0DBC-F591-C352-0C5F725FFC03}"/>
              </a:ext>
            </a:extLst>
          </p:cNvPr>
          <p:cNvSpPr>
            <a:spLocks noGrp="1"/>
          </p:cNvSpPr>
          <p:nvPr>
            <p:ph idx="1"/>
          </p:nvPr>
        </p:nvSpPr>
        <p:spPr>
          <a:xfrm>
            <a:off x="838200" y="329184"/>
            <a:ext cx="10515600" cy="6117336"/>
          </a:xfrm>
        </p:spPr>
        <p:txBody>
          <a:bodyPr>
            <a:normAutofit fontScale="92500" lnSpcReduction="10000"/>
          </a:bodyPr>
          <a:lstStyle/>
          <a:p>
            <a:pPr marL="0" indent="0" algn="l">
              <a:buNone/>
            </a:pPr>
            <a:r>
              <a:rPr lang="tr-TR" b="0" i="0" dirty="0">
                <a:solidFill>
                  <a:srgbClr val="242424"/>
                </a:solidFill>
                <a:effectLst/>
                <a:latin typeface="source-serif-pro"/>
              </a:rPr>
              <a:t>Aksonda taşınan işaret sinapslara kimyasal taşıyıcılar yardımıyla iletilmektedir. </a:t>
            </a:r>
            <a:r>
              <a:rPr lang="tr-TR" b="0" i="0" dirty="0" err="1">
                <a:solidFill>
                  <a:srgbClr val="242424"/>
                </a:solidFill>
                <a:effectLst/>
                <a:latin typeface="source-serif-pro"/>
              </a:rPr>
              <a:t>Stoplazma</a:t>
            </a:r>
            <a:r>
              <a:rPr lang="tr-TR" b="0" i="0" dirty="0">
                <a:solidFill>
                  <a:srgbClr val="242424"/>
                </a:solidFill>
                <a:effectLst/>
                <a:latin typeface="source-serif-pro"/>
              </a:rPr>
              <a:t> -85mV ile polarizedir. -40mV (</a:t>
            </a:r>
            <a:r>
              <a:rPr lang="tr-TR" b="0" i="0" dirty="0" err="1">
                <a:solidFill>
                  <a:srgbClr val="242424"/>
                </a:solidFill>
                <a:effectLst/>
                <a:latin typeface="source-serif-pro"/>
              </a:rPr>
              <a:t>Na</a:t>
            </a:r>
            <a:r>
              <a:rPr lang="tr-TR" b="0" i="0" dirty="0">
                <a:solidFill>
                  <a:srgbClr val="242424"/>
                </a:solidFill>
                <a:effectLst/>
                <a:latin typeface="source-serif-pro"/>
              </a:rPr>
              <a:t>+ içeri): uyarma (+) akıma yol açar. -90mV (K+ dışarı): bastırma (-) akıma yol açar. Yani belirli bir eşik gerilim değerinin üstünde iken hücre uyarılırken, diğer durumlarda hücre bastırılır. </a:t>
            </a:r>
            <a:r>
              <a:rPr lang="el-GR" b="0" i="0" dirty="0">
                <a:solidFill>
                  <a:srgbClr val="242424"/>
                </a:solidFill>
                <a:effectLst/>
                <a:latin typeface="source-serif-pro"/>
              </a:rPr>
              <a:t>Σ </a:t>
            </a:r>
            <a:r>
              <a:rPr lang="tr-TR" b="0" i="0" dirty="0">
                <a:solidFill>
                  <a:srgbClr val="242424"/>
                </a:solidFill>
                <a:effectLst/>
                <a:latin typeface="source-serif-pro"/>
              </a:rPr>
              <a:t>Bu duruma göre çıkış işareti üretilmesine sinirsel hesaplama denir.</a:t>
            </a:r>
          </a:p>
          <a:p>
            <a:pPr marL="0" indent="0" algn="l">
              <a:buNone/>
            </a:pPr>
            <a:r>
              <a:rPr lang="tr-TR" b="0" i="0" dirty="0">
                <a:solidFill>
                  <a:srgbClr val="242424"/>
                </a:solidFill>
                <a:effectLst/>
                <a:latin typeface="source-serif-pro"/>
              </a:rPr>
              <a:t>İnsandaki bir sinir hücresinin matematiksel modeli ise şu şekilde gösterilebilir:</a:t>
            </a:r>
          </a:p>
          <a:p>
            <a:pPr marL="0" indent="0" algn="l">
              <a:buNone/>
            </a:pPr>
            <a:endParaRPr lang="tr-TR" dirty="0">
              <a:solidFill>
                <a:srgbClr val="242424"/>
              </a:solidFill>
              <a:latin typeface="source-serif-pro"/>
            </a:endParaRPr>
          </a:p>
          <a:p>
            <a:pPr marL="0" indent="0" algn="l">
              <a:buNone/>
            </a:pPr>
            <a:endParaRPr lang="tr-TR" b="0" i="0" dirty="0">
              <a:solidFill>
                <a:srgbClr val="242424"/>
              </a:solidFill>
              <a:effectLst/>
              <a:latin typeface="source-serif-pro"/>
            </a:endParaRPr>
          </a:p>
          <a:p>
            <a:pPr marL="0" indent="0" algn="l">
              <a:buNone/>
            </a:pPr>
            <a:endParaRPr lang="tr-TR" b="0" i="0" dirty="0">
              <a:solidFill>
                <a:srgbClr val="242424"/>
              </a:solidFill>
              <a:effectLst/>
              <a:latin typeface="source-serif-pro"/>
            </a:endParaRPr>
          </a:p>
          <a:p>
            <a:pPr marL="0" indent="0" algn="l">
              <a:buNone/>
            </a:pPr>
            <a:endParaRPr lang="tr-TR" dirty="0">
              <a:solidFill>
                <a:srgbClr val="242424"/>
              </a:solidFill>
              <a:latin typeface="source-serif-pro"/>
            </a:endParaRPr>
          </a:p>
          <a:p>
            <a:pPr marL="0" indent="0" algn="l">
              <a:buNone/>
            </a:pPr>
            <a:endParaRPr lang="tr-TR" b="0" i="0" dirty="0">
              <a:solidFill>
                <a:srgbClr val="242424"/>
              </a:solidFill>
              <a:effectLst/>
              <a:latin typeface="source-serif-pro"/>
            </a:endParaRPr>
          </a:p>
          <a:p>
            <a:pPr marL="0" indent="0">
              <a:buNone/>
            </a:pPr>
            <a:r>
              <a:rPr lang="tr-TR" b="0" i="0" dirty="0" err="1">
                <a:solidFill>
                  <a:srgbClr val="242424"/>
                </a:solidFill>
                <a:effectLst/>
                <a:latin typeface="source-serif-pro"/>
              </a:rPr>
              <a:t>Perseptron</a:t>
            </a:r>
            <a:r>
              <a:rPr lang="tr-TR" b="0" i="0" dirty="0">
                <a:solidFill>
                  <a:srgbClr val="242424"/>
                </a:solidFill>
                <a:effectLst/>
                <a:latin typeface="source-serif-pro"/>
              </a:rPr>
              <a:t> (</a:t>
            </a:r>
            <a:r>
              <a:rPr lang="tr-TR" b="0" i="0" dirty="0" err="1">
                <a:solidFill>
                  <a:srgbClr val="242424"/>
                </a:solidFill>
                <a:effectLst/>
                <a:latin typeface="source-serif-pro"/>
              </a:rPr>
              <a:t>Perceptron</a:t>
            </a:r>
            <a:r>
              <a:rPr lang="tr-TR" b="0" i="0" dirty="0">
                <a:solidFill>
                  <a:srgbClr val="242424"/>
                </a:solidFill>
                <a:effectLst/>
                <a:latin typeface="source-serif-pro"/>
              </a:rPr>
              <a:t>): Yapay sinir ağının en küçük parçası olarak bilinen </a:t>
            </a:r>
            <a:r>
              <a:rPr lang="tr-TR" b="0" i="0" dirty="0" err="1">
                <a:solidFill>
                  <a:srgbClr val="242424"/>
                </a:solidFill>
                <a:effectLst/>
                <a:latin typeface="source-serif-pro"/>
              </a:rPr>
              <a:t>perceptron</a:t>
            </a:r>
            <a:r>
              <a:rPr lang="tr-TR" b="0" i="0" dirty="0">
                <a:solidFill>
                  <a:srgbClr val="242424"/>
                </a:solidFill>
                <a:effectLst/>
                <a:latin typeface="source-serif-pro"/>
              </a:rPr>
              <a:t>, aşağıdaki gibi lineer bir fonksiyonla ifade edilmektedir ve ilk defa 1957 yılında Frank </a:t>
            </a:r>
            <a:r>
              <a:rPr lang="tr-TR" b="0" i="0" dirty="0" err="1">
                <a:solidFill>
                  <a:srgbClr val="242424"/>
                </a:solidFill>
                <a:effectLst/>
                <a:latin typeface="source-serif-pro"/>
              </a:rPr>
              <a:t>Rosenblatt</a:t>
            </a:r>
            <a:r>
              <a:rPr lang="tr-TR" b="0" i="0" dirty="0">
                <a:solidFill>
                  <a:srgbClr val="242424"/>
                </a:solidFill>
                <a:effectLst/>
                <a:latin typeface="source-serif-pro"/>
              </a:rPr>
              <a:t> tarafından tanımlanmıştır.</a:t>
            </a:r>
            <a:endParaRPr lang="tr-TR" dirty="0"/>
          </a:p>
        </p:txBody>
      </p:sp>
      <p:pic>
        <p:nvPicPr>
          <p:cNvPr id="4098" name="Picture 2">
            <a:extLst>
              <a:ext uri="{FF2B5EF4-FFF2-40B4-BE49-F238E27FC236}">
                <a16:creationId xmlns:a16="http://schemas.microsoft.com/office/drawing/2014/main" id="{9DAA59AA-AF9D-A822-4135-EE77C2275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8728" y="2452116"/>
            <a:ext cx="4269296" cy="2435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35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5F18AEF-F9CB-52BE-943B-96F9604E98CA}"/>
              </a:ext>
            </a:extLst>
          </p:cNvPr>
          <p:cNvSpPr>
            <a:spLocks noGrp="1"/>
          </p:cNvSpPr>
          <p:nvPr>
            <p:ph idx="1"/>
          </p:nvPr>
        </p:nvSpPr>
        <p:spPr>
          <a:xfrm>
            <a:off x="838200" y="429768"/>
            <a:ext cx="10515600" cy="6199632"/>
          </a:xfrm>
        </p:spPr>
        <p:txBody>
          <a:bodyPr>
            <a:normAutofit fontScale="62500" lnSpcReduction="20000"/>
          </a:bodyPr>
          <a:lstStyle/>
          <a:p>
            <a:pPr algn="l"/>
            <a:endParaRPr lang="tr-TR" b="0" i="0" dirty="0">
              <a:solidFill>
                <a:srgbClr val="242424"/>
              </a:solidFill>
              <a:effectLst/>
              <a:latin typeface="source-serif-pro"/>
            </a:endParaRPr>
          </a:p>
          <a:p>
            <a:pPr algn="l"/>
            <a:endParaRPr lang="tr-TR" dirty="0">
              <a:solidFill>
                <a:srgbClr val="242424"/>
              </a:solidFill>
              <a:latin typeface="source-serif-pro"/>
            </a:endParaRPr>
          </a:p>
          <a:p>
            <a:pPr algn="l"/>
            <a:endParaRPr lang="tr-TR" b="0" i="0" dirty="0">
              <a:solidFill>
                <a:srgbClr val="242424"/>
              </a:solidFill>
              <a:effectLst/>
              <a:latin typeface="source-serif-pro"/>
            </a:endParaRPr>
          </a:p>
          <a:p>
            <a:pPr marL="0" indent="0" algn="l">
              <a:buNone/>
            </a:pPr>
            <a:endParaRPr lang="tr-TR" b="0" i="0" dirty="0">
              <a:solidFill>
                <a:srgbClr val="242424"/>
              </a:solidFill>
              <a:effectLst/>
              <a:latin typeface="source-serif-pro"/>
            </a:endParaRPr>
          </a:p>
          <a:p>
            <a:pPr marL="0" indent="0" algn="l">
              <a:buNone/>
            </a:pPr>
            <a:r>
              <a:rPr lang="tr-TR" b="0" i="0" dirty="0">
                <a:solidFill>
                  <a:srgbClr val="242424"/>
                </a:solidFill>
                <a:effectLst/>
                <a:latin typeface="source-serif-pro"/>
              </a:rPr>
              <a:t>	y: </a:t>
            </a:r>
            <a:r>
              <a:rPr lang="tr-TR" b="0" i="0" dirty="0" err="1">
                <a:solidFill>
                  <a:srgbClr val="242424"/>
                </a:solidFill>
                <a:effectLst/>
                <a:latin typeface="source-serif-pro"/>
              </a:rPr>
              <a:t>x’in</a:t>
            </a:r>
            <a:r>
              <a:rPr lang="tr-TR" b="0" i="0" dirty="0">
                <a:solidFill>
                  <a:srgbClr val="242424"/>
                </a:solidFill>
                <a:effectLst/>
                <a:latin typeface="source-serif-pro"/>
              </a:rPr>
              <a:t> değerine bağlı olduğundan bağımlı değişkendir. Girdiye ait skoru verir.</a:t>
            </a:r>
          </a:p>
          <a:p>
            <a:pPr marL="0" indent="0" algn="l">
              <a:buNone/>
            </a:pPr>
            <a:r>
              <a:rPr lang="tr-TR" b="0" i="0" dirty="0">
                <a:solidFill>
                  <a:srgbClr val="242424"/>
                </a:solidFill>
                <a:effectLst/>
                <a:latin typeface="source-serif-pro"/>
              </a:rPr>
              <a:t>	x: bağımsız değişken, girdi.</a:t>
            </a:r>
          </a:p>
          <a:p>
            <a:pPr marL="0" indent="0" algn="l">
              <a:buNone/>
            </a:pPr>
            <a:r>
              <a:rPr lang="tr-TR" b="0" i="0" dirty="0">
                <a:solidFill>
                  <a:srgbClr val="242424"/>
                </a:solidFill>
                <a:effectLst/>
                <a:latin typeface="source-serif-pro"/>
              </a:rPr>
              <a:t>	W: ağırlık parametresi</a:t>
            </a:r>
          </a:p>
          <a:p>
            <a:pPr marL="0" indent="0" algn="l">
              <a:buNone/>
            </a:pPr>
            <a:r>
              <a:rPr lang="tr-TR" b="0" i="0" dirty="0">
                <a:solidFill>
                  <a:srgbClr val="242424"/>
                </a:solidFill>
                <a:effectLst/>
                <a:latin typeface="source-serif-pro"/>
              </a:rPr>
              <a:t>	b: </a:t>
            </a:r>
            <a:r>
              <a:rPr lang="tr-TR" b="0" i="0" dirty="0" err="1">
                <a:solidFill>
                  <a:srgbClr val="242424"/>
                </a:solidFill>
                <a:effectLst/>
                <a:latin typeface="source-serif-pro"/>
              </a:rPr>
              <a:t>bias</a:t>
            </a:r>
            <a:r>
              <a:rPr lang="tr-TR" b="0" i="0" dirty="0">
                <a:solidFill>
                  <a:srgbClr val="242424"/>
                </a:solidFill>
                <a:effectLst/>
                <a:latin typeface="source-serif-pro"/>
              </a:rPr>
              <a:t> değeri</a:t>
            </a:r>
          </a:p>
          <a:p>
            <a:pPr marL="0" indent="0" algn="l">
              <a:buNone/>
            </a:pPr>
            <a:r>
              <a:rPr lang="tr-TR" b="0" i="0" dirty="0">
                <a:solidFill>
                  <a:srgbClr val="242424"/>
                </a:solidFill>
                <a:effectLst/>
                <a:latin typeface="source-serif-pro"/>
              </a:rPr>
              <a:t>YSA ya da Derin Öğrenme modelinde yapılan temel işlem; modelin en iyi skoru vereceği W ve b parametrelerinin hesabını yapmaktır.</a:t>
            </a:r>
          </a:p>
          <a:p>
            <a:pPr algn="l"/>
            <a:endParaRPr lang="tr-TR" dirty="0">
              <a:solidFill>
                <a:srgbClr val="242424"/>
              </a:solidFill>
              <a:latin typeface="source-serif-pro"/>
            </a:endParaRPr>
          </a:p>
          <a:p>
            <a:pPr algn="l"/>
            <a:endParaRPr lang="tr-TR" b="0" i="0" dirty="0">
              <a:solidFill>
                <a:srgbClr val="242424"/>
              </a:solidFill>
              <a:effectLst/>
              <a:latin typeface="source-serif-pro"/>
            </a:endParaRPr>
          </a:p>
          <a:p>
            <a:pPr algn="l"/>
            <a:endParaRPr lang="tr-TR" dirty="0">
              <a:solidFill>
                <a:srgbClr val="242424"/>
              </a:solidFill>
              <a:latin typeface="source-serif-pro"/>
            </a:endParaRPr>
          </a:p>
          <a:p>
            <a:pPr algn="l"/>
            <a:endParaRPr lang="tr-TR" b="0" i="0" dirty="0">
              <a:solidFill>
                <a:srgbClr val="242424"/>
              </a:solidFill>
              <a:effectLst/>
              <a:latin typeface="source-serif-pro"/>
            </a:endParaRPr>
          </a:p>
          <a:p>
            <a:pPr algn="l"/>
            <a:endParaRPr lang="tr-TR" b="0" i="0" dirty="0">
              <a:solidFill>
                <a:srgbClr val="242424"/>
              </a:solidFill>
              <a:effectLst/>
              <a:latin typeface="source-serif-pro"/>
            </a:endParaRPr>
          </a:p>
          <a:p>
            <a:pPr algn="l"/>
            <a:endParaRPr lang="tr-TR" b="0" i="0" dirty="0">
              <a:solidFill>
                <a:srgbClr val="242424"/>
              </a:solidFill>
              <a:effectLst/>
              <a:latin typeface="source-serif-pro"/>
            </a:endParaRPr>
          </a:p>
          <a:p>
            <a:pPr marL="0" indent="0" algn="l">
              <a:buNone/>
            </a:pPr>
            <a:r>
              <a:rPr lang="tr-TR" b="0" i="0" dirty="0">
                <a:solidFill>
                  <a:srgbClr val="242424"/>
                </a:solidFill>
                <a:effectLst/>
                <a:latin typeface="source-serif-pro"/>
              </a:rPr>
              <a:t>Sol taraftaki tek katmanlı YSA modelinde 4+2=6 nöron bulunmaktadır (giriş katmanları hariç), [3x4]+[4x2]=20 ağırlık ve 4+2=6 </a:t>
            </a:r>
            <a:r>
              <a:rPr lang="tr-TR" b="0" i="0" dirty="0" err="1">
                <a:solidFill>
                  <a:srgbClr val="242424"/>
                </a:solidFill>
                <a:effectLst/>
                <a:latin typeface="source-serif-pro"/>
              </a:rPr>
              <a:t>bias</a:t>
            </a:r>
            <a:r>
              <a:rPr lang="tr-TR" b="0" i="0" dirty="0">
                <a:solidFill>
                  <a:srgbClr val="242424"/>
                </a:solidFill>
                <a:effectLst/>
                <a:latin typeface="source-serif-pro"/>
              </a:rPr>
              <a:t> değeri olmak üzere toplamda 26 adet öğrenilmesi gereken parametre vardır.</a:t>
            </a:r>
          </a:p>
          <a:p>
            <a:pPr marL="0" indent="0" algn="l">
              <a:buNone/>
            </a:pPr>
            <a:r>
              <a:rPr lang="tr-TR" b="0" i="0" dirty="0">
                <a:solidFill>
                  <a:srgbClr val="242424"/>
                </a:solidFill>
                <a:effectLst/>
                <a:latin typeface="source-serif-pro"/>
              </a:rPr>
              <a:t>Sağ taraftaki iki gizli katmanlı YSA ise modelinde 4+4+1=9 nöron, [3x4]+[4x4]+[4x1]=12+16+4=32 ağırlık ve 4+4+1=p </a:t>
            </a:r>
            <a:r>
              <a:rPr lang="tr-TR" b="0" i="0" dirty="0" err="1">
                <a:solidFill>
                  <a:srgbClr val="242424"/>
                </a:solidFill>
                <a:effectLst/>
                <a:latin typeface="source-serif-pro"/>
              </a:rPr>
              <a:t>bias</a:t>
            </a:r>
            <a:r>
              <a:rPr lang="tr-TR" b="0" i="0" dirty="0">
                <a:solidFill>
                  <a:srgbClr val="242424"/>
                </a:solidFill>
                <a:effectLst/>
                <a:latin typeface="source-serif-pro"/>
              </a:rPr>
              <a:t> değeri olmak üzere toplamda 41 adet öğrenilmesi gereken parametre vardır.</a:t>
            </a:r>
          </a:p>
          <a:p>
            <a:endParaRPr lang="tr-TR" dirty="0"/>
          </a:p>
        </p:txBody>
      </p:sp>
      <p:pic>
        <p:nvPicPr>
          <p:cNvPr id="5122" name="Picture 2">
            <a:extLst>
              <a:ext uri="{FF2B5EF4-FFF2-40B4-BE49-F238E27FC236}">
                <a16:creationId xmlns:a16="http://schemas.microsoft.com/office/drawing/2014/main" id="{01EDEC0B-8279-76E3-8F6E-D9878EF49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4361" y="429768"/>
            <a:ext cx="6276975" cy="11239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BDB27B9E-DCAB-2181-E729-69EA440EBC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240" y="3429000"/>
            <a:ext cx="5351526" cy="1636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56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AB01E8-CD79-6B95-5D61-8388703A4B70}"/>
              </a:ext>
            </a:extLst>
          </p:cNvPr>
          <p:cNvSpPr>
            <a:spLocks noGrp="1"/>
          </p:cNvSpPr>
          <p:nvPr>
            <p:ph type="title"/>
          </p:nvPr>
        </p:nvSpPr>
        <p:spPr/>
        <p:txBody>
          <a:bodyPr/>
          <a:lstStyle/>
          <a:p>
            <a:pPr algn="ctr"/>
            <a:r>
              <a:rPr lang="tr-TR" dirty="0"/>
              <a:t>Aktivasyon Fonksiyonu</a:t>
            </a:r>
          </a:p>
        </p:txBody>
      </p:sp>
      <p:sp>
        <p:nvSpPr>
          <p:cNvPr id="3" name="İçerik Yer Tutucusu 2">
            <a:extLst>
              <a:ext uri="{FF2B5EF4-FFF2-40B4-BE49-F238E27FC236}">
                <a16:creationId xmlns:a16="http://schemas.microsoft.com/office/drawing/2014/main" id="{81E20EB2-6CB1-F526-D02B-2E1A6AEA6BF9}"/>
              </a:ext>
            </a:extLst>
          </p:cNvPr>
          <p:cNvSpPr>
            <a:spLocks noGrp="1"/>
          </p:cNvSpPr>
          <p:nvPr>
            <p:ph idx="1"/>
          </p:nvPr>
        </p:nvSpPr>
        <p:spPr>
          <a:xfrm>
            <a:off x="838200" y="1825625"/>
            <a:ext cx="10515600" cy="4667250"/>
          </a:xfrm>
        </p:spPr>
        <p:txBody>
          <a:bodyPr>
            <a:normAutofit fontScale="92500" lnSpcReduction="20000"/>
          </a:bodyPr>
          <a:lstStyle/>
          <a:p>
            <a:pPr marL="0" indent="0">
              <a:buNone/>
            </a:pPr>
            <a:endParaRPr lang="tr-TR" b="0" i="0" dirty="0">
              <a:solidFill>
                <a:srgbClr val="242424"/>
              </a:solidFill>
              <a:effectLst/>
              <a:latin typeface="source-serif-pro"/>
            </a:endParaRPr>
          </a:p>
          <a:p>
            <a:pPr marL="0" indent="0">
              <a:buNone/>
            </a:pPr>
            <a:endParaRPr lang="tr-TR" dirty="0">
              <a:solidFill>
                <a:srgbClr val="242424"/>
              </a:solidFill>
              <a:latin typeface="source-serif-pro"/>
            </a:endParaRPr>
          </a:p>
          <a:p>
            <a:pPr marL="0" indent="0">
              <a:buNone/>
            </a:pPr>
            <a:endParaRPr lang="tr-TR" b="0" i="0" dirty="0">
              <a:solidFill>
                <a:srgbClr val="242424"/>
              </a:solidFill>
              <a:effectLst/>
              <a:latin typeface="source-serif-pro"/>
            </a:endParaRPr>
          </a:p>
          <a:p>
            <a:pPr marL="0" indent="0">
              <a:buNone/>
            </a:pPr>
            <a:endParaRPr lang="tr-TR" dirty="0">
              <a:solidFill>
                <a:srgbClr val="242424"/>
              </a:solidFill>
              <a:latin typeface="source-serif-pro"/>
            </a:endParaRPr>
          </a:p>
          <a:p>
            <a:pPr marL="0" indent="0">
              <a:buNone/>
            </a:pPr>
            <a:endParaRPr lang="tr-TR" b="0" i="0" dirty="0">
              <a:solidFill>
                <a:srgbClr val="242424"/>
              </a:solidFill>
              <a:effectLst/>
              <a:latin typeface="source-serif-pro"/>
            </a:endParaRPr>
          </a:p>
          <a:p>
            <a:pPr marL="0" indent="0" algn="just">
              <a:buNone/>
            </a:pPr>
            <a:endParaRPr lang="tr-TR" b="0" i="0" dirty="0">
              <a:effectLst/>
              <a:latin typeface="Arial" panose="020B0604020202020204" pitchFamily="34" charset="0"/>
              <a:cs typeface="Arial" panose="020B0604020202020204" pitchFamily="34" charset="0"/>
            </a:endParaRPr>
          </a:p>
          <a:p>
            <a:pPr marL="0" indent="0" algn="just">
              <a:buNone/>
            </a:pPr>
            <a:r>
              <a:rPr lang="tr-TR" b="0" i="0" dirty="0">
                <a:effectLst/>
                <a:latin typeface="Arial" panose="020B0604020202020204" pitchFamily="34" charset="0"/>
                <a:cs typeface="Arial" panose="020B0604020202020204" pitchFamily="34" charset="0"/>
              </a:rPr>
              <a:t>Aktivasyon fonksiyonları, yapay sinir ağlarında her bir nöronun çıktısını hesaplarken kullanılan matematiksel işlevlerdir. Bu fonksiyonlar, nöronun gelen toplam sinyali (ağırlıklarla çarpılan girdiler ve sapma) üzerinde bir eşik belirler ve çıktı değerini belirler. Bu işlevler, yapay sinir ağlarının öğrenme yeteneklerini artırmak ve modelin çeşitli karmaşıklıkları temsil etmesine yardımcı olmak için kullanılır.</a:t>
            </a:r>
            <a:endParaRPr lang="tr-TR" dirty="0">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1E51281A-43CA-3365-7996-9A3B4E010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6879" y="1690688"/>
            <a:ext cx="4218242" cy="2445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15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E6CD388-F7AA-17A6-877D-405B143B1C82}"/>
              </a:ext>
            </a:extLst>
          </p:cNvPr>
          <p:cNvSpPr>
            <a:spLocks noGrp="1"/>
          </p:cNvSpPr>
          <p:nvPr>
            <p:ph idx="1"/>
          </p:nvPr>
        </p:nvSpPr>
        <p:spPr>
          <a:xfrm>
            <a:off x="838200" y="329184"/>
            <a:ext cx="10515600" cy="5847779"/>
          </a:xfrm>
        </p:spPr>
        <p:txBody>
          <a:bodyPr>
            <a:normAutofit fontScale="62500" lnSpcReduction="20000"/>
          </a:bodyPr>
          <a:lstStyle/>
          <a:p>
            <a:pPr marL="0" indent="0">
              <a:buNone/>
            </a:pPr>
            <a:r>
              <a:rPr lang="tr-TR" b="0" i="0" dirty="0">
                <a:effectLst/>
                <a:latin typeface="Arial" panose="020B0604020202020204" pitchFamily="34" charset="0"/>
                <a:cs typeface="Arial" panose="020B0604020202020204" pitchFamily="34" charset="0"/>
              </a:rPr>
              <a:t>Basit bir örnek üzerinden açıklamak gerekirse, </a:t>
            </a:r>
            <a:r>
              <a:rPr lang="tr-TR" b="0" i="0" dirty="0" err="1">
                <a:effectLst/>
                <a:latin typeface="Arial" panose="020B0604020202020204" pitchFamily="34" charset="0"/>
                <a:cs typeface="Arial" panose="020B0604020202020204" pitchFamily="34" charset="0"/>
              </a:rPr>
              <a:t>ReLU</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Rectified</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Linear</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Activation</a:t>
            </a:r>
            <a:r>
              <a:rPr lang="tr-TR" b="0" i="0" dirty="0">
                <a:effectLst/>
                <a:latin typeface="Arial" panose="020B0604020202020204" pitchFamily="34" charset="0"/>
                <a:cs typeface="Arial" panose="020B0604020202020204" pitchFamily="34" charset="0"/>
              </a:rPr>
              <a:t>) fonksiyonunu ele alalım. </a:t>
            </a:r>
            <a:r>
              <a:rPr lang="tr-TR" b="0" i="0" dirty="0" err="1">
                <a:effectLst/>
                <a:latin typeface="Arial" panose="020B0604020202020204" pitchFamily="34" charset="0"/>
                <a:cs typeface="Arial" panose="020B0604020202020204" pitchFamily="34" charset="0"/>
              </a:rPr>
              <a:t>ReLU</a:t>
            </a:r>
            <a:r>
              <a:rPr lang="tr-TR" b="0" i="0" dirty="0">
                <a:effectLst/>
                <a:latin typeface="Arial" panose="020B0604020202020204" pitchFamily="34" charset="0"/>
                <a:cs typeface="Arial" panose="020B0604020202020204" pitchFamily="34" charset="0"/>
              </a:rPr>
              <a:t> fonksiyonu, gelen sinyal negatif ise çıktıyı sıfır, pozitif ise gelen sinyali doğrudan çıktı olarak döndürür.</a:t>
            </a:r>
          </a:p>
          <a:p>
            <a:pPr marL="0" indent="0">
              <a:buNone/>
            </a:pPr>
            <a:endParaRPr lang="tr-TR" dirty="0">
              <a:latin typeface="Arial" panose="020B0604020202020204" pitchFamily="34" charset="0"/>
              <a:cs typeface="Arial" panose="020B0604020202020204" pitchFamily="34" charset="0"/>
            </a:endParaRPr>
          </a:p>
          <a:p>
            <a:pPr marL="0" indent="0">
              <a:buNone/>
            </a:pPr>
            <a:endParaRPr lang="tr-TR" dirty="0">
              <a:latin typeface="Arial" panose="020B0604020202020204" pitchFamily="34" charset="0"/>
              <a:cs typeface="Arial" panose="020B0604020202020204" pitchFamily="34" charset="0"/>
            </a:endParaRPr>
          </a:p>
          <a:p>
            <a:pPr marL="0" indent="0">
              <a:buNone/>
            </a:pPr>
            <a:endParaRPr lang="tr-TR" dirty="0">
              <a:latin typeface="Arial" panose="020B0604020202020204" pitchFamily="34" charset="0"/>
              <a:cs typeface="Arial" panose="020B0604020202020204" pitchFamily="34" charset="0"/>
            </a:endParaRPr>
          </a:p>
          <a:p>
            <a:pPr marL="0" indent="0">
              <a:buNone/>
            </a:pPr>
            <a:endParaRPr lang="tr-TR" dirty="0">
              <a:latin typeface="Arial" panose="020B0604020202020204" pitchFamily="34" charset="0"/>
              <a:cs typeface="Arial" panose="020B0604020202020204" pitchFamily="34" charset="0"/>
            </a:endParaRPr>
          </a:p>
          <a:p>
            <a:pPr marL="0" indent="0">
              <a:buNone/>
            </a:pPr>
            <a:endParaRPr lang="tr-TR" dirty="0">
              <a:latin typeface="Arial" panose="020B0604020202020204" pitchFamily="34" charset="0"/>
              <a:cs typeface="Arial" panose="020B0604020202020204" pitchFamily="34" charset="0"/>
            </a:endParaRPr>
          </a:p>
          <a:p>
            <a:pPr marL="0" indent="0">
              <a:buNone/>
            </a:pPr>
            <a:endParaRPr lang="tr-TR" dirty="0">
              <a:latin typeface="Arial" panose="020B0604020202020204" pitchFamily="34" charset="0"/>
              <a:cs typeface="Arial" panose="020B0604020202020204" pitchFamily="34" charset="0"/>
            </a:endParaRPr>
          </a:p>
          <a:p>
            <a:pPr marL="0" indent="0">
              <a:buNone/>
            </a:pPr>
            <a:endParaRPr lang="tr-TR" dirty="0">
              <a:latin typeface="Arial" panose="020B0604020202020204" pitchFamily="34" charset="0"/>
              <a:cs typeface="Arial" panose="020B0604020202020204" pitchFamily="34" charset="0"/>
            </a:endParaRPr>
          </a:p>
          <a:p>
            <a:pPr marL="0" indent="0" algn="just">
              <a:buNone/>
            </a:pPr>
            <a:r>
              <a:rPr lang="tr-TR" b="0" i="0" dirty="0">
                <a:effectLst/>
                <a:latin typeface="Arial" panose="020B0604020202020204" pitchFamily="34" charset="0"/>
                <a:cs typeface="Arial" panose="020B0604020202020204" pitchFamily="34" charset="0"/>
              </a:rPr>
              <a:t>Basit bir örnek üzerinden açıklamak gerekirse, </a:t>
            </a:r>
            <a:r>
              <a:rPr lang="tr-TR" b="0" i="0" dirty="0" err="1">
                <a:effectLst/>
                <a:latin typeface="Arial" panose="020B0604020202020204" pitchFamily="34" charset="0"/>
                <a:cs typeface="Arial" panose="020B0604020202020204" pitchFamily="34" charset="0"/>
              </a:rPr>
              <a:t>ReLU</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Rectified</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Linear</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Activation</a:t>
            </a:r>
            <a:r>
              <a:rPr lang="tr-TR" b="0" i="0" dirty="0">
                <a:effectLst/>
                <a:latin typeface="Arial" panose="020B0604020202020204" pitchFamily="34" charset="0"/>
                <a:cs typeface="Arial" panose="020B0604020202020204" pitchFamily="34" charset="0"/>
              </a:rPr>
              <a:t>) fonksiyonunu ele alalım. </a:t>
            </a:r>
            <a:r>
              <a:rPr lang="tr-TR" b="0" i="0" dirty="0" err="1">
                <a:effectLst/>
                <a:latin typeface="Arial" panose="020B0604020202020204" pitchFamily="34" charset="0"/>
                <a:cs typeface="Arial" panose="020B0604020202020204" pitchFamily="34" charset="0"/>
              </a:rPr>
              <a:t>ReLU</a:t>
            </a:r>
            <a:r>
              <a:rPr lang="tr-TR" b="0" i="0" dirty="0">
                <a:effectLst/>
                <a:latin typeface="Arial" panose="020B0604020202020204" pitchFamily="34" charset="0"/>
                <a:cs typeface="Arial" panose="020B0604020202020204" pitchFamily="34" charset="0"/>
              </a:rPr>
              <a:t> fonksiyonu, gelen sinyal negatif ise çıktıyı sıfır, pozitif ise gelen sinyali doğrudan çıktı olarak döndürür.</a:t>
            </a:r>
          </a:p>
          <a:p>
            <a:pPr marL="0" indent="0" algn="just">
              <a:buNone/>
            </a:pPr>
            <a:r>
              <a:rPr lang="tr-TR" b="0" i="0" dirty="0">
                <a:effectLst/>
                <a:latin typeface="Arial" panose="020B0604020202020204" pitchFamily="34" charset="0"/>
                <a:cs typeface="Arial" panose="020B0604020202020204" pitchFamily="34" charset="0"/>
              </a:rPr>
              <a:t>Burada x, nörona gelen toplam girdi değerini temsil eder. Eğer bu değer negatif ise, </a:t>
            </a:r>
            <a:r>
              <a:rPr lang="tr-TR" b="0" i="0" dirty="0" err="1">
                <a:effectLst/>
                <a:latin typeface="Arial" panose="020B0604020202020204" pitchFamily="34" charset="0"/>
                <a:cs typeface="Arial" panose="020B0604020202020204" pitchFamily="34" charset="0"/>
              </a:rPr>
              <a:t>ReLU</a:t>
            </a:r>
            <a:r>
              <a:rPr lang="tr-TR" b="0" i="0" dirty="0">
                <a:effectLst/>
                <a:latin typeface="Arial" panose="020B0604020202020204" pitchFamily="34" charset="0"/>
                <a:cs typeface="Arial" panose="020B0604020202020204" pitchFamily="34" charset="0"/>
              </a:rPr>
              <a:t> fonksiyonu sıfır döndürür; eğer değer pozitif veya sıfıra eşitse, fonksiyon gelen değeri doğrudan çıktı olarak döndürür.</a:t>
            </a:r>
          </a:p>
          <a:p>
            <a:pPr marL="0" indent="0" algn="just">
              <a:buNone/>
            </a:pPr>
            <a:r>
              <a:rPr lang="tr-TR" b="0" i="0" dirty="0">
                <a:effectLst/>
                <a:latin typeface="Arial" panose="020B0604020202020204" pitchFamily="34" charset="0"/>
                <a:cs typeface="Arial" panose="020B0604020202020204" pitchFamily="34" charset="0"/>
              </a:rPr>
              <a:t>Örnek olarak, bir nörona 3 değeri girdi olarak verildiğini düşünelim. Bu girdi değeri, ağırlıklarla çarpılır, sapma eklenir ve toplam değeri elde edilir. Eğer bu toplam değer 2 ise, </a:t>
            </a:r>
            <a:r>
              <a:rPr lang="tr-TR" b="0" i="0" dirty="0" err="1">
                <a:effectLst/>
                <a:latin typeface="Arial" panose="020B0604020202020204" pitchFamily="34" charset="0"/>
                <a:cs typeface="Arial" panose="020B0604020202020204" pitchFamily="34" charset="0"/>
              </a:rPr>
              <a:t>ReLU</a:t>
            </a:r>
            <a:r>
              <a:rPr lang="tr-TR" b="0" i="0" dirty="0">
                <a:effectLst/>
                <a:latin typeface="Arial" panose="020B0604020202020204" pitchFamily="34" charset="0"/>
                <a:cs typeface="Arial" panose="020B0604020202020204" pitchFamily="34" charset="0"/>
              </a:rPr>
              <a:t> fonksiyonu 2'yi çıktı olarak döndürür. Eğer bu toplam değer -1 ise, </a:t>
            </a:r>
            <a:r>
              <a:rPr lang="tr-TR" b="0" i="0" dirty="0" err="1">
                <a:effectLst/>
                <a:latin typeface="Arial" panose="020B0604020202020204" pitchFamily="34" charset="0"/>
                <a:cs typeface="Arial" panose="020B0604020202020204" pitchFamily="34" charset="0"/>
              </a:rPr>
              <a:t>ReLU</a:t>
            </a:r>
            <a:r>
              <a:rPr lang="tr-TR" b="0" i="0" dirty="0">
                <a:effectLst/>
                <a:latin typeface="Arial" panose="020B0604020202020204" pitchFamily="34" charset="0"/>
                <a:cs typeface="Arial" panose="020B0604020202020204" pitchFamily="34" charset="0"/>
              </a:rPr>
              <a:t> fonksiyonu sıfırı çıktı olarak döndürür.</a:t>
            </a:r>
          </a:p>
          <a:p>
            <a:pPr marL="0" indent="0" algn="just">
              <a:buNone/>
            </a:pPr>
            <a:r>
              <a:rPr lang="tr-TR" b="0" i="0" dirty="0">
                <a:effectLst/>
                <a:latin typeface="Arial" panose="020B0604020202020204" pitchFamily="34" charset="0"/>
                <a:cs typeface="Arial" panose="020B0604020202020204" pitchFamily="34" charset="0"/>
              </a:rPr>
              <a:t>Aktivasyon fonksiyonları, yapay sinir ağlarının öğrenme kapasitesini artırmak, ağın </a:t>
            </a:r>
            <a:r>
              <a:rPr lang="tr-TR" b="0" i="0" dirty="0" err="1">
                <a:effectLst/>
                <a:latin typeface="Arial" panose="020B0604020202020204" pitchFamily="34" charset="0"/>
                <a:cs typeface="Arial" panose="020B0604020202020204" pitchFamily="34" charset="0"/>
              </a:rPr>
              <a:t>non-linearite</a:t>
            </a:r>
            <a:r>
              <a:rPr lang="tr-TR" b="0" i="0" dirty="0">
                <a:effectLst/>
                <a:latin typeface="Arial" panose="020B0604020202020204" pitchFamily="34" charset="0"/>
                <a:cs typeface="Arial" panose="020B0604020202020204" pitchFamily="34" charset="0"/>
              </a:rPr>
              <a:t> öğrenmesine yardımcı olmak ve çeşitli veri yapılarını modellemek için kullanılır. Çeşitli aktivasyon fonksiyonları farklı problemlere daha iyi uyum sağlayabilir ve ağın performansını artırabilir.</a:t>
            </a:r>
          </a:p>
          <a:p>
            <a:pPr marL="0" indent="0">
              <a:buNone/>
            </a:pPr>
            <a:endParaRPr lang="tr-TR" dirty="0">
              <a:latin typeface="Arial" panose="020B0604020202020204" pitchFamily="34" charset="0"/>
              <a:cs typeface="Arial" panose="020B0604020202020204" pitchFamily="34" charset="0"/>
            </a:endParaRPr>
          </a:p>
        </p:txBody>
      </p:sp>
      <p:pic>
        <p:nvPicPr>
          <p:cNvPr id="2050" name="Picture 2" descr="Yapay sinir ağları · Miuul Not Defteri">
            <a:extLst>
              <a:ext uri="{FF2B5EF4-FFF2-40B4-BE49-F238E27FC236}">
                <a16:creationId xmlns:a16="http://schemas.microsoft.com/office/drawing/2014/main" id="{1F73C3BF-AE53-7A58-B6D9-B49394447F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1320" y="976313"/>
            <a:ext cx="2364597" cy="2004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436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etin, harita içeren bir resim&#10;&#10;Açıklama otomatik olarak oluşturuldu">
            <a:extLst>
              <a:ext uri="{FF2B5EF4-FFF2-40B4-BE49-F238E27FC236}">
                <a16:creationId xmlns:a16="http://schemas.microsoft.com/office/drawing/2014/main" id="{CC7AFBE1-2E25-E26F-866B-223301CCA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769" y="380238"/>
            <a:ext cx="10773899" cy="5682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090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BE02E4-EBB0-3FE3-73F2-21A5D370AC01}"/>
              </a:ext>
            </a:extLst>
          </p:cNvPr>
          <p:cNvSpPr>
            <a:spLocks noGrp="1"/>
          </p:cNvSpPr>
          <p:nvPr>
            <p:ph type="title"/>
          </p:nvPr>
        </p:nvSpPr>
        <p:spPr/>
        <p:txBody>
          <a:bodyPr/>
          <a:lstStyle/>
          <a:p>
            <a:pPr algn="ctr"/>
            <a:r>
              <a:rPr lang="tr-TR" dirty="0"/>
              <a:t>Sigmoid</a:t>
            </a:r>
          </a:p>
        </p:txBody>
      </p:sp>
      <p:sp>
        <p:nvSpPr>
          <p:cNvPr id="3" name="İçerik Yer Tutucusu 2">
            <a:extLst>
              <a:ext uri="{FF2B5EF4-FFF2-40B4-BE49-F238E27FC236}">
                <a16:creationId xmlns:a16="http://schemas.microsoft.com/office/drawing/2014/main" id="{D426F5E1-629C-DEB7-73ED-0F5A55B29984}"/>
              </a:ext>
            </a:extLst>
          </p:cNvPr>
          <p:cNvSpPr>
            <a:spLocks noGrp="1"/>
          </p:cNvSpPr>
          <p:nvPr>
            <p:ph idx="1"/>
          </p:nvPr>
        </p:nvSpPr>
        <p:spPr>
          <a:xfrm>
            <a:off x="838200" y="1825625"/>
            <a:ext cx="5800344" cy="4667250"/>
          </a:xfrm>
        </p:spPr>
        <p:txBody>
          <a:bodyPr>
            <a:normAutofit fontScale="62500" lnSpcReduction="20000"/>
          </a:bodyPr>
          <a:lstStyle/>
          <a:p>
            <a:pPr marL="0" indent="0">
              <a:buNone/>
            </a:pPr>
            <a:r>
              <a:rPr lang="tr-TR" b="0" i="0" dirty="0">
                <a:effectLst/>
                <a:latin typeface="Arial" panose="020B0604020202020204" pitchFamily="34" charset="0"/>
                <a:cs typeface="Arial" panose="020B0604020202020204" pitchFamily="34" charset="0"/>
              </a:rPr>
              <a:t>Sigmoid fonksiyonu, yaygın olarak kullanılan bir aktivasyon fonksiyonudur ve yapay sinir ağlarında özellikle eski modellerde ve ikili sınıflandırma problemlerinde kullanılır. Sigmoid fonksiyonu, giriş değerini 0 ile 1 arasında bir değere dönüştürür.</a:t>
            </a:r>
          </a:p>
          <a:p>
            <a:pPr marL="0" indent="0">
              <a:buNone/>
            </a:pPr>
            <a:endParaRPr lang="tr-TR" b="0" i="0" dirty="0">
              <a:effectLst/>
              <a:latin typeface="Arial" panose="020B0604020202020204" pitchFamily="34" charset="0"/>
              <a:cs typeface="Arial" panose="020B0604020202020204" pitchFamily="34" charset="0"/>
            </a:endParaRPr>
          </a:p>
          <a:p>
            <a:pPr marL="0" indent="0">
              <a:buNone/>
            </a:pPr>
            <a:r>
              <a:rPr lang="tr-TR" b="0" i="0" dirty="0">
                <a:effectLst/>
                <a:latin typeface="Arial" panose="020B0604020202020204" pitchFamily="34" charset="0"/>
                <a:cs typeface="Arial" panose="020B0604020202020204" pitchFamily="34" charset="0"/>
              </a:rPr>
              <a:t>Sigmoid fonksiyonunun grafiği S şeklinde olduğu için, bu ismi almıştır. Eğer değerler çok büyükse veya çok küçükse, sigmoid fonksiyonu bu değerleri 1 veya 0'a yaklaştırır. 0'a yaklaşan değerler genellikle negatif sınıflandırma sonuçlarına, 1'e yaklaşanlar ise pozitif sınıflandırma sonuçlarına karşılık gelir. Bu özelliği, ikili sınıflandırma problemlerinde çıkış olarak sınıf olasılıklarını tahmin etmek için kullanılmasını sağlar.</a:t>
            </a:r>
          </a:p>
          <a:p>
            <a:pPr marL="0" indent="0">
              <a:buNone/>
            </a:pPr>
            <a:endParaRPr lang="tr-TR" b="0" i="0" dirty="0">
              <a:effectLst/>
              <a:latin typeface="Arial" panose="020B0604020202020204" pitchFamily="34" charset="0"/>
              <a:cs typeface="Arial" panose="020B0604020202020204" pitchFamily="34" charset="0"/>
            </a:endParaRPr>
          </a:p>
          <a:p>
            <a:pPr marL="0" indent="0">
              <a:buNone/>
            </a:pPr>
            <a:r>
              <a:rPr lang="tr-TR" b="1" i="0" dirty="0">
                <a:effectLst/>
                <a:latin typeface="Arial" panose="020B0604020202020204" pitchFamily="34" charset="0"/>
                <a:cs typeface="Arial" panose="020B0604020202020204" pitchFamily="34" charset="0"/>
              </a:rPr>
              <a:t>Çıkış katmanında kullanım:</a:t>
            </a:r>
            <a:r>
              <a:rPr lang="tr-TR" b="0" i="0" dirty="0">
                <a:effectLst/>
                <a:latin typeface="Arial" panose="020B0604020202020204" pitchFamily="34" charset="0"/>
                <a:cs typeface="Arial" panose="020B0604020202020204" pitchFamily="34" charset="0"/>
              </a:rPr>
              <a:t> İkili sınıflandırma problemlerinde çıkış katmanında kullanılarak, bir girişin pozitif veya negatif olma olasılığını tahmin eder. Örneğin, bir resmin köpek olma olasılığını veya değil olma olasılığını belirlemek için kullanılabilir.</a:t>
            </a:r>
            <a:endParaRPr lang="tr-TR" dirty="0">
              <a:latin typeface="Arial" panose="020B0604020202020204" pitchFamily="34" charset="0"/>
              <a:cs typeface="Arial" panose="020B0604020202020204" pitchFamily="34" charset="0"/>
            </a:endParaRPr>
          </a:p>
        </p:txBody>
      </p:sp>
      <p:pic>
        <p:nvPicPr>
          <p:cNvPr id="2050" name="Picture 2" descr="Yapay Sinir Ağlarında Aktivasyon Fonksiyonları - Derin Öğrenme">
            <a:extLst>
              <a:ext uri="{FF2B5EF4-FFF2-40B4-BE49-F238E27FC236}">
                <a16:creationId xmlns:a16="http://schemas.microsoft.com/office/drawing/2014/main" id="{7E3DFBC9-242D-861F-D335-4D24E4D98F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1336" y="2101214"/>
            <a:ext cx="5500802" cy="305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080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76CB59-F47F-435C-B01E-F36F6CDDAFE7}"/>
              </a:ext>
            </a:extLst>
          </p:cNvPr>
          <p:cNvSpPr>
            <a:spLocks noGrp="1"/>
          </p:cNvSpPr>
          <p:nvPr>
            <p:ph type="title"/>
          </p:nvPr>
        </p:nvSpPr>
        <p:spPr/>
        <p:txBody>
          <a:bodyPr/>
          <a:lstStyle/>
          <a:p>
            <a:pPr algn="ctr"/>
            <a:r>
              <a:rPr lang="tr-TR" dirty="0"/>
              <a:t>Çıkış Katmanı</a:t>
            </a:r>
          </a:p>
        </p:txBody>
      </p:sp>
      <p:sp>
        <p:nvSpPr>
          <p:cNvPr id="3" name="İçerik Yer Tutucusu 2">
            <a:extLst>
              <a:ext uri="{FF2B5EF4-FFF2-40B4-BE49-F238E27FC236}">
                <a16:creationId xmlns:a16="http://schemas.microsoft.com/office/drawing/2014/main" id="{E55372A7-6E85-35F9-D2A9-397B4940419F}"/>
              </a:ext>
            </a:extLst>
          </p:cNvPr>
          <p:cNvSpPr>
            <a:spLocks noGrp="1"/>
          </p:cNvSpPr>
          <p:nvPr>
            <p:ph idx="1"/>
          </p:nvPr>
        </p:nvSpPr>
        <p:spPr>
          <a:xfrm>
            <a:off x="838200" y="1825624"/>
            <a:ext cx="10515600" cy="4593463"/>
          </a:xfrm>
        </p:spPr>
        <p:txBody>
          <a:bodyPr>
            <a:normAutofit fontScale="70000" lnSpcReduction="20000"/>
          </a:bodyPr>
          <a:lstStyle/>
          <a:p>
            <a:pPr marL="0" indent="0" algn="l">
              <a:buNone/>
            </a:pPr>
            <a:r>
              <a:rPr lang="tr-TR" b="0" i="0" dirty="0">
                <a:effectLst/>
                <a:latin typeface="Arial" panose="020B0604020202020204" pitchFamily="34" charset="0"/>
                <a:cs typeface="Arial" panose="020B0604020202020204" pitchFamily="34" charset="0"/>
              </a:rPr>
              <a:t>Çıkış katmanı, bir yapay sinir ağının son katmanıdır ve genellikle problem türüne bağlı olarak farklı şekillerde tasarlanabilir. Sınıflandırma problemleri için kullanılan bir yapay sinir ağı modelinde çıkış katmanı, sınıf tahminlerini sağlar.</a:t>
            </a:r>
          </a:p>
          <a:p>
            <a:pPr marL="0" indent="0" algn="l">
              <a:buNone/>
            </a:pPr>
            <a:r>
              <a:rPr lang="tr-TR" b="0" i="0" dirty="0">
                <a:effectLst/>
                <a:latin typeface="Arial" panose="020B0604020202020204" pitchFamily="34" charset="0"/>
                <a:cs typeface="Arial" panose="020B0604020202020204" pitchFamily="34" charset="0"/>
              </a:rPr>
              <a:t>Özellikle sınıflandırma problemlerinde, çıkış katmanı problem tipine göre şekillenir. </a:t>
            </a:r>
          </a:p>
          <a:p>
            <a:pPr marL="0" indent="0" algn="l">
              <a:buNone/>
            </a:pPr>
            <a:r>
              <a:rPr lang="tr-TR" b="0" i="0" dirty="0">
                <a:effectLst/>
                <a:latin typeface="Arial" panose="020B0604020202020204" pitchFamily="34" charset="0"/>
                <a:cs typeface="Arial" panose="020B0604020202020204" pitchFamily="34" charset="0"/>
              </a:rPr>
              <a:t>Örneğin:</a:t>
            </a:r>
          </a:p>
          <a:p>
            <a:pPr algn="l">
              <a:buFont typeface="Arial" panose="020B0604020202020204" pitchFamily="34" charset="0"/>
              <a:buChar char="•"/>
            </a:pPr>
            <a:r>
              <a:rPr lang="tr-TR" b="1" i="0" dirty="0" err="1">
                <a:effectLst/>
                <a:latin typeface="Arial" panose="020B0604020202020204" pitchFamily="34" charset="0"/>
                <a:cs typeface="Arial" panose="020B0604020202020204" pitchFamily="34" charset="0"/>
              </a:rPr>
              <a:t>Binary</a:t>
            </a:r>
            <a:r>
              <a:rPr lang="tr-TR" b="1" i="0" dirty="0">
                <a:effectLst/>
                <a:latin typeface="Arial" panose="020B0604020202020204" pitchFamily="34" charset="0"/>
                <a:cs typeface="Arial" panose="020B0604020202020204" pitchFamily="34" charset="0"/>
              </a:rPr>
              <a:t> </a:t>
            </a:r>
            <a:r>
              <a:rPr lang="tr-TR" b="1" i="0" dirty="0" err="1">
                <a:effectLst/>
                <a:latin typeface="Arial" panose="020B0604020202020204" pitchFamily="34" charset="0"/>
                <a:cs typeface="Arial" panose="020B0604020202020204" pitchFamily="34" charset="0"/>
              </a:rPr>
              <a:t>Classification</a:t>
            </a:r>
            <a:r>
              <a:rPr lang="tr-TR" b="1" i="0" dirty="0">
                <a:effectLst/>
                <a:latin typeface="Arial" panose="020B0604020202020204" pitchFamily="34" charset="0"/>
                <a:cs typeface="Arial" panose="020B0604020202020204" pitchFamily="34" charset="0"/>
              </a:rPr>
              <a:t> (İkili Sınıflandırma):</a:t>
            </a:r>
            <a:r>
              <a:rPr lang="tr-TR" b="0" i="0" dirty="0">
                <a:effectLst/>
                <a:latin typeface="Arial" panose="020B0604020202020204" pitchFamily="34" charset="0"/>
                <a:cs typeface="Arial" panose="020B0604020202020204" pitchFamily="34" charset="0"/>
              </a:rPr>
              <a:t> Bir çıkış nöronu olabilir ve genellikle sigmoid aktivasyon fonksiyonu kullanılır. Bu nöron, sadece iki sınıf arasında (örneğin, 0 ve 1) bir olasılık veya karar verir.</a:t>
            </a:r>
          </a:p>
          <a:p>
            <a:pPr algn="l">
              <a:buFont typeface="Arial" panose="020B0604020202020204" pitchFamily="34" charset="0"/>
              <a:buChar char="•"/>
            </a:pPr>
            <a:r>
              <a:rPr lang="tr-TR" b="1" i="0" dirty="0">
                <a:effectLst/>
                <a:latin typeface="Arial" panose="020B0604020202020204" pitchFamily="34" charset="0"/>
                <a:cs typeface="Arial" panose="020B0604020202020204" pitchFamily="34" charset="0"/>
              </a:rPr>
              <a:t>Multi-Class </a:t>
            </a:r>
            <a:r>
              <a:rPr lang="tr-TR" b="1" i="0" dirty="0" err="1">
                <a:effectLst/>
                <a:latin typeface="Arial" panose="020B0604020202020204" pitchFamily="34" charset="0"/>
                <a:cs typeface="Arial" panose="020B0604020202020204" pitchFamily="34" charset="0"/>
              </a:rPr>
              <a:t>Classification</a:t>
            </a:r>
            <a:r>
              <a:rPr lang="tr-TR" b="1" i="0" dirty="0">
                <a:effectLst/>
                <a:latin typeface="Arial" panose="020B0604020202020204" pitchFamily="34" charset="0"/>
                <a:cs typeface="Arial" panose="020B0604020202020204" pitchFamily="34" charset="0"/>
              </a:rPr>
              <a:t> (Çok Sınıflı Sınıflandırma):</a:t>
            </a:r>
            <a:r>
              <a:rPr lang="tr-TR" b="0" i="0" dirty="0">
                <a:effectLst/>
                <a:latin typeface="Arial" panose="020B0604020202020204" pitchFamily="34" charset="0"/>
                <a:cs typeface="Arial" panose="020B0604020202020204" pitchFamily="34" charset="0"/>
              </a:rPr>
              <a:t> Birden fazla çıkış nöronu olabilir, her bir nöron ayrı bir sınıfı temsil eder ve genellikle </a:t>
            </a:r>
            <a:r>
              <a:rPr lang="tr-TR" b="0" i="0" dirty="0" err="1">
                <a:effectLst/>
                <a:latin typeface="Arial" panose="020B0604020202020204" pitchFamily="34" charset="0"/>
                <a:cs typeface="Arial" panose="020B0604020202020204" pitchFamily="34" charset="0"/>
              </a:rPr>
              <a:t>softmax</a:t>
            </a:r>
            <a:r>
              <a:rPr lang="tr-TR" b="0" i="0" dirty="0">
                <a:effectLst/>
                <a:latin typeface="Arial" panose="020B0604020202020204" pitchFamily="34" charset="0"/>
                <a:cs typeface="Arial" panose="020B0604020202020204" pitchFamily="34" charset="0"/>
              </a:rPr>
              <a:t> aktivasyon fonksiyonu kullanılır. Bu, her sınıf için olasılıkların toplamının 1 olmasını sağlayarak çeşitli sınıflar arasında olasılık dağılımı oluşturur.</a:t>
            </a:r>
          </a:p>
          <a:p>
            <a:pPr algn="l">
              <a:buFont typeface="Arial" panose="020B0604020202020204" pitchFamily="34" charset="0"/>
              <a:buChar char="•"/>
            </a:pPr>
            <a:endParaRPr lang="tr-TR" b="0" i="0" dirty="0">
              <a:effectLst/>
              <a:latin typeface="Arial" panose="020B0604020202020204" pitchFamily="34" charset="0"/>
              <a:cs typeface="Arial" panose="020B0604020202020204" pitchFamily="34" charset="0"/>
            </a:endParaRPr>
          </a:p>
          <a:p>
            <a:pPr marL="0" indent="0" algn="l">
              <a:buNone/>
            </a:pPr>
            <a:r>
              <a:rPr lang="tr-TR" b="0" i="0" dirty="0" err="1">
                <a:effectLst/>
                <a:latin typeface="Arial" panose="020B0604020202020204" pitchFamily="34" charset="0"/>
                <a:cs typeface="Arial" panose="020B0604020202020204" pitchFamily="34" charset="0"/>
              </a:rPr>
              <a:t>Softmax</a:t>
            </a:r>
            <a:r>
              <a:rPr lang="tr-TR" b="0" i="0" dirty="0">
                <a:effectLst/>
                <a:latin typeface="Arial" panose="020B0604020202020204" pitchFamily="34" charset="0"/>
                <a:cs typeface="Arial" panose="020B0604020202020204" pitchFamily="34" charset="0"/>
              </a:rPr>
              <a:t> aktivasyon fonksiyonu, çıkış katmanında kullanılan bir aktivasyon fonksiyonudur. Çok sınıflı sınıflandırma problemlerinde sıklıkla tercih edilir. </a:t>
            </a:r>
            <a:r>
              <a:rPr lang="tr-TR" b="0" i="0" dirty="0" err="1">
                <a:effectLst/>
                <a:latin typeface="Arial" panose="020B0604020202020204" pitchFamily="34" charset="0"/>
                <a:cs typeface="Arial" panose="020B0604020202020204" pitchFamily="34" charset="0"/>
              </a:rPr>
              <a:t>Softmax</a:t>
            </a:r>
            <a:r>
              <a:rPr lang="tr-TR" b="0" i="0" dirty="0">
                <a:effectLst/>
                <a:latin typeface="Arial" panose="020B0604020202020204" pitchFamily="34" charset="0"/>
                <a:cs typeface="Arial" panose="020B0604020202020204" pitchFamily="34" charset="0"/>
              </a:rPr>
              <a:t> fonksiyonu, ağın çıkışını olasılık dağılımına dönüştürmek için kullanılır. Bu dağılım, farklı sınıfların olasılıklarını temsil eder ve toplam olasılığın 1'e eşit olmasını sağlar.</a:t>
            </a:r>
          </a:p>
          <a:p>
            <a:endParaRPr lang="tr-T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5251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5E6C238-DCCC-C075-301F-814848480B9D}"/>
              </a:ext>
            </a:extLst>
          </p:cNvPr>
          <p:cNvSpPr>
            <a:spLocks noGrp="1"/>
          </p:cNvSpPr>
          <p:nvPr>
            <p:ph type="title"/>
          </p:nvPr>
        </p:nvSpPr>
        <p:spPr/>
        <p:txBody>
          <a:bodyPr/>
          <a:lstStyle/>
          <a:p>
            <a:pPr algn="ctr"/>
            <a:r>
              <a:rPr lang="tr-TR" dirty="0" err="1"/>
              <a:t>Softmax</a:t>
            </a:r>
            <a:endParaRPr lang="tr-TR" dirty="0"/>
          </a:p>
        </p:txBody>
      </p:sp>
      <p:sp>
        <p:nvSpPr>
          <p:cNvPr id="3" name="İçerik Yer Tutucusu 2">
            <a:extLst>
              <a:ext uri="{FF2B5EF4-FFF2-40B4-BE49-F238E27FC236}">
                <a16:creationId xmlns:a16="http://schemas.microsoft.com/office/drawing/2014/main" id="{35068962-7DE6-0F9E-5FAB-2A1B96FC3DD2}"/>
              </a:ext>
            </a:extLst>
          </p:cNvPr>
          <p:cNvSpPr>
            <a:spLocks noGrp="1"/>
          </p:cNvSpPr>
          <p:nvPr>
            <p:ph idx="1"/>
          </p:nvPr>
        </p:nvSpPr>
        <p:spPr>
          <a:xfrm>
            <a:off x="838200" y="1825625"/>
            <a:ext cx="5763768" cy="4667250"/>
          </a:xfrm>
        </p:spPr>
        <p:txBody>
          <a:bodyPr>
            <a:normAutofit fontScale="70000" lnSpcReduction="20000"/>
          </a:bodyPr>
          <a:lstStyle/>
          <a:p>
            <a:pPr marL="0" indent="0" algn="l">
              <a:buNone/>
            </a:pPr>
            <a:r>
              <a:rPr lang="tr-TR" b="0" i="0" dirty="0">
                <a:effectLst/>
                <a:latin typeface="Arial" panose="020B0604020202020204" pitchFamily="34" charset="0"/>
                <a:cs typeface="Arial" panose="020B0604020202020204" pitchFamily="34" charset="0"/>
              </a:rPr>
              <a:t>Burada </a:t>
            </a:r>
            <a:r>
              <a:rPr lang="tr-TR" b="0" i="1" dirty="0" err="1">
                <a:effectLst/>
                <a:latin typeface="Arial" panose="020B0604020202020204" pitchFamily="34" charset="0"/>
                <a:cs typeface="Arial" panose="020B0604020202020204" pitchFamily="34" charset="0"/>
              </a:rPr>
              <a:t>zi</a:t>
            </a:r>
            <a:r>
              <a:rPr lang="tr-TR" b="0" i="0" dirty="0">
                <a:effectLst/>
                <a:latin typeface="Arial" panose="020B0604020202020204" pitchFamily="34" charset="0"/>
                <a:cs typeface="Arial" panose="020B0604020202020204" pitchFamily="34" charset="0"/>
              </a:rPr>
              <a:t>​, her bir sınıf için çıkıştan gelen değerleri temsil eder. </a:t>
            </a:r>
            <a:r>
              <a:rPr lang="tr-TR" b="0" i="0" dirty="0" err="1">
                <a:effectLst/>
                <a:latin typeface="Arial" panose="020B0604020202020204" pitchFamily="34" charset="0"/>
                <a:cs typeface="Arial" panose="020B0604020202020204" pitchFamily="34" charset="0"/>
              </a:rPr>
              <a:t>Softmax</a:t>
            </a:r>
            <a:r>
              <a:rPr lang="tr-TR" b="0" i="0" dirty="0">
                <a:effectLst/>
                <a:latin typeface="Arial" panose="020B0604020202020204" pitchFamily="34" charset="0"/>
                <a:cs typeface="Arial" panose="020B0604020202020204" pitchFamily="34" charset="0"/>
              </a:rPr>
              <a:t> fonksiyonu, bu değerleri alır, onları olasılıklara dönüştürür ve ardından bu olasılıkların toplamının 1 olmasını sağlar.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0" i="0" dirty="0">
                <a:effectLst/>
                <a:latin typeface="Arial" panose="020B0604020202020204" pitchFamily="34" charset="0"/>
                <a:cs typeface="Arial" panose="020B0604020202020204" pitchFamily="34" charset="0"/>
              </a:rPr>
              <a:t>Örneğin, 5 sınıflı bir problemde </a:t>
            </a:r>
            <a:r>
              <a:rPr lang="tr-TR" b="0" i="0" dirty="0" err="1">
                <a:effectLst/>
                <a:latin typeface="Arial" panose="020B0604020202020204" pitchFamily="34" charset="0"/>
                <a:cs typeface="Arial" panose="020B0604020202020204" pitchFamily="34" charset="0"/>
              </a:rPr>
              <a:t>softmax</a:t>
            </a:r>
            <a:r>
              <a:rPr lang="tr-TR" b="0" i="0" dirty="0">
                <a:effectLst/>
                <a:latin typeface="Arial" panose="020B0604020202020204" pitchFamily="34" charset="0"/>
                <a:cs typeface="Arial" panose="020B0604020202020204" pitchFamily="34" charset="0"/>
              </a:rPr>
              <a:t>, her bir sınıf için çıkış olarak gelen değerleri alır, bunları olasılıklara dönüştürür ve toplamları 1 olacak şekilde normalize eder. Böylece, örneğin bir resmin bir köpek, kedi, kuş, at veya inek olma olasılıklarını elde edebiliriz.</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0" i="0" dirty="0" err="1">
                <a:effectLst/>
                <a:latin typeface="Arial" panose="020B0604020202020204" pitchFamily="34" charset="0"/>
                <a:cs typeface="Arial" panose="020B0604020202020204" pitchFamily="34" charset="0"/>
              </a:rPr>
              <a:t>Softmax</a:t>
            </a:r>
            <a:r>
              <a:rPr lang="tr-TR" b="0" i="0" dirty="0">
                <a:effectLst/>
                <a:latin typeface="Arial" panose="020B0604020202020204" pitchFamily="34" charset="0"/>
                <a:cs typeface="Arial" panose="020B0604020202020204" pitchFamily="34" charset="0"/>
              </a:rPr>
              <a:t> fonksiyonunun rolü, ağın çıkışını anlamlı ve yorumlanabilir bir olasılık dağılımına dönüştürmektir, böylece çok sınıflı sınıflandırma problemlerinde her bir sınıfın olasılığını tahmin edebiliriz.</a:t>
            </a:r>
          </a:p>
          <a:p>
            <a:endParaRPr lang="tr-TR" dirty="0">
              <a:latin typeface="Arial" panose="020B0604020202020204" pitchFamily="34" charset="0"/>
              <a:cs typeface="Arial" panose="020B0604020202020204" pitchFamily="34" charset="0"/>
            </a:endParaRPr>
          </a:p>
        </p:txBody>
      </p:sp>
      <p:pic>
        <p:nvPicPr>
          <p:cNvPr id="1026" name="Picture 2" descr="Softmax Function: Advantages and Applications | BotPenguin">
            <a:extLst>
              <a:ext uri="{FF2B5EF4-FFF2-40B4-BE49-F238E27FC236}">
                <a16:creationId xmlns:a16="http://schemas.microsoft.com/office/drawing/2014/main" id="{57244CB2-8947-F1AB-8376-81E4E696C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3447" y="2355705"/>
            <a:ext cx="4755071" cy="2444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2937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1AFBFA-80F2-D07B-CA2A-50CF2ED7683F}"/>
              </a:ext>
            </a:extLst>
          </p:cNvPr>
          <p:cNvSpPr>
            <a:spLocks noGrp="1"/>
          </p:cNvSpPr>
          <p:nvPr>
            <p:ph type="title"/>
          </p:nvPr>
        </p:nvSpPr>
        <p:spPr/>
        <p:txBody>
          <a:bodyPr/>
          <a:lstStyle/>
          <a:p>
            <a:pPr algn="ctr"/>
            <a:r>
              <a:rPr lang="tr-TR" dirty="0" err="1">
                <a:solidFill>
                  <a:srgbClr val="242424"/>
                </a:solidFill>
                <a:latin typeface="source-serif-pro"/>
              </a:rPr>
              <a:t>B</a:t>
            </a:r>
            <a:r>
              <a:rPr lang="tr-TR" b="0" i="0" dirty="0" err="1">
                <a:solidFill>
                  <a:srgbClr val="242424"/>
                </a:solidFill>
                <a:effectLst/>
                <a:latin typeface="source-serif-pro"/>
              </a:rPr>
              <a:t>ackpropagation</a:t>
            </a:r>
            <a:r>
              <a:rPr lang="tr-TR" b="0" i="0" dirty="0">
                <a:solidFill>
                  <a:srgbClr val="242424"/>
                </a:solidFill>
                <a:effectLst/>
                <a:latin typeface="source-serif-pro"/>
              </a:rPr>
              <a:t> - </a:t>
            </a:r>
            <a:r>
              <a:rPr lang="tr-TR" b="0" i="0" dirty="0">
                <a:solidFill>
                  <a:srgbClr val="202124"/>
                </a:solidFill>
                <a:effectLst/>
                <a:latin typeface="Google Sans"/>
              </a:rPr>
              <a:t>Geri Yayılım</a:t>
            </a:r>
            <a:endParaRPr lang="tr-TR" dirty="0"/>
          </a:p>
        </p:txBody>
      </p:sp>
      <p:sp>
        <p:nvSpPr>
          <p:cNvPr id="3" name="İçerik Yer Tutucusu 2">
            <a:extLst>
              <a:ext uri="{FF2B5EF4-FFF2-40B4-BE49-F238E27FC236}">
                <a16:creationId xmlns:a16="http://schemas.microsoft.com/office/drawing/2014/main" id="{6048ED1A-E191-DD1A-40A5-336F15779194}"/>
              </a:ext>
            </a:extLst>
          </p:cNvPr>
          <p:cNvSpPr>
            <a:spLocks noGrp="1"/>
          </p:cNvSpPr>
          <p:nvPr>
            <p:ph idx="1"/>
          </p:nvPr>
        </p:nvSpPr>
        <p:spPr>
          <a:xfrm>
            <a:off x="838200" y="1481328"/>
            <a:ext cx="10515600" cy="5175503"/>
          </a:xfrm>
        </p:spPr>
        <p:txBody>
          <a:bodyPr>
            <a:normAutofit fontScale="70000" lnSpcReduction="20000"/>
          </a:bodyPr>
          <a:lstStyle/>
          <a:p>
            <a:pPr marL="0" indent="0" algn="just">
              <a:buNone/>
            </a:pPr>
            <a:r>
              <a:rPr lang="tr-TR" b="0" i="0" dirty="0">
                <a:effectLst/>
                <a:latin typeface="Arial" panose="020B0604020202020204" pitchFamily="34" charset="0"/>
                <a:cs typeface="Arial" panose="020B0604020202020204" pitchFamily="34" charset="0"/>
              </a:rPr>
              <a:t>Ağırlıkları ve sapmaları (</a:t>
            </a:r>
            <a:r>
              <a:rPr lang="tr-TR" b="0" i="0" dirty="0" err="1">
                <a:effectLst/>
                <a:latin typeface="Arial" panose="020B0604020202020204" pitchFamily="34" charset="0"/>
                <a:cs typeface="Arial" panose="020B0604020202020204" pitchFamily="34" charset="0"/>
              </a:rPr>
              <a:t>bias</a:t>
            </a:r>
            <a:r>
              <a:rPr lang="tr-TR" b="0" i="0" dirty="0">
                <a:effectLst/>
                <a:latin typeface="Arial" panose="020B0604020202020204" pitchFamily="34" charset="0"/>
                <a:cs typeface="Arial" panose="020B0604020202020204" pitchFamily="34" charset="0"/>
              </a:rPr>
              <a:t>) ayarlamak için kullanılır ve ağın hata miktarını minimize etmeye çalışır. </a:t>
            </a:r>
            <a:r>
              <a:rPr lang="tr-TR" b="0" i="0" dirty="0" err="1">
                <a:effectLst/>
                <a:latin typeface="Arial" panose="020B0604020202020204" pitchFamily="34" charset="0"/>
                <a:cs typeface="Arial" panose="020B0604020202020204" pitchFamily="34" charset="0"/>
              </a:rPr>
              <a:t>Backpropagation</a:t>
            </a:r>
            <a:r>
              <a:rPr lang="tr-TR" b="0" i="0" dirty="0">
                <a:effectLst/>
                <a:latin typeface="Arial" panose="020B0604020202020204" pitchFamily="34" charset="0"/>
                <a:cs typeface="Arial" panose="020B0604020202020204" pitchFamily="34" charset="0"/>
              </a:rPr>
              <a:t> algoritması, ağın veri üzerindeki tahminlerinin gerçek değerlerden ne kadar uzak olduğunu ölçer ve bu hatayı geriye doğru yayarak ağın her bir katmanındaki parametreleri günceller.</a:t>
            </a:r>
          </a:p>
          <a:p>
            <a:pPr marL="0" indent="0" algn="just">
              <a:buNone/>
            </a:pPr>
            <a:endParaRPr lang="tr-TR" b="0" i="0" dirty="0">
              <a:effectLst/>
              <a:latin typeface="Arial" panose="020B0604020202020204" pitchFamily="34" charset="0"/>
              <a:cs typeface="Arial" panose="020B0604020202020204" pitchFamily="34" charset="0"/>
            </a:endParaRPr>
          </a:p>
          <a:p>
            <a:pPr marL="0" indent="0" algn="just">
              <a:buNone/>
            </a:pPr>
            <a:r>
              <a:rPr lang="tr-TR" b="0" i="0" dirty="0">
                <a:effectLst/>
                <a:latin typeface="Arial" panose="020B0604020202020204" pitchFamily="34" charset="0"/>
                <a:cs typeface="Arial" panose="020B0604020202020204" pitchFamily="34" charset="0"/>
              </a:rPr>
              <a:t>Örneğin, bir yapay sinir ağı elinizdeki bir veri setini sınıflandırmak için kullanılıyor olsun. İlk başta, ağırlıklar ve sapmalar (</a:t>
            </a:r>
            <a:r>
              <a:rPr lang="tr-TR" b="0" i="0" dirty="0" err="1">
                <a:effectLst/>
                <a:latin typeface="Arial" panose="020B0604020202020204" pitchFamily="34" charset="0"/>
                <a:cs typeface="Arial" panose="020B0604020202020204" pitchFamily="34" charset="0"/>
              </a:rPr>
              <a:t>bias</a:t>
            </a:r>
            <a:r>
              <a:rPr lang="tr-TR" b="0" i="0" dirty="0">
                <a:effectLst/>
                <a:latin typeface="Arial" panose="020B0604020202020204" pitchFamily="34" charset="0"/>
                <a:cs typeface="Arial" panose="020B0604020202020204" pitchFamily="34" charset="0"/>
              </a:rPr>
              <a:t>) rastgele atanır. Veri setindeki her bir örnek ağa girdi olarak verilir ve ağın çıktısı elde edilir. Ardından, bu çıktı gerçek etiketle (ya da beklenen çıktıyla) karşılaştırılır ve aradaki fark ölçülür (hata hesaplanır).</a:t>
            </a:r>
          </a:p>
          <a:p>
            <a:pPr marL="0" indent="0" algn="just">
              <a:buNone/>
            </a:pPr>
            <a:endParaRPr lang="tr-TR" b="0" i="0" dirty="0">
              <a:effectLst/>
              <a:latin typeface="Arial" panose="020B0604020202020204" pitchFamily="34" charset="0"/>
              <a:cs typeface="Arial" panose="020B0604020202020204" pitchFamily="34" charset="0"/>
            </a:endParaRPr>
          </a:p>
          <a:p>
            <a:pPr marL="0" indent="0" algn="just">
              <a:buNone/>
            </a:pPr>
            <a:r>
              <a:rPr lang="tr-TR" b="0" i="0" dirty="0" err="1">
                <a:effectLst/>
                <a:latin typeface="Arial" panose="020B0604020202020204" pitchFamily="34" charset="0"/>
                <a:cs typeface="Arial" panose="020B0604020202020204" pitchFamily="34" charset="0"/>
              </a:rPr>
              <a:t>Backpropagation</a:t>
            </a:r>
            <a:r>
              <a:rPr lang="tr-TR" b="0" i="0" dirty="0">
                <a:effectLst/>
                <a:latin typeface="Arial" panose="020B0604020202020204" pitchFamily="34" charset="0"/>
                <a:cs typeface="Arial" panose="020B0604020202020204" pitchFamily="34" charset="0"/>
              </a:rPr>
              <a:t> adımı, bu hata değerini ağın katmanları boyunca geriye doğru yaymaktır. Geriye doğru, her bir katmanda, hatanın o katmandaki parametrelere (ağırlıklar ve sapmalar) olan katkısı hesaplanır. Bu katkılar, gradyanlar olarak adlandırılır. Ardından, gradyanlara dayanarak, ağın parametreleri (ağırlıklar ve sapmalar) güncellenir. Bu güncelleme, hatanın minimum olduğu yönde ilerlemeyi sağlar.</a:t>
            </a:r>
          </a:p>
          <a:p>
            <a:pPr marL="0" indent="0" algn="just">
              <a:buNone/>
            </a:pPr>
            <a:endParaRPr lang="tr-TR" b="0" i="0" dirty="0">
              <a:effectLst/>
              <a:latin typeface="Arial" panose="020B0604020202020204" pitchFamily="34" charset="0"/>
              <a:cs typeface="Arial" panose="020B0604020202020204" pitchFamily="34" charset="0"/>
            </a:endParaRPr>
          </a:p>
          <a:p>
            <a:pPr marL="0" indent="0" algn="just">
              <a:buNone/>
            </a:pPr>
            <a:r>
              <a:rPr lang="tr-TR" b="0" i="0" dirty="0">
                <a:effectLst/>
                <a:latin typeface="Arial" panose="020B0604020202020204" pitchFamily="34" charset="0"/>
                <a:cs typeface="Arial" panose="020B0604020202020204" pitchFamily="34" charset="0"/>
              </a:rPr>
              <a:t>Bu süreç, veri setinin tüm örnekleri üzerinde tekrarlanır. Her iterasyon, ağın tahminlerini gerçek değerlere daha da yaklaştırarak, ağın daha iyi öğrenmesini sağlar. </a:t>
            </a:r>
            <a:r>
              <a:rPr lang="tr-TR" b="0" i="0" dirty="0" err="1">
                <a:effectLst/>
                <a:latin typeface="Arial" panose="020B0604020202020204" pitchFamily="34" charset="0"/>
                <a:cs typeface="Arial" panose="020B0604020202020204" pitchFamily="34" charset="0"/>
              </a:rPr>
              <a:t>Backpropagation</a:t>
            </a:r>
            <a:r>
              <a:rPr lang="tr-TR" b="0" i="0" dirty="0">
                <a:effectLst/>
                <a:latin typeface="Arial" panose="020B0604020202020204" pitchFamily="34" charset="0"/>
                <a:cs typeface="Arial" panose="020B0604020202020204" pitchFamily="34" charset="0"/>
              </a:rPr>
              <a:t>, yapay sinir ağlarının eğitiminde kullanılan en yaygın ve etkili yöntemlerden biridir.</a:t>
            </a:r>
          </a:p>
          <a:p>
            <a:pPr algn="just"/>
            <a:endParaRPr lang="tr-T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965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2C7695F-754B-9119-0CF7-09B96EF24AE0}"/>
              </a:ext>
            </a:extLst>
          </p:cNvPr>
          <p:cNvSpPr>
            <a:spLocks noGrp="1"/>
          </p:cNvSpPr>
          <p:nvPr>
            <p:ph type="title"/>
          </p:nvPr>
        </p:nvSpPr>
        <p:spPr/>
        <p:txBody>
          <a:bodyPr/>
          <a:lstStyle/>
          <a:p>
            <a:pPr algn="ctr"/>
            <a:r>
              <a:rPr lang="tr-TR" dirty="0"/>
              <a:t>Optimizasyon Fonksiyonları</a:t>
            </a:r>
          </a:p>
        </p:txBody>
      </p:sp>
      <p:sp>
        <p:nvSpPr>
          <p:cNvPr id="3" name="İçerik Yer Tutucusu 2">
            <a:extLst>
              <a:ext uri="{FF2B5EF4-FFF2-40B4-BE49-F238E27FC236}">
                <a16:creationId xmlns:a16="http://schemas.microsoft.com/office/drawing/2014/main" id="{F1BBA606-ECA4-5EAE-78D3-EB7D23207D8A}"/>
              </a:ext>
            </a:extLst>
          </p:cNvPr>
          <p:cNvSpPr>
            <a:spLocks noGrp="1"/>
          </p:cNvSpPr>
          <p:nvPr>
            <p:ph idx="1"/>
          </p:nvPr>
        </p:nvSpPr>
        <p:spPr>
          <a:xfrm>
            <a:off x="838200" y="1825625"/>
            <a:ext cx="6705600" cy="4351338"/>
          </a:xfrm>
        </p:spPr>
        <p:txBody>
          <a:bodyPr/>
          <a:lstStyle/>
          <a:p>
            <a:pPr marL="0" indent="0">
              <a:buNone/>
            </a:pPr>
            <a:r>
              <a:rPr lang="tr-TR" b="0" i="0" dirty="0">
                <a:effectLst/>
                <a:latin typeface="Arial" panose="020B0604020202020204" pitchFamily="34" charset="0"/>
                <a:cs typeface="Arial" panose="020B0604020202020204" pitchFamily="34" charset="0"/>
              </a:rPr>
              <a:t>Optimizasyon fonksiyonları, yapay sinir ağlarında modelin eğitim sırasında ağırlıkları güncellemek için kullanılan matematiksel yöntemlerdir. Bu fonksiyonlar, ağın öğrenme sürecini optimize etmeye yararlar, yani ağın hata fonksiyonunu minimize etmeye çalışırlar. Bir optimizasyon fonksiyonunun amacı, ağın parametrelerini (ağırlıklarını) güncellemek ve en iyi sonucu elde etmek için uygun bir yöntem sunmaktır.</a:t>
            </a:r>
          </a:p>
          <a:p>
            <a:endParaRPr lang="tr-TR" dirty="0">
              <a:latin typeface="Arial" panose="020B0604020202020204" pitchFamily="34" charset="0"/>
              <a:cs typeface="Arial" panose="020B0604020202020204" pitchFamily="34" charset="0"/>
            </a:endParaRPr>
          </a:p>
        </p:txBody>
      </p:sp>
      <p:pic>
        <p:nvPicPr>
          <p:cNvPr id="5" name="Resim 4">
            <a:extLst>
              <a:ext uri="{FF2B5EF4-FFF2-40B4-BE49-F238E27FC236}">
                <a16:creationId xmlns:a16="http://schemas.microsoft.com/office/drawing/2014/main" id="{C8810D85-A07C-14F3-B5E8-90FDDA2514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1337" y="2185415"/>
            <a:ext cx="4057120" cy="2917151"/>
          </a:xfrm>
          <a:prstGeom prst="rect">
            <a:avLst/>
          </a:prstGeom>
        </p:spPr>
      </p:pic>
    </p:spTree>
    <p:extLst>
      <p:ext uri="{BB962C8B-B14F-4D97-AF65-F5344CB8AC3E}">
        <p14:creationId xmlns:p14="http://schemas.microsoft.com/office/powerpoint/2010/main" val="4248815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44FAF9B-3EFD-CABA-88E6-94B816B23CD2}"/>
              </a:ext>
            </a:extLst>
          </p:cNvPr>
          <p:cNvSpPr>
            <a:spLocks noGrp="1"/>
          </p:cNvSpPr>
          <p:nvPr>
            <p:ph type="title"/>
          </p:nvPr>
        </p:nvSpPr>
        <p:spPr/>
        <p:txBody>
          <a:bodyPr/>
          <a:lstStyle/>
          <a:p>
            <a:pPr algn="ctr"/>
            <a:r>
              <a:rPr lang="tr-TR" b="0" i="0" dirty="0" err="1">
                <a:effectLst/>
                <a:latin typeface="Arial" panose="020B0604020202020204" pitchFamily="34" charset="0"/>
                <a:cs typeface="Arial" panose="020B0604020202020204" pitchFamily="34" charset="0"/>
              </a:rPr>
              <a:t>Stochastic</a:t>
            </a:r>
            <a:r>
              <a:rPr lang="tr-TR" b="0" i="0" dirty="0">
                <a:effectLst/>
                <a:latin typeface="Arial" panose="020B0604020202020204" pitchFamily="34" charset="0"/>
                <a:cs typeface="Arial" panose="020B0604020202020204" pitchFamily="34" charset="0"/>
              </a:rPr>
              <a:t> </a:t>
            </a:r>
            <a:r>
              <a:rPr lang="tr-TR" dirty="0" err="1">
                <a:latin typeface="Arial" panose="020B0604020202020204" pitchFamily="34" charset="0"/>
                <a:cs typeface="Arial" panose="020B0604020202020204" pitchFamily="34" charset="0"/>
              </a:rPr>
              <a:t>Gradient</a:t>
            </a:r>
            <a:r>
              <a:rPr lang="tr-TR" dirty="0">
                <a:latin typeface="Arial" panose="020B0604020202020204" pitchFamily="34" charset="0"/>
                <a:cs typeface="Arial" panose="020B0604020202020204" pitchFamily="34" charset="0"/>
              </a:rPr>
              <a:t> </a:t>
            </a:r>
            <a:r>
              <a:rPr lang="tr-TR" dirty="0" err="1">
                <a:latin typeface="Arial" panose="020B0604020202020204" pitchFamily="34" charset="0"/>
                <a:cs typeface="Arial" panose="020B0604020202020204" pitchFamily="34" charset="0"/>
              </a:rPr>
              <a:t>Descent</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C3F3EE9B-89DE-E4A9-CC3B-DCFA3AD7B127}"/>
              </a:ext>
            </a:extLst>
          </p:cNvPr>
          <p:cNvSpPr>
            <a:spLocks noGrp="1"/>
          </p:cNvSpPr>
          <p:nvPr>
            <p:ph idx="1"/>
          </p:nvPr>
        </p:nvSpPr>
        <p:spPr>
          <a:xfrm>
            <a:off x="838200" y="1825624"/>
            <a:ext cx="6650736" cy="4785487"/>
          </a:xfrm>
        </p:spPr>
        <p:txBody>
          <a:bodyPr>
            <a:normAutofit fontScale="55000" lnSpcReduction="20000"/>
          </a:bodyPr>
          <a:lstStyle/>
          <a:p>
            <a:pPr marL="0" indent="0" algn="l">
              <a:buNone/>
            </a:pPr>
            <a:r>
              <a:rPr lang="tr-TR" b="0" i="0" dirty="0" err="1">
                <a:effectLst/>
                <a:latin typeface="Arial" panose="020B0604020202020204" pitchFamily="34" charset="0"/>
                <a:cs typeface="Arial" panose="020B0604020202020204" pitchFamily="34" charset="0"/>
              </a:rPr>
              <a:t>Gradient</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Descent</a:t>
            </a:r>
            <a:r>
              <a:rPr lang="tr-TR" b="0" i="0" dirty="0">
                <a:effectLst/>
                <a:latin typeface="Arial" panose="020B0604020202020204" pitchFamily="34" charset="0"/>
                <a:cs typeface="Arial" panose="020B0604020202020204" pitchFamily="34" charset="0"/>
              </a:rPr>
              <a:t>, bir fonksiyonun minimum veya maksimum değerine ulaşmaya çalışırken kullanılan bir optimizasyon algoritmasıdır. Özellikle makine öğrenimi ve yapay zeka gibi alanlarda model parametrelerini ayarlamak için sıkça </a:t>
            </a:r>
            <a:r>
              <a:rPr lang="tr-TR" b="0" i="0" dirty="0" err="1">
                <a:effectLst/>
                <a:latin typeface="Arial" panose="020B0604020202020204" pitchFamily="34" charset="0"/>
                <a:cs typeface="Arial" panose="020B0604020202020204" pitchFamily="34" charset="0"/>
              </a:rPr>
              <a:t>kullanılırTemel</a:t>
            </a:r>
            <a:r>
              <a:rPr lang="tr-TR" b="0" i="0" dirty="0">
                <a:effectLst/>
                <a:latin typeface="Arial" panose="020B0604020202020204" pitchFamily="34" charset="0"/>
                <a:cs typeface="Arial" panose="020B0604020202020204" pitchFamily="34" charset="0"/>
              </a:rPr>
              <a:t> fikir, bir fonksiyonun minimum veya maksimum değerine ulaşmak için fonksiyonun eğiminin (</a:t>
            </a:r>
            <a:r>
              <a:rPr lang="tr-TR" b="0" i="0" dirty="0" err="1">
                <a:effectLst/>
                <a:latin typeface="Arial" panose="020B0604020202020204" pitchFamily="34" charset="0"/>
                <a:cs typeface="Arial" panose="020B0604020202020204" pitchFamily="34" charset="0"/>
              </a:rPr>
              <a:t>gradient</a:t>
            </a:r>
            <a:r>
              <a:rPr lang="tr-TR" b="0" i="0" dirty="0">
                <a:effectLst/>
                <a:latin typeface="Arial" panose="020B0604020202020204" pitchFamily="34" charset="0"/>
                <a:cs typeface="Arial" panose="020B0604020202020204" pitchFamily="34" charset="0"/>
              </a:rPr>
              <a:t>) negatifine doğru adımlar atmaktır. Bu adımlar, fonksiyonun en düşük değerine (minimum) veya en yüksek değerine (maksimum) yaklaşmayı amaçlar.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0" i="0" dirty="0" err="1">
                <a:effectLst/>
                <a:latin typeface="Arial" panose="020B0604020202020204" pitchFamily="34" charset="0"/>
                <a:cs typeface="Arial" panose="020B0604020202020204" pitchFamily="34" charset="0"/>
              </a:rPr>
              <a:t>Gradient</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Descent</a:t>
            </a:r>
            <a:r>
              <a:rPr lang="tr-TR" b="0" i="0" dirty="0">
                <a:effectLst/>
                <a:latin typeface="Arial" panose="020B0604020202020204" pitchFamily="34" charset="0"/>
                <a:cs typeface="Arial" panose="020B0604020202020204" pitchFamily="34" charset="0"/>
              </a:rPr>
              <a:t> algoritması, başlangıçta rastgele seçilen bir noktadan başlar ve fonksiyonun eğimi (</a:t>
            </a:r>
            <a:r>
              <a:rPr lang="tr-TR" b="0" i="0" dirty="0" err="1">
                <a:effectLst/>
                <a:latin typeface="Arial" panose="020B0604020202020204" pitchFamily="34" charset="0"/>
                <a:cs typeface="Arial" panose="020B0604020202020204" pitchFamily="34" charset="0"/>
              </a:rPr>
              <a:t>gradient</a:t>
            </a:r>
            <a:r>
              <a:rPr lang="tr-TR" b="0" i="0" dirty="0">
                <a:effectLst/>
                <a:latin typeface="Arial" panose="020B0604020202020204" pitchFamily="34" charset="0"/>
                <a:cs typeface="Arial" panose="020B0604020202020204" pitchFamily="34" charset="0"/>
              </a:rPr>
              <a:t>) kullanılarak her adımda yeni bir nokta belirler. Bu yeni nokta, mevcut noktanın, eğimin negatif yönde bir miktar hareket ettirilmiş halidir. Bu işlem, fonksiyonun minimum veya maksimum değerine yaklaşmak için iteratif olarak tekrarlanır.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0" i="0" dirty="0">
                <a:effectLst/>
                <a:latin typeface="Arial" panose="020B0604020202020204" pitchFamily="34" charset="0"/>
                <a:cs typeface="Arial" panose="020B0604020202020204" pitchFamily="34" charset="0"/>
              </a:rPr>
              <a:t>Adım boyutu (</a:t>
            </a:r>
            <a:r>
              <a:rPr lang="tr-TR" b="0" i="0" dirty="0" err="1">
                <a:effectLst/>
                <a:latin typeface="Arial" panose="020B0604020202020204" pitchFamily="34" charset="0"/>
                <a:cs typeface="Arial" panose="020B0604020202020204" pitchFamily="34" charset="0"/>
              </a:rPr>
              <a:t>learning</a:t>
            </a:r>
            <a:r>
              <a:rPr lang="tr-TR" b="0" i="0" dirty="0">
                <a:effectLst/>
                <a:latin typeface="Arial" panose="020B0604020202020204" pitchFamily="34" charset="0"/>
                <a:cs typeface="Arial" panose="020B0604020202020204" pitchFamily="34" charset="0"/>
              </a:rPr>
              <a:t> rate), bu adımların büyüklüğünü belirler. Küçük bir adım boyutu, daha güvenilir ancak yavaş bir yaklaşım sağlarken, büyük bir adım boyutu hızlı ancak istikrarsız bir yaklaşım sağlayabilir. Doğru adım boyutunun seçilmesi, algoritmanın başarımını etkileyen önemli bir faktördür.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0" i="0" dirty="0" err="1">
                <a:effectLst/>
                <a:latin typeface="Arial" panose="020B0604020202020204" pitchFamily="34" charset="0"/>
                <a:cs typeface="Arial" panose="020B0604020202020204" pitchFamily="34" charset="0"/>
              </a:rPr>
              <a:t>Gradient</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Descent</a:t>
            </a:r>
            <a:r>
              <a:rPr lang="tr-TR" b="0" i="0" dirty="0">
                <a:effectLst/>
                <a:latin typeface="Arial" panose="020B0604020202020204" pitchFamily="34" charset="0"/>
                <a:cs typeface="Arial" panose="020B0604020202020204" pitchFamily="34" charset="0"/>
              </a:rPr>
              <a:t> algoritması, makine öğrenimi ve yapay zeka alanlarında model parametrelerini eğitirken veya optimize ederken yaygın olarak kullanılır. Bu algoritma, birçok farklı probleme uyarlanabilen genel bir optimizasyon yöntemidir.</a:t>
            </a:r>
          </a:p>
        </p:txBody>
      </p:sp>
      <p:pic>
        <p:nvPicPr>
          <p:cNvPr id="4098" name="Picture 2" descr="Gradient Descent Nedir?. Optimizasyon; problemdeki en iyi sonucu… | by  Mehmet Fatih AKCA | Deep Learning Türkiye | Medium">
            <a:extLst>
              <a:ext uri="{FF2B5EF4-FFF2-40B4-BE49-F238E27FC236}">
                <a16:creationId xmlns:a16="http://schemas.microsoft.com/office/drawing/2014/main" id="{F7FED94D-3D0B-0873-8A41-DF343C115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4424" y="1943100"/>
            <a:ext cx="3749993"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3209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Understanding of Gradient Descent: Intuition and Implementation | by Rishi  | GoPenAI">
            <a:extLst>
              <a:ext uri="{FF2B5EF4-FFF2-40B4-BE49-F238E27FC236}">
                <a16:creationId xmlns:a16="http://schemas.microsoft.com/office/drawing/2014/main" id="{68773E71-5590-7A29-F187-0D3BBFD312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2868" y="1647825"/>
            <a:ext cx="5715000" cy="35623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radient Descent Derivation · Chris McCormick">
            <a:extLst>
              <a:ext uri="{FF2B5EF4-FFF2-40B4-BE49-F238E27FC236}">
                <a16:creationId xmlns:a16="http://schemas.microsoft.com/office/drawing/2014/main" id="{DBCA7547-4F9D-C891-D2A0-24AFE898E2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008" y="214312"/>
            <a:ext cx="5572125" cy="642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951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916C9A1-A538-DE14-1C36-705FBE4608A4}"/>
              </a:ext>
            </a:extLst>
          </p:cNvPr>
          <p:cNvSpPr>
            <a:spLocks noGrp="1"/>
          </p:cNvSpPr>
          <p:nvPr>
            <p:ph type="title"/>
          </p:nvPr>
        </p:nvSpPr>
        <p:spPr/>
        <p:txBody>
          <a:bodyPr/>
          <a:lstStyle/>
          <a:p>
            <a:pPr algn="ctr"/>
            <a:r>
              <a:rPr lang="tr-TR" dirty="0"/>
              <a:t>Momentum</a:t>
            </a:r>
          </a:p>
        </p:txBody>
      </p:sp>
      <p:sp>
        <p:nvSpPr>
          <p:cNvPr id="3" name="İçerik Yer Tutucusu 2">
            <a:extLst>
              <a:ext uri="{FF2B5EF4-FFF2-40B4-BE49-F238E27FC236}">
                <a16:creationId xmlns:a16="http://schemas.microsoft.com/office/drawing/2014/main" id="{1B719116-D6CC-CBB6-0D6F-9DD08198A1EC}"/>
              </a:ext>
            </a:extLst>
          </p:cNvPr>
          <p:cNvSpPr>
            <a:spLocks noGrp="1"/>
          </p:cNvSpPr>
          <p:nvPr>
            <p:ph idx="1"/>
          </p:nvPr>
        </p:nvSpPr>
        <p:spPr>
          <a:xfrm>
            <a:off x="838200" y="1825625"/>
            <a:ext cx="10792968" cy="4351338"/>
          </a:xfrm>
        </p:spPr>
        <p:txBody>
          <a:bodyPr>
            <a:normAutofit fontScale="85000" lnSpcReduction="20000"/>
          </a:bodyPr>
          <a:lstStyle/>
          <a:p>
            <a:pPr marL="0" indent="0" algn="l">
              <a:buNone/>
            </a:pPr>
            <a:r>
              <a:rPr lang="tr-TR" b="0" i="0" dirty="0">
                <a:effectLst/>
                <a:latin typeface="Söhne"/>
              </a:rPr>
              <a:t>SGD (</a:t>
            </a:r>
            <a:r>
              <a:rPr lang="tr-TR" b="0" i="0" dirty="0" err="1">
                <a:effectLst/>
                <a:latin typeface="Söhne"/>
              </a:rPr>
              <a:t>Stochastic</a:t>
            </a:r>
            <a:r>
              <a:rPr lang="tr-TR" b="0" i="0" dirty="0">
                <a:effectLst/>
                <a:latin typeface="Söhne"/>
              </a:rPr>
              <a:t> </a:t>
            </a:r>
            <a:r>
              <a:rPr lang="tr-TR" b="0" i="0" dirty="0" err="1">
                <a:effectLst/>
                <a:latin typeface="Söhne"/>
              </a:rPr>
              <a:t>Gradient</a:t>
            </a:r>
            <a:r>
              <a:rPr lang="tr-TR" b="0" i="0" dirty="0">
                <a:effectLst/>
                <a:latin typeface="Söhne"/>
              </a:rPr>
              <a:t> </a:t>
            </a:r>
            <a:r>
              <a:rPr lang="tr-TR" b="0" i="0" dirty="0" err="1">
                <a:effectLst/>
                <a:latin typeface="Söhne"/>
              </a:rPr>
              <a:t>Descent</a:t>
            </a:r>
            <a:r>
              <a:rPr lang="tr-TR" b="0" i="0" dirty="0">
                <a:effectLst/>
                <a:latin typeface="Söhne"/>
              </a:rPr>
              <a:t>), yapay sinir ağlarında kullanılan en temel optimizasyon algoritmalarından biridir. Gradyan azalma yöntemlerinden türetilmiştir ve ağırlıkları güncellemek için gradyanın negatif yönünde bir adım atar. Ancak, tüm eğitim veri setini kullanmak yerine, her bir adımda rastgele seçilen bir alt küme (mini-</a:t>
            </a:r>
            <a:r>
              <a:rPr lang="tr-TR" b="0" i="0" dirty="0" err="1">
                <a:effectLst/>
                <a:latin typeface="Söhne"/>
              </a:rPr>
              <a:t>batch</a:t>
            </a:r>
            <a:r>
              <a:rPr lang="tr-TR" b="0" i="0" dirty="0">
                <a:effectLst/>
                <a:latin typeface="Söhne"/>
              </a:rPr>
              <a:t>) üzerinde gradyanı hesaplar. Bu da eğitim sürecini hızlandırabilir ve daha düşük bellek gereksinimleriyle çalışabilir.</a:t>
            </a:r>
          </a:p>
          <a:p>
            <a:pPr marL="0" indent="0" algn="l">
              <a:buNone/>
            </a:pPr>
            <a:endParaRPr lang="tr-TR" b="0" i="0" dirty="0">
              <a:effectLst/>
              <a:latin typeface="Söhne"/>
            </a:endParaRPr>
          </a:p>
          <a:p>
            <a:pPr marL="0" indent="0" algn="l">
              <a:buNone/>
            </a:pPr>
            <a:r>
              <a:rPr lang="tr-TR" b="0" i="0" dirty="0">
                <a:effectLst/>
                <a:latin typeface="Söhne"/>
              </a:rPr>
              <a:t>SGD, her adımda gradyanın negatif yönünde bir adım atarak ağırlıkları günceller. Fakat bu yaklaşım, bazı zorluklarla karşılaşabilir. Örneğin, eğitim süreci oldukça gürültülü olabilir ve gradyanın birinci dereceden yaklaşık olmasına yol açabilir.</a:t>
            </a:r>
          </a:p>
          <a:p>
            <a:pPr marL="0" indent="0" algn="l">
              <a:buNone/>
            </a:pPr>
            <a:endParaRPr lang="tr-TR" b="0" i="0" dirty="0">
              <a:effectLst/>
              <a:latin typeface="Söhne"/>
            </a:endParaRPr>
          </a:p>
          <a:p>
            <a:pPr marL="0" indent="0" algn="l">
              <a:buNone/>
            </a:pPr>
            <a:r>
              <a:rPr lang="tr-TR" b="0" i="0" dirty="0">
                <a:effectLst/>
                <a:latin typeface="Söhne"/>
              </a:rPr>
              <a:t>Bu tür durumları ele almak için momentum kullanılır. Momentum, ağırlıkların güncellenmesi sırasında geçmiş gradyanları dikkate alır ve bu sayede gradyan gürültüsünü azaltarak daha hızlı ve dengeli bir eğitim süreci sağlar.</a:t>
            </a:r>
          </a:p>
          <a:p>
            <a:endParaRPr lang="tr-TR" dirty="0"/>
          </a:p>
        </p:txBody>
      </p:sp>
    </p:spTree>
    <p:extLst>
      <p:ext uri="{BB962C8B-B14F-4D97-AF65-F5344CB8AC3E}">
        <p14:creationId xmlns:p14="http://schemas.microsoft.com/office/powerpoint/2010/main" val="305795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A025C6-768A-1D3B-C987-EFFCAD68D56A}"/>
              </a:ext>
            </a:extLst>
          </p:cNvPr>
          <p:cNvSpPr>
            <a:spLocks noGrp="1"/>
          </p:cNvSpPr>
          <p:nvPr>
            <p:ph type="title"/>
          </p:nvPr>
        </p:nvSpPr>
        <p:spPr/>
        <p:txBody>
          <a:bodyPr/>
          <a:lstStyle/>
          <a:p>
            <a:pPr algn="ctr"/>
            <a:r>
              <a:rPr lang="tr-TR" dirty="0"/>
              <a:t>Momentum</a:t>
            </a:r>
          </a:p>
        </p:txBody>
      </p:sp>
      <p:pic>
        <p:nvPicPr>
          <p:cNvPr id="5" name="İçerik Yer Tutucusu 4">
            <a:extLst>
              <a:ext uri="{FF2B5EF4-FFF2-40B4-BE49-F238E27FC236}">
                <a16:creationId xmlns:a16="http://schemas.microsoft.com/office/drawing/2014/main" id="{04EC1A1D-F4AE-5CE7-A821-C48D09C24E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2728" y="1569592"/>
            <a:ext cx="6524907" cy="4837859"/>
          </a:xfrm>
        </p:spPr>
      </p:pic>
      <p:pic>
        <p:nvPicPr>
          <p:cNvPr id="3074" name="Picture 2" descr="SGD with Momentum Explained | Papers With Code">
            <a:extLst>
              <a:ext uri="{FF2B5EF4-FFF2-40B4-BE49-F238E27FC236}">
                <a16:creationId xmlns:a16="http://schemas.microsoft.com/office/drawing/2014/main" id="{167E4E73-C5CF-2DB1-0DFF-C8E864FCC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504" y="1611819"/>
            <a:ext cx="5269125" cy="1380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2013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BAE496F-244F-88E3-5F67-59AAB99A4C53}"/>
              </a:ext>
            </a:extLst>
          </p:cNvPr>
          <p:cNvSpPr>
            <a:spLocks noGrp="1"/>
          </p:cNvSpPr>
          <p:nvPr>
            <p:ph type="title"/>
          </p:nvPr>
        </p:nvSpPr>
        <p:spPr/>
        <p:txBody>
          <a:bodyPr/>
          <a:lstStyle/>
          <a:p>
            <a:pPr algn="ctr"/>
            <a:r>
              <a:rPr lang="tr-TR" dirty="0"/>
              <a:t>Farklar</a:t>
            </a:r>
          </a:p>
        </p:txBody>
      </p:sp>
      <p:pic>
        <p:nvPicPr>
          <p:cNvPr id="4100" name="Picture 4" descr="Optimizers in Deep Learning: A Comprehensive Guide">
            <a:extLst>
              <a:ext uri="{FF2B5EF4-FFF2-40B4-BE49-F238E27FC236}">
                <a16:creationId xmlns:a16="http://schemas.microsoft.com/office/drawing/2014/main" id="{B790A11F-EE99-29F1-4027-ADA997B2F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5234" y="1715294"/>
            <a:ext cx="59055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35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C3543FB-5C74-16BB-7E8C-8207165CDC5E}"/>
              </a:ext>
            </a:extLst>
          </p:cNvPr>
          <p:cNvSpPr>
            <a:spLocks noGrp="1"/>
          </p:cNvSpPr>
          <p:nvPr>
            <p:ph type="title"/>
          </p:nvPr>
        </p:nvSpPr>
        <p:spPr/>
        <p:txBody>
          <a:bodyPr/>
          <a:lstStyle/>
          <a:p>
            <a:pPr algn="ctr"/>
            <a:r>
              <a:rPr lang="tr-TR" b="0" i="0" dirty="0" err="1">
                <a:effectLst/>
                <a:latin typeface="Arial" panose="020B0604020202020204" pitchFamily="34" charset="0"/>
                <a:cs typeface="Arial" panose="020B0604020202020204" pitchFamily="34" charset="0"/>
              </a:rPr>
              <a:t>Classification</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and</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Regression</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Trees</a:t>
            </a:r>
            <a:r>
              <a:rPr lang="tr-TR" b="0" i="0" dirty="0">
                <a:effectLst/>
                <a:latin typeface="Arial" panose="020B0604020202020204" pitchFamily="34" charset="0"/>
                <a:cs typeface="Arial" panose="020B0604020202020204" pitchFamily="34" charset="0"/>
              </a:rPr>
              <a:t>  CART</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C0D8141C-5D72-60BB-CE75-3285FD2632F9}"/>
              </a:ext>
            </a:extLst>
          </p:cNvPr>
          <p:cNvSpPr>
            <a:spLocks noGrp="1"/>
          </p:cNvSpPr>
          <p:nvPr>
            <p:ph idx="1"/>
          </p:nvPr>
        </p:nvSpPr>
        <p:spPr>
          <a:xfrm>
            <a:off x="838200" y="1825625"/>
            <a:ext cx="4015636" cy="4351338"/>
          </a:xfrm>
        </p:spPr>
        <p:txBody>
          <a:bodyPr>
            <a:normAutofit fontScale="70000" lnSpcReduction="20000"/>
          </a:bodyPr>
          <a:lstStyle/>
          <a:p>
            <a:pPr marL="0" indent="0" algn="just">
              <a:buNone/>
            </a:pPr>
            <a:r>
              <a:rPr lang="tr-TR" dirty="0">
                <a:latin typeface="Arial" panose="020B0604020202020204" pitchFamily="34" charset="0"/>
                <a:cs typeface="Arial" panose="020B0604020202020204" pitchFamily="34" charset="0"/>
              </a:rPr>
              <a:t>S</a:t>
            </a:r>
            <a:r>
              <a:rPr lang="tr-TR" b="0" i="0" dirty="0">
                <a:effectLst/>
                <a:latin typeface="Arial" panose="020B0604020202020204" pitchFamily="34" charset="0"/>
                <a:cs typeface="Arial" panose="020B0604020202020204" pitchFamily="34" charset="0"/>
              </a:rPr>
              <a:t>ınıflandırma ve regresyon için kullanılan bir karar ağacı algoritmasıdır. Bu algoritma, veri kümesini kullanarak bir ağaç yapısı oluşturur ve verileri sınıflandırma veya regresyon yapmak için kullanılır.</a:t>
            </a:r>
          </a:p>
          <a:p>
            <a:pPr marL="0" indent="0" algn="just">
              <a:buNone/>
            </a:pPr>
            <a:r>
              <a:rPr lang="tr-TR" b="0" i="0" dirty="0">
                <a:effectLst/>
                <a:latin typeface="Arial" panose="020B0604020202020204" pitchFamily="34" charset="0"/>
                <a:cs typeface="Arial" panose="020B0604020202020204" pitchFamily="34" charset="0"/>
              </a:rPr>
              <a:t>CART algoritması, her bir düğümde belirli bir özelliği (</a:t>
            </a:r>
            <a:r>
              <a:rPr lang="tr-TR" b="0" i="0" dirty="0" err="1">
                <a:effectLst/>
                <a:latin typeface="Arial" panose="020B0604020202020204" pitchFamily="34" charset="0"/>
                <a:cs typeface="Arial" panose="020B0604020202020204" pitchFamily="34" charset="0"/>
              </a:rPr>
              <a:t>feature</a:t>
            </a:r>
            <a:r>
              <a:rPr lang="tr-TR" b="0" i="0" dirty="0">
                <a:effectLst/>
                <a:latin typeface="Arial" panose="020B0604020202020204" pitchFamily="34" charset="0"/>
                <a:cs typeface="Arial" panose="020B0604020202020204" pitchFamily="34" charset="0"/>
              </a:rPr>
              <a:t>) ve o özelliğin belirli bir değer aralığını (</a:t>
            </a:r>
            <a:r>
              <a:rPr lang="tr-TR" b="0" i="0" dirty="0" err="1">
                <a:effectLst/>
                <a:latin typeface="Arial" panose="020B0604020202020204" pitchFamily="34" charset="0"/>
                <a:cs typeface="Arial" panose="020B0604020202020204" pitchFamily="34" charset="0"/>
              </a:rPr>
              <a:t>threshold</a:t>
            </a:r>
            <a:r>
              <a:rPr lang="tr-TR" b="0" i="0" dirty="0">
                <a:effectLst/>
                <a:latin typeface="Arial" panose="020B0604020202020204" pitchFamily="34" charset="0"/>
                <a:cs typeface="Arial" panose="020B0604020202020204" pitchFamily="34" charset="0"/>
              </a:rPr>
              <a:t>) kullanarak veriyi bölme stratejisine dayanır. Bu şekilde, veri kümesi belirli bir ölçüde homojen alt kümeler veya düğümler halinde ayrılır. Veri kümesi bölündükçe, bu işlem tekrarlanır ve bir ağaç yapısı oluşturulur.</a:t>
            </a:r>
          </a:p>
          <a:p>
            <a:pPr algn="just"/>
            <a:endParaRPr lang="tr-TR" dirty="0">
              <a:latin typeface="Arial" panose="020B0604020202020204" pitchFamily="34" charset="0"/>
              <a:cs typeface="Arial" panose="020B0604020202020204" pitchFamily="34" charset="0"/>
            </a:endParaRPr>
          </a:p>
        </p:txBody>
      </p:sp>
      <p:pic>
        <p:nvPicPr>
          <p:cNvPr id="5" name="Resim 4">
            <a:extLst>
              <a:ext uri="{FF2B5EF4-FFF2-40B4-BE49-F238E27FC236}">
                <a16:creationId xmlns:a16="http://schemas.microsoft.com/office/drawing/2014/main" id="{88E36B1C-F9CA-F862-2742-BE61D1FA0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3102" y="1893218"/>
            <a:ext cx="7278898" cy="3950256"/>
          </a:xfrm>
          <a:prstGeom prst="rect">
            <a:avLst/>
          </a:prstGeom>
        </p:spPr>
      </p:pic>
      <p:sp>
        <p:nvSpPr>
          <p:cNvPr id="6" name="Metin kutusu 5">
            <a:extLst>
              <a:ext uri="{FF2B5EF4-FFF2-40B4-BE49-F238E27FC236}">
                <a16:creationId xmlns:a16="http://schemas.microsoft.com/office/drawing/2014/main" id="{A689CC73-2A9D-30C2-3320-D30B970B2E44}"/>
              </a:ext>
            </a:extLst>
          </p:cNvPr>
          <p:cNvSpPr txBox="1"/>
          <p:nvPr/>
        </p:nvSpPr>
        <p:spPr>
          <a:xfrm>
            <a:off x="11812044" y="5574164"/>
            <a:ext cx="439222" cy="369332"/>
          </a:xfrm>
          <a:prstGeom prst="rect">
            <a:avLst/>
          </a:prstGeom>
          <a:noFill/>
        </p:spPr>
        <p:txBody>
          <a:bodyPr wrap="square" rtlCol="0">
            <a:spAutoFit/>
          </a:bodyPr>
          <a:lstStyle/>
          <a:p>
            <a:r>
              <a:rPr lang="tr-TR" dirty="0"/>
              <a:t>….</a:t>
            </a:r>
          </a:p>
        </p:txBody>
      </p:sp>
    </p:spTree>
    <p:extLst>
      <p:ext uri="{BB962C8B-B14F-4D97-AF65-F5344CB8AC3E}">
        <p14:creationId xmlns:p14="http://schemas.microsoft.com/office/powerpoint/2010/main" val="3976996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E52ECE-0439-0DC8-1779-46AF2D15D89C}"/>
              </a:ext>
            </a:extLst>
          </p:cNvPr>
          <p:cNvSpPr>
            <a:spLocks noGrp="1"/>
          </p:cNvSpPr>
          <p:nvPr>
            <p:ph type="title"/>
          </p:nvPr>
        </p:nvSpPr>
        <p:spPr/>
        <p:txBody>
          <a:bodyPr/>
          <a:lstStyle/>
          <a:p>
            <a:pPr algn="ctr"/>
            <a:r>
              <a:rPr lang="tr-TR" b="0" i="0" dirty="0">
                <a:effectLst/>
                <a:latin typeface="Arial" panose="020B0604020202020204" pitchFamily="34" charset="0"/>
                <a:cs typeface="Arial" panose="020B0604020202020204" pitchFamily="34" charset="0"/>
              </a:rPr>
              <a:t>Belirli Temsilci Örnekler – BTR </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9CC2D710-CB1D-E70B-852A-520442C383A6}"/>
              </a:ext>
            </a:extLst>
          </p:cNvPr>
          <p:cNvSpPr>
            <a:spLocks noGrp="1"/>
          </p:cNvSpPr>
          <p:nvPr>
            <p:ph idx="1"/>
          </p:nvPr>
        </p:nvSpPr>
        <p:spPr>
          <a:xfrm>
            <a:off x="838200" y="1825625"/>
            <a:ext cx="5393499" cy="4351338"/>
          </a:xfrm>
        </p:spPr>
        <p:txBody>
          <a:bodyPr>
            <a:normAutofit fontScale="77500" lnSpcReduction="20000"/>
          </a:bodyPr>
          <a:lstStyle/>
          <a:p>
            <a:pPr marL="0" indent="0" algn="l">
              <a:buNone/>
            </a:pPr>
            <a:r>
              <a:rPr lang="tr-TR" dirty="0">
                <a:latin typeface="Arial" panose="020B0604020202020204" pitchFamily="34" charset="0"/>
                <a:cs typeface="Arial" panose="020B0604020202020204" pitchFamily="34" charset="0"/>
              </a:rPr>
              <a:t>B</a:t>
            </a:r>
            <a:r>
              <a:rPr lang="tr-TR" b="0" i="0" dirty="0">
                <a:effectLst/>
                <a:latin typeface="Arial" panose="020B0604020202020204" pitchFamily="34" charset="0"/>
                <a:cs typeface="Arial" panose="020B0604020202020204" pitchFamily="34" charset="0"/>
              </a:rPr>
              <a:t>ir veri setinin daha küçük bir alt kümesini temsil etmek için kullanılan örneklerdir. Bu alt küme, asıl veri setinin önemli özelliklerini veya dağılımını yansıtacak şekilde seçilir.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0" i="0" dirty="0">
                <a:effectLst/>
                <a:latin typeface="Arial" panose="020B0604020202020204" pitchFamily="34" charset="0"/>
                <a:cs typeface="Arial" panose="020B0604020202020204" pitchFamily="34" charset="0"/>
              </a:rPr>
              <a:t>BTR, büyük ve karmaşık veri setlerini daha küçük boyutlara indirgemek veya örneklemek için kullanılır. Özellikle büyük veri setleri üzerinde çalışırken, tüm veriyi işlemek zor veya maliyetli olabilir. Bu durumlarda, veri setini temsil edebilecek daha küçük bir alt küme seçmek veya oluşturmak önemli olabilir. Bu alt küme, veri setinin genel özelliklerini korumaya çalışır.</a:t>
            </a:r>
          </a:p>
          <a:p>
            <a:endParaRPr lang="tr-TR" dirty="0">
              <a:latin typeface="Arial" panose="020B0604020202020204" pitchFamily="34" charset="0"/>
              <a:cs typeface="Arial" panose="020B0604020202020204" pitchFamily="34" charset="0"/>
            </a:endParaRPr>
          </a:p>
        </p:txBody>
      </p:sp>
      <p:pic>
        <p:nvPicPr>
          <p:cNvPr id="1026" name="Picture 2" descr="ML | Bagging classifier - GeeksforGeeks">
            <a:extLst>
              <a:ext uri="{FF2B5EF4-FFF2-40B4-BE49-F238E27FC236}">
                <a16:creationId xmlns:a16="http://schemas.microsoft.com/office/drawing/2014/main" id="{45313C7D-4CBC-E861-3F6F-69316A578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382" y="2242811"/>
            <a:ext cx="5418174" cy="3124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0182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F9CB20D-1E74-C891-9DC2-0DC2C208545D}"/>
              </a:ext>
            </a:extLst>
          </p:cNvPr>
          <p:cNvSpPr>
            <a:spLocks noGrp="1"/>
          </p:cNvSpPr>
          <p:nvPr>
            <p:ph type="title"/>
          </p:nvPr>
        </p:nvSpPr>
        <p:spPr/>
        <p:txBody>
          <a:bodyPr/>
          <a:lstStyle/>
          <a:p>
            <a:pPr algn="ctr"/>
            <a:r>
              <a:rPr lang="tr-TR" dirty="0" err="1">
                <a:latin typeface="Arial" panose="020B0604020202020204" pitchFamily="34" charset="0"/>
                <a:cs typeface="Arial" panose="020B0604020202020204" pitchFamily="34" charset="0"/>
              </a:rPr>
              <a:t>Bagging</a:t>
            </a:r>
            <a:r>
              <a:rPr lang="tr-TR" dirty="0">
                <a:latin typeface="Arial" panose="020B0604020202020204" pitchFamily="34" charset="0"/>
                <a:cs typeface="Arial" panose="020B0604020202020204" pitchFamily="34" charset="0"/>
              </a:rPr>
              <a:t> - </a:t>
            </a:r>
            <a:r>
              <a:rPr lang="tr-TR" dirty="0" err="1">
                <a:latin typeface="Arial" panose="020B0604020202020204" pitchFamily="34" charset="0"/>
                <a:cs typeface="Arial" panose="020B0604020202020204" pitchFamily="34" charset="0"/>
              </a:rPr>
              <a:t>Boosting</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1138BF4E-36E6-D646-C790-15C753FAA33A}"/>
              </a:ext>
            </a:extLst>
          </p:cNvPr>
          <p:cNvSpPr>
            <a:spLocks noGrp="1"/>
          </p:cNvSpPr>
          <p:nvPr>
            <p:ph idx="1"/>
          </p:nvPr>
        </p:nvSpPr>
        <p:spPr>
          <a:xfrm>
            <a:off x="838200" y="1825625"/>
            <a:ext cx="5888277" cy="4351338"/>
          </a:xfrm>
        </p:spPr>
        <p:txBody>
          <a:bodyPr>
            <a:normAutofit fontScale="47500" lnSpcReduction="20000"/>
          </a:bodyPr>
          <a:lstStyle/>
          <a:p>
            <a:pPr marL="0" indent="0" algn="l">
              <a:buNone/>
            </a:pPr>
            <a:r>
              <a:rPr lang="tr-TR" b="0" i="0" dirty="0" err="1">
                <a:effectLst/>
                <a:latin typeface="Arial" panose="020B0604020202020204" pitchFamily="34" charset="0"/>
                <a:cs typeface="Arial" panose="020B0604020202020204" pitchFamily="34" charset="0"/>
              </a:rPr>
              <a:t>Bagging</a:t>
            </a:r>
            <a:r>
              <a:rPr lang="tr-TR" b="0" i="0" dirty="0">
                <a:effectLst/>
                <a:latin typeface="Arial" panose="020B0604020202020204" pitchFamily="34" charset="0"/>
                <a:cs typeface="Arial" panose="020B0604020202020204" pitchFamily="34" charset="0"/>
              </a:rPr>
              <a:t> ve </a:t>
            </a:r>
            <a:r>
              <a:rPr lang="tr-TR" b="0" i="0" dirty="0" err="1">
                <a:effectLst/>
                <a:latin typeface="Arial" panose="020B0604020202020204" pitchFamily="34" charset="0"/>
                <a:cs typeface="Arial" panose="020B0604020202020204" pitchFamily="34" charset="0"/>
              </a:rPr>
              <a:t>boosting</a:t>
            </a:r>
            <a:r>
              <a:rPr lang="tr-TR" b="0" i="0" dirty="0">
                <a:effectLst/>
                <a:latin typeface="Arial" panose="020B0604020202020204" pitchFamily="34" charset="0"/>
                <a:cs typeface="Arial" panose="020B0604020202020204" pitchFamily="34" charset="0"/>
              </a:rPr>
              <a:t>, makine öğrenimi yöntemlerinden ikisi olup, temelde birçok zayıf öğreniciyi bir araya getirerek güçlü bir öğrenici oluşturmayı amaçlar. Ancak, çalışma prensipleri ve birbirlerinden farklı özellikleri vardır.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1" i="0" dirty="0" err="1">
                <a:effectLst/>
                <a:latin typeface="Arial" panose="020B0604020202020204" pitchFamily="34" charset="0"/>
                <a:cs typeface="Arial" panose="020B0604020202020204" pitchFamily="34" charset="0"/>
              </a:rPr>
              <a:t>Bagging</a:t>
            </a:r>
            <a:r>
              <a:rPr lang="tr-TR" b="1" i="0" dirty="0">
                <a:effectLst/>
                <a:latin typeface="Arial" panose="020B0604020202020204" pitchFamily="34" charset="0"/>
                <a:cs typeface="Arial" panose="020B0604020202020204" pitchFamily="34" charset="0"/>
              </a:rPr>
              <a:t> (</a:t>
            </a:r>
            <a:r>
              <a:rPr lang="tr-TR" b="1" i="0" dirty="0" err="1">
                <a:effectLst/>
                <a:latin typeface="Arial" panose="020B0604020202020204" pitchFamily="34" charset="0"/>
                <a:cs typeface="Arial" panose="020B0604020202020204" pitchFamily="34" charset="0"/>
              </a:rPr>
              <a:t>Bootstrap</a:t>
            </a:r>
            <a:r>
              <a:rPr lang="tr-TR" b="1" i="0" dirty="0">
                <a:effectLst/>
                <a:latin typeface="Arial" panose="020B0604020202020204" pitchFamily="34" charset="0"/>
                <a:cs typeface="Arial" panose="020B0604020202020204" pitchFamily="34" charset="0"/>
              </a:rPr>
              <a:t> </a:t>
            </a:r>
            <a:r>
              <a:rPr lang="tr-TR" b="1" i="0" dirty="0" err="1">
                <a:effectLst/>
                <a:latin typeface="Arial" panose="020B0604020202020204" pitchFamily="34" charset="0"/>
                <a:cs typeface="Arial" panose="020B0604020202020204" pitchFamily="34" charset="0"/>
              </a:rPr>
              <a:t>Aggregating</a:t>
            </a:r>
            <a:r>
              <a:rPr lang="tr-TR" b="1" i="0" dirty="0">
                <a:effectLst/>
                <a:latin typeface="Arial" panose="020B0604020202020204" pitchFamily="34" charset="0"/>
                <a:cs typeface="Arial" panose="020B0604020202020204" pitchFamily="34" charset="0"/>
              </a:rPr>
              <a:t>)</a:t>
            </a:r>
            <a:r>
              <a:rPr lang="tr-TR" b="0" i="0" dirty="0">
                <a:effectLst/>
                <a:latin typeface="Arial" panose="020B0604020202020204" pitchFamily="34" charset="0"/>
                <a:cs typeface="Arial" panose="020B0604020202020204" pitchFamily="34" charset="0"/>
              </a:rPr>
              <a:t>:</a:t>
            </a:r>
          </a:p>
          <a:p>
            <a:pPr algn="l"/>
            <a:r>
              <a:rPr lang="tr-TR" b="0" i="0" dirty="0" err="1">
                <a:effectLst/>
                <a:latin typeface="Arial" panose="020B0604020202020204" pitchFamily="34" charset="0"/>
                <a:cs typeface="Arial" panose="020B0604020202020204" pitchFamily="34" charset="0"/>
              </a:rPr>
              <a:t>Bagging</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Bootstrap</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Aggregating'in</a:t>
            </a:r>
            <a:r>
              <a:rPr lang="tr-TR" b="0" i="0" dirty="0">
                <a:effectLst/>
                <a:latin typeface="Arial" panose="020B0604020202020204" pitchFamily="34" charset="0"/>
                <a:cs typeface="Arial" panose="020B0604020202020204" pitchFamily="34" charset="0"/>
              </a:rPr>
              <a:t> kısaltmasıdır. Bu yöntem, veri setinden rastgele örneklemeler alarak ve bu örneklemeler üzerinde farklı modeller eğiterek çalışır. Her örneklem aynı veri setinden rastgele seçilir, ancak bazı örneklerin aynı veri noktalarını içermesi mümkündür (</a:t>
            </a:r>
            <a:r>
              <a:rPr lang="tr-TR" b="0" i="0" dirty="0" err="1">
                <a:effectLst/>
                <a:latin typeface="Arial" panose="020B0604020202020204" pitchFamily="34" charset="0"/>
                <a:cs typeface="Arial" panose="020B0604020202020204" pitchFamily="34" charset="0"/>
              </a:rPr>
              <a:t>bootstrap</a:t>
            </a:r>
            <a:r>
              <a:rPr lang="tr-TR" b="0" i="0" dirty="0">
                <a:effectLst/>
                <a:latin typeface="Arial" panose="020B0604020202020204" pitchFamily="34" charset="0"/>
                <a:cs typeface="Arial" panose="020B0604020202020204" pitchFamily="34" charset="0"/>
              </a:rPr>
              <a:t>). Daha sonra, her bir örneklem üzerinde ayrı modeller eğitilir ve bu modellerin tahminleri ortalaması alınarak veya çoğunluk oyu yöntemiyle sonuç üretilir. </a:t>
            </a:r>
            <a:r>
              <a:rPr lang="tr-TR" b="0" i="0" dirty="0" err="1">
                <a:effectLst/>
                <a:latin typeface="Arial" panose="020B0604020202020204" pitchFamily="34" charset="0"/>
                <a:cs typeface="Arial" panose="020B0604020202020204" pitchFamily="34" charset="0"/>
              </a:rPr>
              <a:t>Bagging</a:t>
            </a:r>
            <a:r>
              <a:rPr lang="tr-TR" b="0" i="0" dirty="0">
                <a:effectLst/>
                <a:latin typeface="Arial" panose="020B0604020202020204" pitchFamily="34" charset="0"/>
                <a:cs typeface="Arial" panose="020B0604020202020204" pitchFamily="34" charset="0"/>
              </a:rPr>
              <a:t>, genellikle karar ağaçları gibi esnek modellerle (farklı alt örneklerde eğitilen birden fazla ağaç) kullanılır.</a:t>
            </a:r>
          </a:p>
          <a:p>
            <a:pPr marL="0" indent="0" algn="l">
              <a:buNone/>
            </a:pPr>
            <a:endParaRPr lang="tr-TR" b="1" i="0" dirty="0">
              <a:effectLst/>
              <a:latin typeface="Arial" panose="020B0604020202020204" pitchFamily="34" charset="0"/>
              <a:cs typeface="Arial" panose="020B0604020202020204" pitchFamily="34" charset="0"/>
            </a:endParaRPr>
          </a:p>
          <a:p>
            <a:pPr marL="0" indent="0" algn="l">
              <a:buNone/>
            </a:pPr>
            <a:r>
              <a:rPr lang="tr-TR" b="1" i="0" dirty="0" err="1">
                <a:effectLst/>
                <a:latin typeface="Arial" panose="020B0604020202020204" pitchFamily="34" charset="0"/>
                <a:cs typeface="Arial" panose="020B0604020202020204" pitchFamily="34" charset="0"/>
              </a:rPr>
              <a:t>Boosting</a:t>
            </a:r>
            <a:r>
              <a:rPr lang="tr-TR" b="0" i="0" dirty="0">
                <a:effectLst/>
                <a:latin typeface="Arial" panose="020B0604020202020204" pitchFamily="34" charset="0"/>
                <a:cs typeface="Arial" panose="020B0604020202020204" pitchFamily="34" charset="0"/>
              </a:rPr>
              <a:t>:</a:t>
            </a:r>
          </a:p>
          <a:p>
            <a:pPr algn="l"/>
            <a:r>
              <a:rPr lang="tr-TR" b="0" i="0" dirty="0" err="1">
                <a:effectLst/>
                <a:latin typeface="Arial" panose="020B0604020202020204" pitchFamily="34" charset="0"/>
                <a:cs typeface="Arial" panose="020B0604020202020204" pitchFamily="34" charset="0"/>
              </a:rPr>
              <a:t>Boosting</a:t>
            </a:r>
            <a:r>
              <a:rPr lang="tr-TR" b="0" i="0" dirty="0">
                <a:effectLst/>
                <a:latin typeface="Arial" panose="020B0604020202020204" pitchFamily="34" charset="0"/>
                <a:cs typeface="Arial" panose="020B0604020202020204" pitchFamily="34" charset="0"/>
              </a:rPr>
              <a:t>, zayıf öğrenicileri bir araya getirerek güçlü bir öğrenici oluşturur. </a:t>
            </a:r>
            <a:r>
              <a:rPr lang="tr-TR" b="0" i="0" dirty="0" err="1">
                <a:effectLst/>
                <a:latin typeface="Arial" panose="020B0604020202020204" pitchFamily="34" charset="0"/>
                <a:cs typeface="Arial" panose="020B0604020202020204" pitchFamily="34" charset="0"/>
              </a:rPr>
              <a:t>Boosting'in</a:t>
            </a:r>
            <a:r>
              <a:rPr lang="tr-TR" b="0" i="0" dirty="0">
                <a:effectLst/>
                <a:latin typeface="Arial" panose="020B0604020202020204" pitchFamily="34" charset="0"/>
                <a:cs typeface="Arial" panose="020B0604020202020204" pitchFamily="34" charset="0"/>
              </a:rPr>
              <a:t> ana fikri, ardışık olarak bir dizi zayıf öğreniciyi eğitmek ve her bir öğrenicinin, önceki öğrencilerin hatalarını düzeltmeye çalışarak öğrenmesini sağlamaktır. </a:t>
            </a:r>
            <a:r>
              <a:rPr lang="tr-TR" b="0" i="0" dirty="0" err="1">
                <a:effectLst/>
                <a:latin typeface="Arial" panose="020B0604020202020204" pitchFamily="34" charset="0"/>
                <a:cs typeface="Arial" panose="020B0604020202020204" pitchFamily="34" charset="0"/>
              </a:rPr>
              <a:t>Boosting</a:t>
            </a:r>
            <a:r>
              <a:rPr lang="tr-TR" b="0" i="0" dirty="0">
                <a:effectLst/>
                <a:latin typeface="Arial" panose="020B0604020202020204" pitchFamily="34" charset="0"/>
                <a:cs typeface="Arial" panose="020B0604020202020204" pitchFamily="34" charset="0"/>
              </a:rPr>
              <a:t> algoritması, her bir modeli önceki modelin hatalarına odaklanarak eğitir. Her iterasyonda, yanlış sınıflandırılan örneklerin ağırlıkları artırılır ve sonraki model, bu örnekleri daha iyi sınıflandırmak üzere eğitilir. Sonuç olarak, bu yöntemler veri setinin zor örneklerine daha fazla odaklanabilir ve genellikle daha karmaşık, güçlü modeller oluşturabilir.</a:t>
            </a:r>
          </a:p>
          <a:p>
            <a:endParaRPr lang="tr-TR" dirty="0">
              <a:latin typeface="Arial" panose="020B0604020202020204" pitchFamily="34" charset="0"/>
              <a:cs typeface="Arial" panose="020B0604020202020204" pitchFamily="34" charset="0"/>
            </a:endParaRPr>
          </a:p>
        </p:txBody>
      </p:sp>
      <p:pic>
        <p:nvPicPr>
          <p:cNvPr id="2050" name="Picture 2" descr="Ensemble Learning: Bagging &amp; Boosting | by Fernando López | Towards Data  Science">
            <a:extLst>
              <a:ext uri="{FF2B5EF4-FFF2-40B4-BE49-F238E27FC236}">
                <a16:creationId xmlns:a16="http://schemas.microsoft.com/office/drawing/2014/main" id="{B2164D48-E614-E828-4A45-8C803A9D5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8628" y="2480155"/>
            <a:ext cx="4695172" cy="2641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870656"/>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1369</TotalTime>
  <Words>2504</Words>
  <Application>Microsoft Office PowerPoint</Application>
  <PresentationFormat>Geniş ekran</PresentationFormat>
  <Paragraphs>152</Paragraphs>
  <Slides>23</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23</vt:i4>
      </vt:variant>
    </vt:vector>
  </HeadingPairs>
  <TitlesOfParts>
    <vt:vector size="31" baseType="lpstr">
      <vt:lpstr>Arial</vt:lpstr>
      <vt:lpstr>Calibri</vt:lpstr>
      <vt:lpstr>Calibri Light</vt:lpstr>
      <vt:lpstr>Google Sans</vt:lpstr>
      <vt:lpstr>sohne</vt:lpstr>
      <vt:lpstr>source-serif-pro</vt:lpstr>
      <vt:lpstr>Söhne</vt:lpstr>
      <vt:lpstr>Office Teması</vt:lpstr>
      <vt:lpstr>PowerPoint Sunusu</vt:lpstr>
      <vt:lpstr>KNN</vt:lpstr>
      <vt:lpstr>KNN</vt:lpstr>
      <vt:lpstr>SVR</vt:lpstr>
      <vt:lpstr>Yapay Sinir Ağı Nedir?</vt:lpstr>
      <vt:lpstr>PowerPoint Sunusu</vt:lpstr>
      <vt:lpstr>PowerPoint Sunusu</vt:lpstr>
      <vt:lpstr>Aktivasyon Fonksiyonu</vt:lpstr>
      <vt:lpstr>PowerPoint Sunusu</vt:lpstr>
      <vt:lpstr>PowerPoint Sunusu</vt:lpstr>
      <vt:lpstr>Sigmoid</vt:lpstr>
      <vt:lpstr>Çıkış Katmanı</vt:lpstr>
      <vt:lpstr>Softmax</vt:lpstr>
      <vt:lpstr>Backpropagation - Geri Yayılım</vt:lpstr>
      <vt:lpstr>Optimizasyon Fonksiyonları</vt:lpstr>
      <vt:lpstr>Stochastic Gradient Descent</vt:lpstr>
      <vt:lpstr>PowerPoint Sunusu</vt:lpstr>
      <vt:lpstr>Momentum</vt:lpstr>
      <vt:lpstr>Momentum</vt:lpstr>
      <vt:lpstr>Farklar</vt:lpstr>
      <vt:lpstr>Classification and Regression Trees  CART</vt:lpstr>
      <vt:lpstr>Belirli Temsilci Örnekler – BTR </vt:lpstr>
      <vt:lpstr>Bagging - Boosting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Noo Nickk</dc:creator>
  <cp:lastModifiedBy>Cengiz Ceylan</cp:lastModifiedBy>
  <cp:revision>19</cp:revision>
  <dcterms:created xsi:type="dcterms:W3CDTF">2023-12-07T11:18:36Z</dcterms:created>
  <dcterms:modified xsi:type="dcterms:W3CDTF">2026-08-04T14:54:40Z</dcterms:modified>
</cp:coreProperties>
</file>