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457A0C-7AC2-9644-7C9C-E9B1846F448B}"/>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A8F82A90-3F32-D99A-3D5A-B5ACDB894B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AE78CAC5-9C6A-86DD-08B0-0483F6C8D4F5}"/>
              </a:ext>
            </a:extLst>
          </p:cNvPr>
          <p:cNvSpPr>
            <a:spLocks noGrp="1"/>
          </p:cNvSpPr>
          <p:nvPr>
            <p:ph type="dt" sz="half" idx="10"/>
          </p:nvPr>
        </p:nvSpPr>
        <p:spPr/>
        <p:txBody>
          <a:bodyPr/>
          <a:lstStyle/>
          <a:p>
            <a:fld id="{F478CFFC-5E90-492A-874B-79F6F9D828B3}" type="datetimeFigureOut">
              <a:rPr lang="tr-TR" smtClean="0"/>
              <a:t>30.07.2026</a:t>
            </a:fld>
            <a:endParaRPr lang="tr-TR"/>
          </a:p>
        </p:txBody>
      </p:sp>
      <p:sp>
        <p:nvSpPr>
          <p:cNvPr id="5" name="Alt Bilgi Yer Tutucusu 4">
            <a:extLst>
              <a:ext uri="{FF2B5EF4-FFF2-40B4-BE49-F238E27FC236}">
                <a16:creationId xmlns:a16="http://schemas.microsoft.com/office/drawing/2014/main" id="{37CA632C-1697-AE25-10CC-10BE99D66E8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B20C67D-55D8-7B3F-D811-0CA679C3EA71}"/>
              </a:ext>
            </a:extLst>
          </p:cNvPr>
          <p:cNvSpPr>
            <a:spLocks noGrp="1"/>
          </p:cNvSpPr>
          <p:nvPr>
            <p:ph type="sldNum" sz="quarter" idx="12"/>
          </p:nvPr>
        </p:nvSpPr>
        <p:spPr/>
        <p:txBody>
          <a:bodyPr/>
          <a:lstStyle/>
          <a:p>
            <a:fld id="{A55C3E86-98CE-461C-AFD0-C6A765D0009F}" type="slidenum">
              <a:rPr lang="tr-TR" smtClean="0"/>
              <a:t>‹#›</a:t>
            </a:fld>
            <a:endParaRPr lang="tr-TR"/>
          </a:p>
        </p:txBody>
      </p:sp>
    </p:spTree>
    <p:extLst>
      <p:ext uri="{BB962C8B-B14F-4D97-AF65-F5344CB8AC3E}">
        <p14:creationId xmlns:p14="http://schemas.microsoft.com/office/powerpoint/2010/main" val="896674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B3FC56-F99B-16BC-9AFE-17A4E638CA9A}"/>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5E51B78F-D37B-6724-AE3F-9EDA7DF631D3}"/>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451D3E7-9228-09AF-01D2-F3DDA873FC5C}"/>
              </a:ext>
            </a:extLst>
          </p:cNvPr>
          <p:cNvSpPr>
            <a:spLocks noGrp="1"/>
          </p:cNvSpPr>
          <p:nvPr>
            <p:ph type="dt" sz="half" idx="10"/>
          </p:nvPr>
        </p:nvSpPr>
        <p:spPr/>
        <p:txBody>
          <a:bodyPr/>
          <a:lstStyle/>
          <a:p>
            <a:fld id="{F478CFFC-5E90-492A-874B-79F6F9D828B3}" type="datetimeFigureOut">
              <a:rPr lang="tr-TR" smtClean="0"/>
              <a:t>30.07.2026</a:t>
            </a:fld>
            <a:endParaRPr lang="tr-TR"/>
          </a:p>
        </p:txBody>
      </p:sp>
      <p:sp>
        <p:nvSpPr>
          <p:cNvPr id="5" name="Alt Bilgi Yer Tutucusu 4">
            <a:extLst>
              <a:ext uri="{FF2B5EF4-FFF2-40B4-BE49-F238E27FC236}">
                <a16:creationId xmlns:a16="http://schemas.microsoft.com/office/drawing/2014/main" id="{30EA4CC5-2CFE-9570-F9E4-F618859F900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3AF4D4A-C294-229A-A13A-B3F1704B2E54}"/>
              </a:ext>
            </a:extLst>
          </p:cNvPr>
          <p:cNvSpPr>
            <a:spLocks noGrp="1"/>
          </p:cNvSpPr>
          <p:nvPr>
            <p:ph type="sldNum" sz="quarter" idx="12"/>
          </p:nvPr>
        </p:nvSpPr>
        <p:spPr/>
        <p:txBody>
          <a:bodyPr/>
          <a:lstStyle/>
          <a:p>
            <a:fld id="{A55C3E86-98CE-461C-AFD0-C6A765D0009F}" type="slidenum">
              <a:rPr lang="tr-TR" smtClean="0"/>
              <a:t>‹#›</a:t>
            </a:fld>
            <a:endParaRPr lang="tr-TR"/>
          </a:p>
        </p:txBody>
      </p:sp>
    </p:spTree>
    <p:extLst>
      <p:ext uri="{BB962C8B-B14F-4D97-AF65-F5344CB8AC3E}">
        <p14:creationId xmlns:p14="http://schemas.microsoft.com/office/powerpoint/2010/main" val="1752987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43752D4-1FD1-45CF-BC98-796429D7665F}"/>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103D817D-84F9-C8DD-E7B8-EDC07AAEA8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F788F810-1B9A-7CDB-317E-8DFB66CDF05F}"/>
              </a:ext>
            </a:extLst>
          </p:cNvPr>
          <p:cNvSpPr>
            <a:spLocks noGrp="1"/>
          </p:cNvSpPr>
          <p:nvPr>
            <p:ph type="dt" sz="half" idx="10"/>
          </p:nvPr>
        </p:nvSpPr>
        <p:spPr/>
        <p:txBody>
          <a:bodyPr/>
          <a:lstStyle/>
          <a:p>
            <a:fld id="{F478CFFC-5E90-492A-874B-79F6F9D828B3}" type="datetimeFigureOut">
              <a:rPr lang="tr-TR" smtClean="0"/>
              <a:t>30.07.2026</a:t>
            </a:fld>
            <a:endParaRPr lang="tr-TR"/>
          </a:p>
        </p:txBody>
      </p:sp>
      <p:sp>
        <p:nvSpPr>
          <p:cNvPr id="5" name="Alt Bilgi Yer Tutucusu 4">
            <a:extLst>
              <a:ext uri="{FF2B5EF4-FFF2-40B4-BE49-F238E27FC236}">
                <a16:creationId xmlns:a16="http://schemas.microsoft.com/office/drawing/2014/main" id="{4838811D-E1AA-F216-9160-363AEACEE52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487C57C-4BB4-1FD2-6203-7FBC7E540851}"/>
              </a:ext>
            </a:extLst>
          </p:cNvPr>
          <p:cNvSpPr>
            <a:spLocks noGrp="1"/>
          </p:cNvSpPr>
          <p:nvPr>
            <p:ph type="sldNum" sz="quarter" idx="12"/>
          </p:nvPr>
        </p:nvSpPr>
        <p:spPr/>
        <p:txBody>
          <a:bodyPr/>
          <a:lstStyle/>
          <a:p>
            <a:fld id="{A55C3E86-98CE-461C-AFD0-C6A765D0009F}" type="slidenum">
              <a:rPr lang="tr-TR" smtClean="0"/>
              <a:t>‹#›</a:t>
            </a:fld>
            <a:endParaRPr lang="tr-TR"/>
          </a:p>
        </p:txBody>
      </p:sp>
    </p:spTree>
    <p:extLst>
      <p:ext uri="{BB962C8B-B14F-4D97-AF65-F5344CB8AC3E}">
        <p14:creationId xmlns:p14="http://schemas.microsoft.com/office/powerpoint/2010/main" val="2361242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4C6488A-B5C1-0DCD-AD4E-B852C374DAB8}"/>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3B504430-4AD8-8360-1DA9-A672A332F2F3}"/>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78C57DF0-A37A-1152-DF5B-A077E346D527}"/>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37AE7496-BAE4-4265-B412-1283CC132ADF}"/>
              </a:ext>
            </a:extLst>
          </p:cNvPr>
          <p:cNvSpPr>
            <a:spLocks noGrp="1"/>
          </p:cNvSpPr>
          <p:nvPr>
            <p:ph type="dt" sz="half" idx="10"/>
          </p:nvPr>
        </p:nvSpPr>
        <p:spPr/>
        <p:txBody>
          <a:bodyPr/>
          <a:lstStyle/>
          <a:p>
            <a:fld id="{F478CFFC-5E90-492A-874B-79F6F9D828B3}" type="datetimeFigureOut">
              <a:rPr lang="tr-TR" smtClean="0"/>
              <a:t>30.07.2026</a:t>
            </a:fld>
            <a:endParaRPr lang="tr-TR"/>
          </a:p>
        </p:txBody>
      </p:sp>
      <p:sp>
        <p:nvSpPr>
          <p:cNvPr id="6" name="Alt Bilgi Yer Tutucusu 5">
            <a:extLst>
              <a:ext uri="{FF2B5EF4-FFF2-40B4-BE49-F238E27FC236}">
                <a16:creationId xmlns:a16="http://schemas.microsoft.com/office/drawing/2014/main" id="{04D0BC0D-48BC-4B59-F99F-77834226FB00}"/>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5F89D307-B5E3-F04E-A31D-47B77546D310}"/>
              </a:ext>
            </a:extLst>
          </p:cNvPr>
          <p:cNvSpPr>
            <a:spLocks noGrp="1"/>
          </p:cNvSpPr>
          <p:nvPr>
            <p:ph type="sldNum" sz="quarter" idx="12"/>
          </p:nvPr>
        </p:nvSpPr>
        <p:spPr/>
        <p:txBody>
          <a:bodyPr/>
          <a:lstStyle/>
          <a:p>
            <a:fld id="{A55C3E86-98CE-461C-AFD0-C6A765D0009F}" type="slidenum">
              <a:rPr lang="tr-TR" smtClean="0"/>
              <a:t>‹#›</a:t>
            </a:fld>
            <a:endParaRPr lang="tr-TR"/>
          </a:p>
        </p:txBody>
      </p:sp>
    </p:spTree>
    <p:extLst>
      <p:ext uri="{BB962C8B-B14F-4D97-AF65-F5344CB8AC3E}">
        <p14:creationId xmlns:p14="http://schemas.microsoft.com/office/powerpoint/2010/main" val="2822999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B846FC4-8924-D2E9-EB71-B583A7391C75}"/>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600E9105-6772-AAB2-0ECF-7D3AE3A971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6765D88D-2C40-D1C3-E688-230834FC4A49}"/>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D69A5185-6C8C-A8A6-10A6-3DAC9958DF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B7707DDA-87F1-D5A0-E648-D1CB91D1B65E}"/>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DEEA2EBB-DC1E-19AE-EF2E-63CE12B47970}"/>
              </a:ext>
            </a:extLst>
          </p:cNvPr>
          <p:cNvSpPr>
            <a:spLocks noGrp="1"/>
          </p:cNvSpPr>
          <p:nvPr>
            <p:ph type="dt" sz="half" idx="10"/>
          </p:nvPr>
        </p:nvSpPr>
        <p:spPr/>
        <p:txBody>
          <a:bodyPr/>
          <a:lstStyle/>
          <a:p>
            <a:fld id="{F478CFFC-5E90-492A-874B-79F6F9D828B3}" type="datetimeFigureOut">
              <a:rPr lang="tr-TR" smtClean="0"/>
              <a:t>30.07.2026</a:t>
            </a:fld>
            <a:endParaRPr lang="tr-TR"/>
          </a:p>
        </p:txBody>
      </p:sp>
      <p:sp>
        <p:nvSpPr>
          <p:cNvPr id="8" name="Alt Bilgi Yer Tutucusu 7">
            <a:extLst>
              <a:ext uri="{FF2B5EF4-FFF2-40B4-BE49-F238E27FC236}">
                <a16:creationId xmlns:a16="http://schemas.microsoft.com/office/drawing/2014/main" id="{661FF5FD-4435-CE88-E9B1-B231E501B112}"/>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E85598BC-372F-880F-7DEA-07FD220A67A0}"/>
              </a:ext>
            </a:extLst>
          </p:cNvPr>
          <p:cNvSpPr>
            <a:spLocks noGrp="1"/>
          </p:cNvSpPr>
          <p:nvPr>
            <p:ph type="sldNum" sz="quarter" idx="12"/>
          </p:nvPr>
        </p:nvSpPr>
        <p:spPr/>
        <p:txBody>
          <a:bodyPr/>
          <a:lstStyle/>
          <a:p>
            <a:fld id="{A55C3E86-98CE-461C-AFD0-C6A765D0009F}" type="slidenum">
              <a:rPr lang="tr-TR" smtClean="0"/>
              <a:t>‹#›</a:t>
            </a:fld>
            <a:endParaRPr lang="tr-TR"/>
          </a:p>
        </p:txBody>
      </p:sp>
    </p:spTree>
    <p:extLst>
      <p:ext uri="{BB962C8B-B14F-4D97-AF65-F5344CB8AC3E}">
        <p14:creationId xmlns:p14="http://schemas.microsoft.com/office/powerpoint/2010/main" val="2882851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59B13E6-7E3C-F03D-B230-BD0DCB2B6CF1}"/>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36926FB2-D2B2-3A97-0566-D9B20A4D792C}"/>
              </a:ext>
            </a:extLst>
          </p:cNvPr>
          <p:cNvSpPr>
            <a:spLocks noGrp="1"/>
          </p:cNvSpPr>
          <p:nvPr>
            <p:ph type="dt" sz="half" idx="10"/>
          </p:nvPr>
        </p:nvSpPr>
        <p:spPr/>
        <p:txBody>
          <a:bodyPr/>
          <a:lstStyle/>
          <a:p>
            <a:fld id="{F478CFFC-5E90-492A-874B-79F6F9D828B3}" type="datetimeFigureOut">
              <a:rPr lang="tr-TR" smtClean="0"/>
              <a:t>30.07.2026</a:t>
            </a:fld>
            <a:endParaRPr lang="tr-TR"/>
          </a:p>
        </p:txBody>
      </p:sp>
      <p:sp>
        <p:nvSpPr>
          <p:cNvPr id="4" name="Alt Bilgi Yer Tutucusu 3">
            <a:extLst>
              <a:ext uri="{FF2B5EF4-FFF2-40B4-BE49-F238E27FC236}">
                <a16:creationId xmlns:a16="http://schemas.microsoft.com/office/drawing/2014/main" id="{2E5405DF-14F0-7775-0694-C645EAE9A97F}"/>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D14C4ADB-541C-F310-5358-9314354BA013}"/>
              </a:ext>
            </a:extLst>
          </p:cNvPr>
          <p:cNvSpPr>
            <a:spLocks noGrp="1"/>
          </p:cNvSpPr>
          <p:nvPr>
            <p:ph type="sldNum" sz="quarter" idx="12"/>
          </p:nvPr>
        </p:nvSpPr>
        <p:spPr/>
        <p:txBody>
          <a:bodyPr/>
          <a:lstStyle/>
          <a:p>
            <a:fld id="{A55C3E86-98CE-461C-AFD0-C6A765D0009F}" type="slidenum">
              <a:rPr lang="tr-TR" smtClean="0"/>
              <a:t>‹#›</a:t>
            </a:fld>
            <a:endParaRPr lang="tr-TR"/>
          </a:p>
        </p:txBody>
      </p:sp>
    </p:spTree>
    <p:extLst>
      <p:ext uri="{BB962C8B-B14F-4D97-AF65-F5344CB8AC3E}">
        <p14:creationId xmlns:p14="http://schemas.microsoft.com/office/powerpoint/2010/main" val="1446237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A65A457D-8E25-53F3-3733-FD81619EDC2D}"/>
              </a:ext>
            </a:extLst>
          </p:cNvPr>
          <p:cNvSpPr>
            <a:spLocks noGrp="1"/>
          </p:cNvSpPr>
          <p:nvPr>
            <p:ph type="dt" sz="half" idx="10"/>
          </p:nvPr>
        </p:nvSpPr>
        <p:spPr/>
        <p:txBody>
          <a:bodyPr/>
          <a:lstStyle/>
          <a:p>
            <a:fld id="{F478CFFC-5E90-492A-874B-79F6F9D828B3}" type="datetimeFigureOut">
              <a:rPr lang="tr-TR" smtClean="0"/>
              <a:t>30.07.2026</a:t>
            </a:fld>
            <a:endParaRPr lang="tr-TR"/>
          </a:p>
        </p:txBody>
      </p:sp>
      <p:sp>
        <p:nvSpPr>
          <p:cNvPr id="3" name="Alt Bilgi Yer Tutucusu 2">
            <a:extLst>
              <a:ext uri="{FF2B5EF4-FFF2-40B4-BE49-F238E27FC236}">
                <a16:creationId xmlns:a16="http://schemas.microsoft.com/office/drawing/2014/main" id="{4A2028E3-8C11-45AC-5525-06B4608E3FB1}"/>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5FFD2C2A-76FD-B71C-C06D-E85C6D220BB9}"/>
              </a:ext>
            </a:extLst>
          </p:cNvPr>
          <p:cNvSpPr>
            <a:spLocks noGrp="1"/>
          </p:cNvSpPr>
          <p:nvPr>
            <p:ph type="sldNum" sz="quarter" idx="12"/>
          </p:nvPr>
        </p:nvSpPr>
        <p:spPr/>
        <p:txBody>
          <a:bodyPr/>
          <a:lstStyle/>
          <a:p>
            <a:fld id="{A55C3E86-98CE-461C-AFD0-C6A765D0009F}" type="slidenum">
              <a:rPr lang="tr-TR" smtClean="0"/>
              <a:t>‹#›</a:t>
            </a:fld>
            <a:endParaRPr lang="tr-TR"/>
          </a:p>
        </p:txBody>
      </p:sp>
    </p:spTree>
    <p:extLst>
      <p:ext uri="{BB962C8B-B14F-4D97-AF65-F5344CB8AC3E}">
        <p14:creationId xmlns:p14="http://schemas.microsoft.com/office/powerpoint/2010/main" val="3208475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BF5F427-97BF-3B8B-32D9-A034E7C5FEE6}"/>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063C692F-505A-14FB-54A0-7144C60FC3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D29D720C-8B84-5CB9-1B36-A0A87E0F50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5D150356-50B8-2740-ECE5-79DF3B3DC3CB}"/>
              </a:ext>
            </a:extLst>
          </p:cNvPr>
          <p:cNvSpPr>
            <a:spLocks noGrp="1"/>
          </p:cNvSpPr>
          <p:nvPr>
            <p:ph type="dt" sz="half" idx="10"/>
          </p:nvPr>
        </p:nvSpPr>
        <p:spPr/>
        <p:txBody>
          <a:bodyPr/>
          <a:lstStyle/>
          <a:p>
            <a:fld id="{F478CFFC-5E90-492A-874B-79F6F9D828B3}" type="datetimeFigureOut">
              <a:rPr lang="tr-TR" smtClean="0"/>
              <a:t>30.07.2026</a:t>
            </a:fld>
            <a:endParaRPr lang="tr-TR"/>
          </a:p>
        </p:txBody>
      </p:sp>
      <p:sp>
        <p:nvSpPr>
          <p:cNvPr id="6" name="Alt Bilgi Yer Tutucusu 5">
            <a:extLst>
              <a:ext uri="{FF2B5EF4-FFF2-40B4-BE49-F238E27FC236}">
                <a16:creationId xmlns:a16="http://schemas.microsoft.com/office/drawing/2014/main" id="{8AD6AB8E-C9B1-CA7B-0DC7-9BCCDF5F2BD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E35579D5-2522-A398-BB67-FB477127BBD4}"/>
              </a:ext>
            </a:extLst>
          </p:cNvPr>
          <p:cNvSpPr>
            <a:spLocks noGrp="1"/>
          </p:cNvSpPr>
          <p:nvPr>
            <p:ph type="sldNum" sz="quarter" idx="12"/>
          </p:nvPr>
        </p:nvSpPr>
        <p:spPr/>
        <p:txBody>
          <a:bodyPr/>
          <a:lstStyle/>
          <a:p>
            <a:fld id="{A55C3E86-98CE-461C-AFD0-C6A765D0009F}" type="slidenum">
              <a:rPr lang="tr-TR" smtClean="0"/>
              <a:t>‹#›</a:t>
            </a:fld>
            <a:endParaRPr lang="tr-TR"/>
          </a:p>
        </p:txBody>
      </p:sp>
    </p:spTree>
    <p:extLst>
      <p:ext uri="{BB962C8B-B14F-4D97-AF65-F5344CB8AC3E}">
        <p14:creationId xmlns:p14="http://schemas.microsoft.com/office/powerpoint/2010/main" val="925212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8C54B51-9D47-4B45-37D6-513B51B55F0E}"/>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5A8B4F48-4D96-43F2-5A31-55B5365DB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F4AD1D77-E969-32B1-440B-CE3B6F908F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02BA1ADB-E328-CC43-26E0-E340C1032683}"/>
              </a:ext>
            </a:extLst>
          </p:cNvPr>
          <p:cNvSpPr>
            <a:spLocks noGrp="1"/>
          </p:cNvSpPr>
          <p:nvPr>
            <p:ph type="dt" sz="half" idx="10"/>
          </p:nvPr>
        </p:nvSpPr>
        <p:spPr/>
        <p:txBody>
          <a:bodyPr/>
          <a:lstStyle/>
          <a:p>
            <a:fld id="{F478CFFC-5E90-492A-874B-79F6F9D828B3}" type="datetimeFigureOut">
              <a:rPr lang="tr-TR" smtClean="0"/>
              <a:t>30.07.2026</a:t>
            </a:fld>
            <a:endParaRPr lang="tr-TR"/>
          </a:p>
        </p:txBody>
      </p:sp>
      <p:sp>
        <p:nvSpPr>
          <p:cNvPr id="6" name="Alt Bilgi Yer Tutucusu 5">
            <a:extLst>
              <a:ext uri="{FF2B5EF4-FFF2-40B4-BE49-F238E27FC236}">
                <a16:creationId xmlns:a16="http://schemas.microsoft.com/office/drawing/2014/main" id="{3514D045-EB34-CB3A-F1F0-23BE7C17516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6F3FE3D4-B910-DCED-8343-64A80CC84713}"/>
              </a:ext>
            </a:extLst>
          </p:cNvPr>
          <p:cNvSpPr>
            <a:spLocks noGrp="1"/>
          </p:cNvSpPr>
          <p:nvPr>
            <p:ph type="sldNum" sz="quarter" idx="12"/>
          </p:nvPr>
        </p:nvSpPr>
        <p:spPr/>
        <p:txBody>
          <a:bodyPr/>
          <a:lstStyle/>
          <a:p>
            <a:fld id="{A55C3E86-98CE-461C-AFD0-C6A765D0009F}" type="slidenum">
              <a:rPr lang="tr-TR" smtClean="0"/>
              <a:t>‹#›</a:t>
            </a:fld>
            <a:endParaRPr lang="tr-TR"/>
          </a:p>
        </p:txBody>
      </p:sp>
    </p:spTree>
    <p:extLst>
      <p:ext uri="{BB962C8B-B14F-4D97-AF65-F5344CB8AC3E}">
        <p14:creationId xmlns:p14="http://schemas.microsoft.com/office/powerpoint/2010/main" val="1678720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D1641D5-D29D-2DF3-A4FD-84E9DE620285}"/>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F3DB250A-0610-F9F0-0017-65E489BC80C6}"/>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19CFA95-BFF5-9D6E-2000-D2C375907E1D}"/>
              </a:ext>
            </a:extLst>
          </p:cNvPr>
          <p:cNvSpPr>
            <a:spLocks noGrp="1"/>
          </p:cNvSpPr>
          <p:nvPr>
            <p:ph type="dt" sz="half" idx="10"/>
          </p:nvPr>
        </p:nvSpPr>
        <p:spPr/>
        <p:txBody>
          <a:bodyPr/>
          <a:lstStyle/>
          <a:p>
            <a:fld id="{F478CFFC-5E90-492A-874B-79F6F9D828B3}" type="datetimeFigureOut">
              <a:rPr lang="tr-TR" smtClean="0"/>
              <a:t>30.07.2026</a:t>
            </a:fld>
            <a:endParaRPr lang="tr-TR"/>
          </a:p>
        </p:txBody>
      </p:sp>
      <p:sp>
        <p:nvSpPr>
          <p:cNvPr id="5" name="Alt Bilgi Yer Tutucusu 4">
            <a:extLst>
              <a:ext uri="{FF2B5EF4-FFF2-40B4-BE49-F238E27FC236}">
                <a16:creationId xmlns:a16="http://schemas.microsoft.com/office/drawing/2014/main" id="{45B5D6B1-50DC-9A15-CCF6-901E600E15C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747A281-3B8F-19A8-6768-F570D7C4861D}"/>
              </a:ext>
            </a:extLst>
          </p:cNvPr>
          <p:cNvSpPr>
            <a:spLocks noGrp="1"/>
          </p:cNvSpPr>
          <p:nvPr>
            <p:ph type="sldNum" sz="quarter" idx="12"/>
          </p:nvPr>
        </p:nvSpPr>
        <p:spPr/>
        <p:txBody>
          <a:bodyPr/>
          <a:lstStyle/>
          <a:p>
            <a:fld id="{A55C3E86-98CE-461C-AFD0-C6A765D0009F}" type="slidenum">
              <a:rPr lang="tr-TR" smtClean="0"/>
              <a:t>‹#›</a:t>
            </a:fld>
            <a:endParaRPr lang="tr-TR"/>
          </a:p>
        </p:txBody>
      </p:sp>
    </p:spTree>
    <p:extLst>
      <p:ext uri="{BB962C8B-B14F-4D97-AF65-F5344CB8AC3E}">
        <p14:creationId xmlns:p14="http://schemas.microsoft.com/office/powerpoint/2010/main" val="1728956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3175D195-2424-D137-0DE4-76B81BC6FE7D}"/>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013BFD1A-7A94-46A3-9456-39A61500B82B}"/>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997E3189-4D99-156F-D22C-945E45281E77}"/>
              </a:ext>
            </a:extLst>
          </p:cNvPr>
          <p:cNvSpPr>
            <a:spLocks noGrp="1"/>
          </p:cNvSpPr>
          <p:nvPr>
            <p:ph type="dt" sz="half" idx="10"/>
          </p:nvPr>
        </p:nvSpPr>
        <p:spPr/>
        <p:txBody>
          <a:bodyPr/>
          <a:lstStyle/>
          <a:p>
            <a:fld id="{F478CFFC-5E90-492A-874B-79F6F9D828B3}" type="datetimeFigureOut">
              <a:rPr lang="tr-TR" smtClean="0"/>
              <a:t>30.07.2026</a:t>
            </a:fld>
            <a:endParaRPr lang="tr-TR"/>
          </a:p>
        </p:txBody>
      </p:sp>
      <p:sp>
        <p:nvSpPr>
          <p:cNvPr id="5" name="Alt Bilgi Yer Tutucusu 4">
            <a:extLst>
              <a:ext uri="{FF2B5EF4-FFF2-40B4-BE49-F238E27FC236}">
                <a16:creationId xmlns:a16="http://schemas.microsoft.com/office/drawing/2014/main" id="{3364007A-8D47-8F15-2499-0EB4E9B7EA1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82A0D11-4D17-14AE-139C-A1688FBD9DC7}"/>
              </a:ext>
            </a:extLst>
          </p:cNvPr>
          <p:cNvSpPr>
            <a:spLocks noGrp="1"/>
          </p:cNvSpPr>
          <p:nvPr>
            <p:ph type="sldNum" sz="quarter" idx="12"/>
          </p:nvPr>
        </p:nvSpPr>
        <p:spPr/>
        <p:txBody>
          <a:bodyPr/>
          <a:lstStyle/>
          <a:p>
            <a:fld id="{A55C3E86-98CE-461C-AFD0-C6A765D0009F}" type="slidenum">
              <a:rPr lang="tr-TR" smtClean="0"/>
              <a:t>‹#›</a:t>
            </a:fld>
            <a:endParaRPr lang="tr-TR"/>
          </a:p>
        </p:txBody>
      </p:sp>
    </p:spTree>
    <p:extLst>
      <p:ext uri="{BB962C8B-B14F-4D97-AF65-F5344CB8AC3E}">
        <p14:creationId xmlns:p14="http://schemas.microsoft.com/office/powerpoint/2010/main" val="2874767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E5224995-B0D9-F743-5AB9-E0310A90DD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28EA4FB-345B-15DC-9094-24E1AD192B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3495CB6-CA94-2A10-C43A-54162389C9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78CFFC-5E90-492A-874B-79F6F9D828B3}" type="datetimeFigureOut">
              <a:rPr lang="tr-TR" smtClean="0"/>
              <a:t>30.07.2026</a:t>
            </a:fld>
            <a:endParaRPr lang="tr-TR"/>
          </a:p>
        </p:txBody>
      </p:sp>
      <p:sp>
        <p:nvSpPr>
          <p:cNvPr id="5" name="Alt Bilgi Yer Tutucusu 4">
            <a:extLst>
              <a:ext uri="{FF2B5EF4-FFF2-40B4-BE49-F238E27FC236}">
                <a16:creationId xmlns:a16="http://schemas.microsoft.com/office/drawing/2014/main" id="{2129A0BD-9234-0CAD-1D06-39F6098FAE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EC672F86-3ACC-72EB-3409-BC0D789278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5C3E86-98CE-461C-AFD0-C6A765D0009F}" type="slidenum">
              <a:rPr lang="tr-TR" smtClean="0"/>
              <a:t>‹#›</a:t>
            </a:fld>
            <a:endParaRPr lang="tr-TR"/>
          </a:p>
        </p:txBody>
      </p:sp>
    </p:spTree>
    <p:extLst>
      <p:ext uri="{BB962C8B-B14F-4D97-AF65-F5344CB8AC3E}">
        <p14:creationId xmlns:p14="http://schemas.microsoft.com/office/powerpoint/2010/main" val="1856993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F33C809D-3BEB-332F-EFDD-FAAE3AB0F113}"/>
              </a:ext>
            </a:extLst>
          </p:cNvPr>
          <p:cNvSpPr txBox="1"/>
          <p:nvPr/>
        </p:nvSpPr>
        <p:spPr>
          <a:xfrm>
            <a:off x="2142744" y="5431536"/>
            <a:ext cx="7906512" cy="830997"/>
          </a:xfrm>
          <a:prstGeom prst="rect">
            <a:avLst/>
          </a:prstGeom>
          <a:noFill/>
        </p:spPr>
        <p:txBody>
          <a:bodyPr wrap="square" rtlCol="0">
            <a:spAutoFit/>
          </a:bodyPr>
          <a:lstStyle/>
          <a:p>
            <a:pPr algn="ctr"/>
            <a:r>
              <a:rPr lang="tr-TR" sz="4800" dirty="0"/>
              <a:t>Sınıflandırma Modelleri</a:t>
            </a:r>
          </a:p>
        </p:txBody>
      </p:sp>
      <p:pic>
        <p:nvPicPr>
          <p:cNvPr id="3" name="Resim 2">
            <a:extLst>
              <a:ext uri="{FF2B5EF4-FFF2-40B4-BE49-F238E27FC236}">
                <a16:creationId xmlns:a16="http://schemas.microsoft.com/office/drawing/2014/main" id="{B944D16F-5DC9-2E38-69AF-FD7673E310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6396" y="595467"/>
            <a:ext cx="4419207" cy="4419207"/>
          </a:xfrm>
          <a:prstGeom prst="rect">
            <a:avLst/>
          </a:prstGeom>
        </p:spPr>
      </p:pic>
      <p:pic>
        <p:nvPicPr>
          <p:cNvPr id="2" name="Resim 1" descr="Zemin İstanbul ve Veri Laboratuvarı, Tech Istanbul markası altında  birleşiyor - Webrazzi">
            <a:extLst>
              <a:ext uri="{FF2B5EF4-FFF2-40B4-BE49-F238E27FC236}">
                <a16:creationId xmlns:a16="http://schemas.microsoft.com/office/drawing/2014/main" id="{EC04DAD3-45DC-F7EB-C454-A58EC105AB67}"/>
              </a:ext>
            </a:extLst>
          </p:cNvPr>
          <p:cNvPicPr>
            <a:picLocks noChangeAspect="1"/>
          </p:cNvPicPr>
          <p:nvPr/>
        </p:nvPicPr>
        <p:blipFill>
          <a:blip r:embed="rId3"/>
          <a:stretch>
            <a:fillRect/>
          </a:stretch>
        </p:blipFill>
        <p:spPr>
          <a:xfrm>
            <a:off x="1523999" y="288036"/>
            <a:ext cx="9144000" cy="5143500"/>
          </a:xfrm>
          <a:prstGeom prst="rect">
            <a:avLst/>
          </a:prstGeom>
        </p:spPr>
      </p:pic>
    </p:spTree>
    <p:extLst>
      <p:ext uri="{BB962C8B-B14F-4D97-AF65-F5344CB8AC3E}">
        <p14:creationId xmlns:p14="http://schemas.microsoft.com/office/powerpoint/2010/main" val="350960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050893F-A60B-A23F-5F40-853F865B3BF3}"/>
              </a:ext>
            </a:extLst>
          </p:cNvPr>
          <p:cNvSpPr>
            <a:spLocks noGrp="1"/>
          </p:cNvSpPr>
          <p:nvPr>
            <p:ph type="title"/>
          </p:nvPr>
        </p:nvSpPr>
        <p:spPr/>
        <p:txBody>
          <a:bodyPr/>
          <a:lstStyle/>
          <a:p>
            <a:pPr algn="ctr"/>
            <a:r>
              <a:rPr lang="tr-TR" dirty="0"/>
              <a:t>Lojistik Regresyon</a:t>
            </a:r>
          </a:p>
        </p:txBody>
      </p:sp>
      <p:sp>
        <p:nvSpPr>
          <p:cNvPr id="3" name="İçerik Yer Tutucusu 2">
            <a:extLst>
              <a:ext uri="{FF2B5EF4-FFF2-40B4-BE49-F238E27FC236}">
                <a16:creationId xmlns:a16="http://schemas.microsoft.com/office/drawing/2014/main" id="{756371F1-A7BA-573E-6225-768593F32085}"/>
              </a:ext>
            </a:extLst>
          </p:cNvPr>
          <p:cNvSpPr>
            <a:spLocks noGrp="1"/>
          </p:cNvSpPr>
          <p:nvPr>
            <p:ph idx="1"/>
          </p:nvPr>
        </p:nvSpPr>
        <p:spPr>
          <a:xfrm>
            <a:off x="568891" y="1825625"/>
            <a:ext cx="5806858" cy="4543860"/>
          </a:xfrm>
        </p:spPr>
        <p:txBody>
          <a:bodyPr>
            <a:normAutofit fontScale="62500" lnSpcReduction="20000"/>
          </a:bodyPr>
          <a:lstStyle/>
          <a:p>
            <a:pPr marL="0" indent="0" algn="l">
              <a:buNone/>
            </a:pPr>
            <a:r>
              <a:rPr lang="tr-TR" b="0" i="0" dirty="0">
                <a:effectLst/>
                <a:latin typeface="Arial" panose="020B0604020202020204" pitchFamily="34" charset="0"/>
                <a:cs typeface="Arial" panose="020B0604020202020204" pitchFamily="34" charset="0"/>
              </a:rPr>
              <a:t>İsmine rağmen regresyon adını taşısa da aslında sınıflandırma problemlerinde kullanılır. Özellikle </a:t>
            </a:r>
            <a:r>
              <a:rPr lang="tr-TR" b="0" i="0" dirty="0" err="1">
                <a:effectLst/>
                <a:latin typeface="Arial" panose="020B0604020202020204" pitchFamily="34" charset="0"/>
                <a:cs typeface="Arial" panose="020B0604020202020204" pitchFamily="34" charset="0"/>
              </a:rPr>
              <a:t>binary</a:t>
            </a:r>
            <a:r>
              <a:rPr lang="tr-TR" b="0" i="0" dirty="0">
                <a:effectLst/>
                <a:latin typeface="Arial" panose="020B0604020202020204" pitchFamily="34" charset="0"/>
                <a:cs typeface="Arial" panose="020B0604020202020204" pitchFamily="34" charset="0"/>
              </a:rPr>
              <a:t> (ikili) sınıflandırma problemlerinde etkilidir, yani iki farklı sınıf arasında ayrım yapmak için kullanılır.</a:t>
            </a:r>
          </a:p>
          <a:p>
            <a:pPr marL="0" indent="0" algn="l">
              <a:buNone/>
            </a:pPr>
            <a:r>
              <a:rPr lang="tr-TR" b="0" i="0" dirty="0">
                <a:effectLst/>
                <a:latin typeface="Arial" panose="020B0604020202020204" pitchFamily="34" charset="0"/>
                <a:cs typeface="Arial" panose="020B0604020202020204" pitchFamily="34" charset="0"/>
              </a:rPr>
              <a:t>Temel amacı, veri setindeki özelliklerin bir veya daha fazla bağımsız değişkenle bir hedef değişken (sınıf etiketi) arasındaki ilişkiyi modellemektir. Bu model, veri setindeki özelliklerin değerlerini alıp, bu özelliklerin kombinasyonunu kullanarak her bir girişin belirli bir sınıfa ait olma olasılığını tahmin eder.</a:t>
            </a:r>
          </a:p>
          <a:p>
            <a:pPr marL="0" indent="0" algn="l">
              <a:buNone/>
            </a:pPr>
            <a:r>
              <a:rPr lang="tr-TR" b="0" i="0" dirty="0">
                <a:effectLst/>
                <a:latin typeface="Arial" panose="020B0604020202020204" pitchFamily="34" charset="0"/>
                <a:cs typeface="Arial" panose="020B0604020202020204" pitchFamily="34" charset="0"/>
              </a:rPr>
              <a:t>Lojistik regresyon, birçok avantajı olan basit ve hızlı bir modeldir. Ayrıca, sınıflandırma problemlerinin temel bir taşıyıcısı olarak kullanılabilir. Ancak, yalnızca doğrusal ayrılabilir sınıflandırma problemleri için uygun olabilir ve çok karmaşık ilişkileri modelleme yeteneği sınırlı olabilir. Bu durumda daha karmaşık modeller veya doğrusal olmayan ilişkileri modelleme yeteneği olan yöntemler tercih edilebilir.</a:t>
            </a:r>
          </a:p>
          <a:p>
            <a:endParaRPr lang="tr-TR" dirty="0">
              <a:latin typeface="Arial" panose="020B0604020202020204" pitchFamily="34" charset="0"/>
              <a:cs typeface="Arial" panose="020B0604020202020204" pitchFamily="34" charset="0"/>
            </a:endParaRPr>
          </a:p>
        </p:txBody>
      </p:sp>
      <p:pic>
        <p:nvPicPr>
          <p:cNvPr id="1026" name="Picture 2" descr="R İle Lojistik Regresyon Analizi. Bir önceki yazımda R ile Regresyon… | by  Rümeysa Nazlı | Medium">
            <a:extLst>
              <a:ext uri="{FF2B5EF4-FFF2-40B4-BE49-F238E27FC236}">
                <a16:creationId xmlns:a16="http://schemas.microsoft.com/office/drawing/2014/main" id="{A0417A50-64FD-E271-5DF8-81F3A44C63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5655" y="2286327"/>
            <a:ext cx="4752975" cy="292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5208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DC85E0B-ED6B-3DC3-5147-5852CE9C7C7C}"/>
              </a:ext>
            </a:extLst>
          </p:cNvPr>
          <p:cNvSpPr>
            <a:spLocks noGrp="1"/>
          </p:cNvSpPr>
          <p:nvPr>
            <p:ph type="title"/>
          </p:nvPr>
        </p:nvSpPr>
        <p:spPr/>
        <p:txBody>
          <a:bodyPr/>
          <a:lstStyle/>
          <a:p>
            <a:pPr algn="ctr"/>
            <a:r>
              <a:rPr lang="tr-TR" b="0" i="0" dirty="0">
                <a:effectLst/>
                <a:latin typeface="Arial" panose="020B0604020202020204" pitchFamily="34" charset="0"/>
                <a:cs typeface="Arial" panose="020B0604020202020204" pitchFamily="34" charset="0"/>
              </a:rPr>
              <a:t>KNN - K-</a:t>
            </a:r>
            <a:r>
              <a:rPr lang="tr-TR" b="0" i="0" dirty="0" err="1">
                <a:effectLst/>
                <a:latin typeface="Arial" panose="020B0604020202020204" pitchFamily="34" charset="0"/>
                <a:cs typeface="Arial" panose="020B0604020202020204" pitchFamily="34" charset="0"/>
              </a:rPr>
              <a:t>Nearest</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Neighbors</a:t>
            </a:r>
            <a:endParaRPr lang="tr-TR"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3F3CA7FB-4CF0-9544-74B7-75300BF9F759}"/>
              </a:ext>
            </a:extLst>
          </p:cNvPr>
          <p:cNvSpPr>
            <a:spLocks noGrp="1"/>
          </p:cNvSpPr>
          <p:nvPr>
            <p:ph idx="1"/>
          </p:nvPr>
        </p:nvSpPr>
        <p:spPr>
          <a:xfrm>
            <a:off x="838200" y="1825625"/>
            <a:ext cx="5005192" cy="4351338"/>
          </a:xfrm>
        </p:spPr>
        <p:txBody>
          <a:bodyPr>
            <a:normAutofit fontScale="55000" lnSpcReduction="20000"/>
          </a:bodyPr>
          <a:lstStyle/>
          <a:p>
            <a:pPr marL="0" indent="0" algn="l">
              <a:buNone/>
            </a:pPr>
            <a:r>
              <a:rPr lang="tr-TR" b="0" i="0" dirty="0">
                <a:effectLst/>
                <a:latin typeface="Arial" panose="020B0604020202020204" pitchFamily="34" charset="0"/>
                <a:cs typeface="Arial" panose="020B0604020202020204" pitchFamily="34" charset="0"/>
              </a:rPr>
              <a:t>Temel prensibi, bir veri noktasının sınıfını veya değerini belirlemek için, ona en yakın komşularının sınıfını veya değerini kullanmaktır.</a:t>
            </a:r>
          </a:p>
          <a:p>
            <a:pPr marL="0" indent="0" algn="l">
              <a:buNone/>
            </a:pPr>
            <a:endParaRPr lang="tr-TR" b="0" i="0" dirty="0">
              <a:effectLst/>
              <a:latin typeface="Arial" panose="020B0604020202020204" pitchFamily="34" charset="0"/>
              <a:cs typeface="Arial" panose="020B0604020202020204" pitchFamily="34" charset="0"/>
            </a:endParaRPr>
          </a:p>
          <a:p>
            <a:pPr marL="0" indent="0" algn="l">
              <a:buNone/>
            </a:pPr>
            <a:r>
              <a:rPr lang="tr-TR" b="1" i="0" dirty="0">
                <a:effectLst/>
                <a:latin typeface="Arial" panose="020B0604020202020204" pitchFamily="34" charset="0"/>
                <a:cs typeface="Arial" panose="020B0604020202020204" pitchFamily="34" charset="0"/>
              </a:rPr>
              <a:t>Çalışma Prensibi:</a:t>
            </a:r>
          </a:p>
          <a:p>
            <a:pPr marL="0" indent="0" algn="l">
              <a:buNone/>
            </a:pPr>
            <a:endParaRPr lang="tr-TR" b="1" i="0" dirty="0">
              <a:effectLst/>
              <a:latin typeface="Arial" panose="020B0604020202020204" pitchFamily="34" charset="0"/>
              <a:cs typeface="Arial" panose="020B0604020202020204" pitchFamily="34" charset="0"/>
            </a:endParaRPr>
          </a:p>
          <a:p>
            <a:pPr algn="l">
              <a:buFont typeface="+mj-lt"/>
              <a:buAutoNum type="arabicPeriod"/>
            </a:pPr>
            <a:r>
              <a:rPr lang="tr-TR" b="1" i="0" dirty="0">
                <a:effectLst/>
                <a:latin typeface="Arial" panose="020B0604020202020204" pitchFamily="34" charset="0"/>
                <a:cs typeface="Arial" panose="020B0604020202020204" pitchFamily="34" charset="0"/>
              </a:rPr>
              <a:t>Temel Fikir:</a:t>
            </a:r>
            <a:r>
              <a:rPr lang="tr-TR" b="0" i="0" dirty="0">
                <a:effectLst/>
                <a:latin typeface="Arial" panose="020B0604020202020204" pitchFamily="34" charset="0"/>
                <a:cs typeface="Arial" panose="020B0604020202020204" pitchFamily="34" charset="0"/>
              </a:rPr>
              <a:t> KNN, veri noktaları arasındaki benzerlik ölçüsüne dayanır. Bir veri noktasının tahmini yapılacağı zaman, bu noktaya en yakın olan k sayıda komşu belirlenir.</a:t>
            </a:r>
          </a:p>
          <a:p>
            <a:pPr algn="l">
              <a:buFont typeface="+mj-lt"/>
              <a:buAutoNum type="arabicPeriod"/>
            </a:pPr>
            <a:r>
              <a:rPr lang="tr-TR" b="1" i="0" dirty="0">
                <a:effectLst/>
                <a:latin typeface="Arial" panose="020B0604020202020204" pitchFamily="34" charset="0"/>
                <a:cs typeface="Arial" panose="020B0604020202020204" pitchFamily="34" charset="0"/>
              </a:rPr>
              <a:t>Benzerlik Ölçümü:</a:t>
            </a:r>
            <a:r>
              <a:rPr lang="tr-TR" b="0" i="0" dirty="0">
                <a:effectLst/>
                <a:latin typeface="Arial" panose="020B0604020202020204" pitchFamily="34" charset="0"/>
                <a:cs typeface="Arial" panose="020B0604020202020204" pitchFamily="34" charset="0"/>
              </a:rPr>
              <a:t> Öklid mesafesi genellikle kullanılan bir benzerlik ölçüsüdür. Ancak, veri seti ve problem bağlamına göre başka ölçüler de kullanılabilir.</a:t>
            </a:r>
          </a:p>
          <a:p>
            <a:pPr algn="l">
              <a:buFont typeface="+mj-lt"/>
              <a:buAutoNum type="arabicPeriod"/>
            </a:pPr>
            <a:r>
              <a:rPr lang="tr-TR" b="1" i="0" dirty="0">
                <a:effectLst/>
                <a:latin typeface="Arial" panose="020B0604020202020204" pitchFamily="34" charset="0"/>
                <a:cs typeface="Arial" panose="020B0604020202020204" pitchFamily="34" charset="0"/>
              </a:rPr>
              <a:t>Karar Mekanizması:</a:t>
            </a:r>
            <a:r>
              <a:rPr lang="tr-TR" b="0" i="0" dirty="0">
                <a:effectLst/>
                <a:latin typeface="Arial" panose="020B0604020202020204" pitchFamily="34" charset="0"/>
                <a:cs typeface="Arial" panose="020B0604020202020204" pitchFamily="34" charset="0"/>
              </a:rPr>
              <a:t> Sınıflandırma için, k en yakın komşunun etiketleri (sınıfları) toplanır ve en fazla sayıda olan sınıf, tahmin için kullanılır. Regresyon için, k en yakın komşunun değerleri ortalaması veya ağırlıklı ortalaması tahmin değeri olarak kullanılabilir.</a:t>
            </a:r>
          </a:p>
          <a:p>
            <a:pPr marL="0" indent="0">
              <a:buNone/>
            </a:pPr>
            <a:endParaRPr lang="tr-TR" dirty="0">
              <a:latin typeface="Arial" panose="020B0604020202020204" pitchFamily="34" charset="0"/>
              <a:cs typeface="Arial" panose="020B0604020202020204" pitchFamily="34" charset="0"/>
            </a:endParaRPr>
          </a:p>
        </p:txBody>
      </p:sp>
      <p:pic>
        <p:nvPicPr>
          <p:cNvPr id="2050" name="Picture 2" descr="KNN (K-Nearest Neighbors) #1. How it works? | by Italo José | Towards Data  Science">
            <a:extLst>
              <a:ext uri="{FF2B5EF4-FFF2-40B4-BE49-F238E27FC236}">
                <a16:creationId xmlns:a16="http://schemas.microsoft.com/office/drawing/2014/main" id="{5E3B610D-35AA-6C48-033D-9FF0365962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2158" y="2320881"/>
            <a:ext cx="4495029" cy="336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8906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62AC725-D687-B1D4-56C5-3154A7680C6D}"/>
              </a:ext>
            </a:extLst>
          </p:cNvPr>
          <p:cNvSpPr>
            <a:spLocks noGrp="1"/>
          </p:cNvSpPr>
          <p:nvPr>
            <p:ph type="title"/>
          </p:nvPr>
        </p:nvSpPr>
        <p:spPr/>
        <p:txBody>
          <a:bodyPr/>
          <a:lstStyle/>
          <a:p>
            <a:pPr algn="ctr"/>
            <a:r>
              <a:rPr lang="tr-TR" b="0" i="0" dirty="0">
                <a:effectLst/>
                <a:latin typeface="Arial" panose="020B0604020202020204" pitchFamily="34" charset="0"/>
                <a:cs typeface="Arial" panose="020B0604020202020204" pitchFamily="34" charset="0"/>
              </a:rPr>
              <a:t>KNN - K-</a:t>
            </a:r>
            <a:r>
              <a:rPr lang="tr-TR" b="0" i="0" dirty="0" err="1">
                <a:effectLst/>
                <a:latin typeface="Arial" panose="020B0604020202020204" pitchFamily="34" charset="0"/>
                <a:cs typeface="Arial" panose="020B0604020202020204" pitchFamily="34" charset="0"/>
              </a:rPr>
              <a:t>Nearest</a:t>
            </a:r>
            <a:r>
              <a:rPr lang="tr-TR" b="0" i="0" dirty="0">
                <a:effectLst/>
                <a:latin typeface="Arial" panose="020B0604020202020204" pitchFamily="34" charset="0"/>
                <a:cs typeface="Arial" panose="020B0604020202020204" pitchFamily="34" charset="0"/>
              </a:rPr>
              <a:t> </a:t>
            </a:r>
            <a:r>
              <a:rPr lang="tr-TR" b="0" i="0" dirty="0" err="1">
                <a:effectLst/>
                <a:latin typeface="Arial" panose="020B0604020202020204" pitchFamily="34" charset="0"/>
                <a:cs typeface="Arial" panose="020B0604020202020204" pitchFamily="34" charset="0"/>
              </a:rPr>
              <a:t>Neighbors</a:t>
            </a:r>
            <a:endParaRPr lang="tr-TR" dirty="0"/>
          </a:p>
        </p:txBody>
      </p:sp>
      <p:sp>
        <p:nvSpPr>
          <p:cNvPr id="3" name="İçerik Yer Tutucusu 2">
            <a:extLst>
              <a:ext uri="{FF2B5EF4-FFF2-40B4-BE49-F238E27FC236}">
                <a16:creationId xmlns:a16="http://schemas.microsoft.com/office/drawing/2014/main" id="{D41A0216-65CB-CD29-D1D5-59B7CA613CA7}"/>
              </a:ext>
            </a:extLst>
          </p:cNvPr>
          <p:cNvSpPr>
            <a:spLocks noGrp="1"/>
          </p:cNvSpPr>
          <p:nvPr>
            <p:ph idx="1"/>
          </p:nvPr>
        </p:nvSpPr>
        <p:spPr/>
        <p:txBody>
          <a:bodyPr>
            <a:normAutofit fontScale="77500" lnSpcReduction="20000"/>
          </a:bodyPr>
          <a:lstStyle/>
          <a:p>
            <a:pPr marL="0" indent="0" algn="l">
              <a:buNone/>
            </a:pPr>
            <a:r>
              <a:rPr lang="tr-TR" b="1" i="0" dirty="0">
                <a:effectLst/>
                <a:latin typeface="Arial" panose="020B0604020202020204" pitchFamily="34" charset="0"/>
                <a:cs typeface="Arial" panose="020B0604020202020204" pitchFamily="34" charset="0"/>
              </a:rPr>
              <a:t>Avantajları:</a:t>
            </a:r>
          </a:p>
          <a:p>
            <a:pPr marL="0" indent="0" algn="l">
              <a:buNone/>
            </a:pPr>
            <a:endParaRPr lang="tr-TR" b="0" i="0" dirty="0">
              <a:effectLst/>
              <a:latin typeface="Arial" panose="020B0604020202020204" pitchFamily="34" charset="0"/>
              <a:cs typeface="Arial" panose="020B0604020202020204" pitchFamily="34" charset="0"/>
            </a:endParaRPr>
          </a:p>
          <a:p>
            <a:pPr marL="457200" lvl="1" indent="0">
              <a:buNone/>
            </a:pPr>
            <a:r>
              <a:rPr lang="tr-TR" b="0" i="0" dirty="0">
                <a:effectLst/>
                <a:latin typeface="Arial" panose="020B0604020202020204" pitchFamily="34" charset="0"/>
                <a:cs typeface="Arial" panose="020B0604020202020204" pitchFamily="34" charset="0"/>
              </a:rPr>
              <a:t>Basit ve anlaşılması kolay bir algoritmadır.</a:t>
            </a:r>
          </a:p>
          <a:p>
            <a:pPr marL="457200" lvl="1" indent="0">
              <a:buNone/>
            </a:pPr>
            <a:r>
              <a:rPr lang="tr-TR" b="0" i="0" dirty="0">
                <a:effectLst/>
                <a:latin typeface="Arial" panose="020B0604020202020204" pitchFamily="34" charset="0"/>
                <a:cs typeface="Arial" panose="020B0604020202020204" pitchFamily="34" charset="0"/>
              </a:rPr>
              <a:t>Eğitim süreci yoktur, sadece tahmin yapma aşaması vardır.</a:t>
            </a:r>
          </a:p>
          <a:p>
            <a:pPr marL="457200" lvl="1" indent="0">
              <a:buNone/>
            </a:pPr>
            <a:r>
              <a:rPr lang="tr-TR" b="0" i="0" dirty="0" err="1">
                <a:effectLst/>
                <a:latin typeface="Arial" panose="020B0604020202020204" pitchFamily="34" charset="0"/>
                <a:cs typeface="Arial" panose="020B0604020202020204" pitchFamily="34" charset="0"/>
              </a:rPr>
              <a:t>Non</a:t>
            </a:r>
            <a:r>
              <a:rPr lang="tr-TR" b="0" i="0" dirty="0">
                <a:effectLst/>
                <a:latin typeface="Arial" panose="020B0604020202020204" pitchFamily="34" charset="0"/>
                <a:cs typeface="Arial" panose="020B0604020202020204" pitchFamily="34" charset="0"/>
              </a:rPr>
              <a:t>-parametrik bir algoritmadır, yani önceden varsayılan bir model yapısına sahip değildir.</a:t>
            </a:r>
          </a:p>
          <a:p>
            <a:pPr marL="0" indent="0" algn="l">
              <a:buNone/>
            </a:pPr>
            <a:endParaRPr lang="tr-TR" b="0" i="0" dirty="0">
              <a:effectLst/>
              <a:latin typeface="Arial" panose="020B0604020202020204" pitchFamily="34" charset="0"/>
              <a:cs typeface="Arial" panose="020B0604020202020204" pitchFamily="34" charset="0"/>
            </a:endParaRPr>
          </a:p>
          <a:p>
            <a:pPr marL="0" indent="0" algn="l">
              <a:buNone/>
            </a:pPr>
            <a:r>
              <a:rPr lang="tr-TR" b="1" i="0" dirty="0">
                <a:effectLst/>
                <a:latin typeface="Arial" panose="020B0604020202020204" pitchFamily="34" charset="0"/>
                <a:cs typeface="Arial" panose="020B0604020202020204" pitchFamily="34" charset="0"/>
              </a:rPr>
              <a:t>Dezavantajları:</a:t>
            </a:r>
          </a:p>
          <a:p>
            <a:pPr marL="0" indent="0" algn="l">
              <a:buNone/>
            </a:pPr>
            <a:endParaRPr lang="tr-TR" b="0" i="0" dirty="0">
              <a:effectLst/>
              <a:latin typeface="Arial" panose="020B0604020202020204" pitchFamily="34" charset="0"/>
              <a:cs typeface="Arial" panose="020B0604020202020204" pitchFamily="34" charset="0"/>
            </a:endParaRPr>
          </a:p>
          <a:p>
            <a:pPr marL="457200" lvl="1" indent="0">
              <a:buNone/>
            </a:pPr>
            <a:r>
              <a:rPr lang="tr-TR" b="0" i="0" dirty="0">
                <a:effectLst/>
                <a:latin typeface="Arial" panose="020B0604020202020204" pitchFamily="34" charset="0"/>
                <a:cs typeface="Arial" panose="020B0604020202020204" pitchFamily="34" charset="0"/>
              </a:rPr>
              <a:t>Tahmin yapmak için her zaman tüm veri setine ihtiyaç duyar, bu da büyük veri setlerinde zaman ve hafıza maliyetine yol açabilir.</a:t>
            </a:r>
          </a:p>
          <a:p>
            <a:pPr marL="457200" lvl="1" indent="0">
              <a:buNone/>
            </a:pPr>
            <a:r>
              <a:rPr lang="tr-TR" b="0" i="0" dirty="0">
                <a:effectLst/>
                <a:latin typeface="Arial" panose="020B0604020202020204" pitchFamily="34" charset="0"/>
                <a:cs typeface="Arial" panose="020B0604020202020204" pitchFamily="34" charset="0"/>
              </a:rPr>
              <a:t>Hesaplama yoğun olabilir, özellikle çok sayıda özellik veya büyük veri setleriyle çalışırken.</a:t>
            </a:r>
          </a:p>
          <a:p>
            <a:pPr marL="457200" lvl="1" indent="0">
              <a:buNone/>
            </a:pPr>
            <a:r>
              <a:rPr lang="tr-TR" b="0" i="0" dirty="0">
                <a:effectLst/>
                <a:latin typeface="Arial" panose="020B0604020202020204" pitchFamily="34" charset="0"/>
                <a:cs typeface="Arial" panose="020B0604020202020204" pitchFamily="34" charset="0"/>
              </a:rPr>
              <a:t>Optimal k değerini seçmek zor olabilir ve yanlılığa veya varyansa yol açabilir.</a:t>
            </a:r>
          </a:p>
          <a:p>
            <a:pPr marL="457200" lvl="1" indent="0">
              <a:buNone/>
            </a:pPr>
            <a:r>
              <a:rPr lang="tr-TR" b="0" i="0" dirty="0">
                <a:effectLst/>
                <a:latin typeface="Arial" panose="020B0604020202020204" pitchFamily="34" charset="0"/>
                <a:cs typeface="Arial" panose="020B0604020202020204" pitchFamily="34" charset="0"/>
              </a:rPr>
              <a:t>KNN, basitliği ve esnekliği sayesinde sınıflandırma ve regresyon problemlerinde kullanılabilecek etkili bir yöntemdir. Ancak, veri seti ve problemin özelliklerine göre başka algoritmalar da tercih edilebilir.</a:t>
            </a:r>
          </a:p>
          <a:p>
            <a:endParaRPr lang="tr-T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674286"/>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380</Words>
  <Application>Microsoft Office PowerPoint</Application>
  <PresentationFormat>Geniş ekran</PresentationFormat>
  <Paragraphs>26</Paragraphs>
  <Slides>4</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4</vt:i4>
      </vt:variant>
    </vt:vector>
  </HeadingPairs>
  <TitlesOfParts>
    <vt:vector size="8" baseType="lpstr">
      <vt:lpstr>Arial</vt:lpstr>
      <vt:lpstr>Calibri</vt:lpstr>
      <vt:lpstr>Calibri Light</vt:lpstr>
      <vt:lpstr>Office Teması</vt:lpstr>
      <vt:lpstr>PowerPoint Sunusu</vt:lpstr>
      <vt:lpstr>Lojistik Regresyon</vt:lpstr>
      <vt:lpstr>KNN - K-Nearest Neighbors</vt:lpstr>
      <vt:lpstr>KNN - K-Nearest Neighbors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Noo Nickk</dc:creator>
  <cp:lastModifiedBy>Cengiz Ceylan</cp:lastModifiedBy>
  <cp:revision>7</cp:revision>
  <dcterms:created xsi:type="dcterms:W3CDTF">2023-12-12T16:44:55Z</dcterms:created>
  <dcterms:modified xsi:type="dcterms:W3CDTF">2026-07-30T10:47:57Z</dcterms:modified>
</cp:coreProperties>
</file>