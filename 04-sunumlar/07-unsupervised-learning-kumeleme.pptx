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77F0290-7BD2-FCF0-4AEB-35DFDA1A0B2F}"/>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CF30630E-2301-664D-C756-94A01FB83C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B22AD60D-63E4-FC7E-5AF6-347A429B9551}"/>
              </a:ext>
            </a:extLst>
          </p:cNvPr>
          <p:cNvSpPr>
            <a:spLocks noGrp="1"/>
          </p:cNvSpPr>
          <p:nvPr>
            <p:ph type="dt" sz="half" idx="10"/>
          </p:nvPr>
        </p:nvSpPr>
        <p:spPr/>
        <p:txBody>
          <a:bodyPr/>
          <a:lstStyle/>
          <a:p>
            <a:fld id="{D7840FE3-F54A-4824-AEF1-4898D2EFCA3D}" type="datetimeFigureOut">
              <a:rPr lang="tr-TR" smtClean="0"/>
              <a:t>30.07.2026</a:t>
            </a:fld>
            <a:endParaRPr lang="tr-TR"/>
          </a:p>
        </p:txBody>
      </p:sp>
      <p:sp>
        <p:nvSpPr>
          <p:cNvPr id="5" name="Alt Bilgi Yer Tutucusu 4">
            <a:extLst>
              <a:ext uri="{FF2B5EF4-FFF2-40B4-BE49-F238E27FC236}">
                <a16:creationId xmlns:a16="http://schemas.microsoft.com/office/drawing/2014/main" id="{298F85D7-0189-BE6F-A8FE-071F279BC4F7}"/>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47CC57E-81CF-4E8B-B9C0-382C0F4E3E96}"/>
              </a:ext>
            </a:extLst>
          </p:cNvPr>
          <p:cNvSpPr>
            <a:spLocks noGrp="1"/>
          </p:cNvSpPr>
          <p:nvPr>
            <p:ph type="sldNum" sz="quarter" idx="12"/>
          </p:nvPr>
        </p:nvSpPr>
        <p:spPr/>
        <p:txBody>
          <a:bodyPr/>
          <a:lstStyle/>
          <a:p>
            <a:fld id="{1827780A-C633-4445-BD1C-5000FBD263E2}" type="slidenum">
              <a:rPr lang="tr-TR" smtClean="0"/>
              <a:t>‹#›</a:t>
            </a:fld>
            <a:endParaRPr lang="tr-TR"/>
          </a:p>
        </p:txBody>
      </p:sp>
    </p:spTree>
    <p:extLst>
      <p:ext uri="{BB962C8B-B14F-4D97-AF65-F5344CB8AC3E}">
        <p14:creationId xmlns:p14="http://schemas.microsoft.com/office/powerpoint/2010/main" val="1767010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552FCA8-C916-925D-6435-2649F7661743}"/>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FEEFC734-740C-7F84-1CB0-CD882EF399D1}"/>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EEB3ED3F-1BCF-B019-955D-66BE57AE73CA}"/>
              </a:ext>
            </a:extLst>
          </p:cNvPr>
          <p:cNvSpPr>
            <a:spLocks noGrp="1"/>
          </p:cNvSpPr>
          <p:nvPr>
            <p:ph type="dt" sz="half" idx="10"/>
          </p:nvPr>
        </p:nvSpPr>
        <p:spPr/>
        <p:txBody>
          <a:bodyPr/>
          <a:lstStyle/>
          <a:p>
            <a:fld id="{D7840FE3-F54A-4824-AEF1-4898D2EFCA3D}" type="datetimeFigureOut">
              <a:rPr lang="tr-TR" smtClean="0"/>
              <a:t>30.07.2026</a:t>
            </a:fld>
            <a:endParaRPr lang="tr-TR"/>
          </a:p>
        </p:txBody>
      </p:sp>
      <p:sp>
        <p:nvSpPr>
          <p:cNvPr id="5" name="Alt Bilgi Yer Tutucusu 4">
            <a:extLst>
              <a:ext uri="{FF2B5EF4-FFF2-40B4-BE49-F238E27FC236}">
                <a16:creationId xmlns:a16="http://schemas.microsoft.com/office/drawing/2014/main" id="{4161498C-BF3E-B194-B600-A0E7E0A5367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97055F54-46D3-E09B-4D96-54DC489B9D35}"/>
              </a:ext>
            </a:extLst>
          </p:cNvPr>
          <p:cNvSpPr>
            <a:spLocks noGrp="1"/>
          </p:cNvSpPr>
          <p:nvPr>
            <p:ph type="sldNum" sz="quarter" idx="12"/>
          </p:nvPr>
        </p:nvSpPr>
        <p:spPr/>
        <p:txBody>
          <a:bodyPr/>
          <a:lstStyle/>
          <a:p>
            <a:fld id="{1827780A-C633-4445-BD1C-5000FBD263E2}" type="slidenum">
              <a:rPr lang="tr-TR" smtClean="0"/>
              <a:t>‹#›</a:t>
            </a:fld>
            <a:endParaRPr lang="tr-TR"/>
          </a:p>
        </p:txBody>
      </p:sp>
    </p:spTree>
    <p:extLst>
      <p:ext uri="{BB962C8B-B14F-4D97-AF65-F5344CB8AC3E}">
        <p14:creationId xmlns:p14="http://schemas.microsoft.com/office/powerpoint/2010/main" val="1202618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5CE024B-4550-7574-1220-F1AFEF98D3E4}"/>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FDC29F30-EB93-02E4-CEFC-8486B67DA9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9490034B-CC37-634C-C1F5-581214F144A7}"/>
              </a:ext>
            </a:extLst>
          </p:cNvPr>
          <p:cNvSpPr>
            <a:spLocks noGrp="1"/>
          </p:cNvSpPr>
          <p:nvPr>
            <p:ph type="dt" sz="half" idx="10"/>
          </p:nvPr>
        </p:nvSpPr>
        <p:spPr/>
        <p:txBody>
          <a:bodyPr/>
          <a:lstStyle/>
          <a:p>
            <a:fld id="{D7840FE3-F54A-4824-AEF1-4898D2EFCA3D}" type="datetimeFigureOut">
              <a:rPr lang="tr-TR" smtClean="0"/>
              <a:t>30.07.2026</a:t>
            </a:fld>
            <a:endParaRPr lang="tr-TR"/>
          </a:p>
        </p:txBody>
      </p:sp>
      <p:sp>
        <p:nvSpPr>
          <p:cNvPr id="5" name="Alt Bilgi Yer Tutucusu 4">
            <a:extLst>
              <a:ext uri="{FF2B5EF4-FFF2-40B4-BE49-F238E27FC236}">
                <a16:creationId xmlns:a16="http://schemas.microsoft.com/office/drawing/2014/main" id="{16CD38F2-20F5-6CBA-3F91-78F7AFD7720E}"/>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9341CFA1-13D5-1C69-F4CE-56183E8713BF}"/>
              </a:ext>
            </a:extLst>
          </p:cNvPr>
          <p:cNvSpPr>
            <a:spLocks noGrp="1"/>
          </p:cNvSpPr>
          <p:nvPr>
            <p:ph type="sldNum" sz="quarter" idx="12"/>
          </p:nvPr>
        </p:nvSpPr>
        <p:spPr/>
        <p:txBody>
          <a:bodyPr/>
          <a:lstStyle/>
          <a:p>
            <a:fld id="{1827780A-C633-4445-BD1C-5000FBD263E2}" type="slidenum">
              <a:rPr lang="tr-TR" smtClean="0"/>
              <a:t>‹#›</a:t>
            </a:fld>
            <a:endParaRPr lang="tr-TR"/>
          </a:p>
        </p:txBody>
      </p:sp>
    </p:spTree>
    <p:extLst>
      <p:ext uri="{BB962C8B-B14F-4D97-AF65-F5344CB8AC3E}">
        <p14:creationId xmlns:p14="http://schemas.microsoft.com/office/powerpoint/2010/main" val="2957332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314F01A-B082-969C-FCEC-5C745087DD57}"/>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B54D5A18-1643-AAE9-15D5-5F2B6E87CF89}"/>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B3AD2D63-695B-49D8-6D86-C2E24896EA7C}"/>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02A43980-BA44-E794-78A4-132EBD896C70}"/>
              </a:ext>
            </a:extLst>
          </p:cNvPr>
          <p:cNvSpPr>
            <a:spLocks noGrp="1"/>
          </p:cNvSpPr>
          <p:nvPr>
            <p:ph type="dt" sz="half" idx="10"/>
          </p:nvPr>
        </p:nvSpPr>
        <p:spPr/>
        <p:txBody>
          <a:bodyPr/>
          <a:lstStyle/>
          <a:p>
            <a:fld id="{D7840FE3-F54A-4824-AEF1-4898D2EFCA3D}" type="datetimeFigureOut">
              <a:rPr lang="tr-TR" smtClean="0"/>
              <a:t>30.07.2026</a:t>
            </a:fld>
            <a:endParaRPr lang="tr-TR"/>
          </a:p>
        </p:txBody>
      </p:sp>
      <p:sp>
        <p:nvSpPr>
          <p:cNvPr id="6" name="Alt Bilgi Yer Tutucusu 5">
            <a:extLst>
              <a:ext uri="{FF2B5EF4-FFF2-40B4-BE49-F238E27FC236}">
                <a16:creationId xmlns:a16="http://schemas.microsoft.com/office/drawing/2014/main" id="{9647C453-2EEF-13C9-0F24-47F3EB603684}"/>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3FEDCD79-0A30-1FB3-9535-99400A4B35C9}"/>
              </a:ext>
            </a:extLst>
          </p:cNvPr>
          <p:cNvSpPr>
            <a:spLocks noGrp="1"/>
          </p:cNvSpPr>
          <p:nvPr>
            <p:ph type="sldNum" sz="quarter" idx="12"/>
          </p:nvPr>
        </p:nvSpPr>
        <p:spPr/>
        <p:txBody>
          <a:bodyPr/>
          <a:lstStyle/>
          <a:p>
            <a:fld id="{1827780A-C633-4445-BD1C-5000FBD263E2}" type="slidenum">
              <a:rPr lang="tr-TR" smtClean="0"/>
              <a:t>‹#›</a:t>
            </a:fld>
            <a:endParaRPr lang="tr-TR"/>
          </a:p>
        </p:txBody>
      </p:sp>
    </p:spTree>
    <p:extLst>
      <p:ext uri="{BB962C8B-B14F-4D97-AF65-F5344CB8AC3E}">
        <p14:creationId xmlns:p14="http://schemas.microsoft.com/office/powerpoint/2010/main" val="3883396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3F5A70E-C268-E61B-610D-4C150BB34F31}"/>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A33B7BC3-4EBC-EB8F-33F4-545A170F1D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16E175A9-F53D-0675-6484-0398B1A992A5}"/>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DD03F310-7FFA-97CC-1932-1124AC215D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1839A525-F82E-4887-1048-12FB6EB257D7}"/>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8D74F2F9-E086-BD9E-1CC7-8F3AEEA4078D}"/>
              </a:ext>
            </a:extLst>
          </p:cNvPr>
          <p:cNvSpPr>
            <a:spLocks noGrp="1"/>
          </p:cNvSpPr>
          <p:nvPr>
            <p:ph type="dt" sz="half" idx="10"/>
          </p:nvPr>
        </p:nvSpPr>
        <p:spPr/>
        <p:txBody>
          <a:bodyPr/>
          <a:lstStyle/>
          <a:p>
            <a:fld id="{D7840FE3-F54A-4824-AEF1-4898D2EFCA3D}" type="datetimeFigureOut">
              <a:rPr lang="tr-TR" smtClean="0"/>
              <a:t>30.07.2026</a:t>
            </a:fld>
            <a:endParaRPr lang="tr-TR"/>
          </a:p>
        </p:txBody>
      </p:sp>
      <p:sp>
        <p:nvSpPr>
          <p:cNvPr id="8" name="Alt Bilgi Yer Tutucusu 7">
            <a:extLst>
              <a:ext uri="{FF2B5EF4-FFF2-40B4-BE49-F238E27FC236}">
                <a16:creationId xmlns:a16="http://schemas.microsoft.com/office/drawing/2014/main" id="{AAFEA2CA-6D60-6911-C485-4D274349CAA1}"/>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B475D5DD-9A04-6D45-0544-90DB372ED361}"/>
              </a:ext>
            </a:extLst>
          </p:cNvPr>
          <p:cNvSpPr>
            <a:spLocks noGrp="1"/>
          </p:cNvSpPr>
          <p:nvPr>
            <p:ph type="sldNum" sz="quarter" idx="12"/>
          </p:nvPr>
        </p:nvSpPr>
        <p:spPr/>
        <p:txBody>
          <a:bodyPr/>
          <a:lstStyle/>
          <a:p>
            <a:fld id="{1827780A-C633-4445-BD1C-5000FBD263E2}" type="slidenum">
              <a:rPr lang="tr-TR" smtClean="0"/>
              <a:t>‹#›</a:t>
            </a:fld>
            <a:endParaRPr lang="tr-TR"/>
          </a:p>
        </p:txBody>
      </p:sp>
    </p:spTree>
    <p:extLst>
      <p:ext uri="{BB962C8B-B14F-4D97-AF65-F5344CB8AC3E}">
        <p14:creationId xmlns:p14="http://schemas.microsoft.com/office/powerpoint/2010/main" val="279812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F66600A-7857-8C01-1B94-04A8B882EC64}"/>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2506B5FD-BC85-B18D-EA33-7025E8F079F0}"/>
              </a:ext>
            </a:extLst>
          </p:cNvPr>
          <p:cNvSpPr>
            <a:spLocks noGrp="1"/>
          </p:cNvSpPr>
          <p:nvPr>
            <p:ph type="dt" sz="half" idx="10"/>
          </p:nvPr>
        </p:nvSpPr>
        <p:spPr/>
        <p:txBody>
          <a:bodyPr/>
          <a:lstStyle/>
          <a:p>
            <a:fld id="{D7840FE3-F54A-4824-AEF1-4898D2EFCA3D}" type="datetimeFigureOut">
              <a:rPr lang="tr-TR" smtClean="0"/>
              <a:t>30.07.2026</a:t>
            </a:fld>
            <a:endParaRPr lang="tr-TR"/>
          </a:p>
        </p:txBody>
      </p:sp>
      <p:sp>
        <p:nvSpPr>
          <p:cNvPr id="4" name="Alt Bilgi Yer Tutucusu 3">
            <a:extLst>
              <a:ext uri="{FF2B5EF4-FFF2-40B4-BE49-F238E27FC236}">
                <a16:creationId xmlns:a16="http://schemas.microsoft.com/office/drawing/2014/main" id="{AF9BD5A8-34C7-7AA1-4443-A7940B52901A}"/>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74945C70-16F6-6D70-7DBB-5DF5C0CEAAF2}"/>
              </a:ext>
            </a:extLst>
          </p:cNvPr>
          <p:cNvSpPr>
            <a:spLocks noGrp="1"/>
          </p:cNvSpPr>
          <p:nvPr>
            <p:ph type="sldNum" sz="quarter" idx="12"/>
          </p:nvPr>
        </p:nvSpPr>
        <p:spPr/>
        <p:txBody>
          <a:bodyPr/>
          <a:lstStyle/>
          <a:p>
            <a:fld id="{1827780A-C633-4445-BD1C-5000FBD263E2}" type="slidenum">
              <a:rPr lang="tr-TR" smtClean="0"/>
              <a:t>‹#›</a:t>
            </a:fld>
            <a:endParaRPr lang="tr-TR"/>
          </a:p>
        </p:txBody>
      </p:sp>
    </p:spTree>
    <p:extLst>
      <p:ext uri="{BB962C8B-B14F-4D97-AF65-F5344CB8AC3E}">
        <p14:creationId xmlns:p14="http://schemas.microsoft.com/office/powerpoint/2010/main" val="2462481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49CD746B-2878-D5A2-CCC1-363935BCDF4C}"/>
              </a:ext>
            </a:extLst>
          </p:cNvPr>
          <p:cNvSpPr>
            <a:spLocks noGrp="1"/>
          </p:cNvSpPr>
          <p:nvPr>
            <p:ph type="dt" sz="half" idx="10"/>
          </p:nvPr>
        </p:nvSpPr>
        <p:spPr/>
        <p:txBody>
          <a:bodyPr/>
          <a:lstStyle/>
          <a:p>
            <a:fld id="{D7840FE3-F54A-4824-AEF1-4898D2EFCA3D}" type="datetimeFigureOut">
              <a:rPr lang="tr-TR" smtClean="0"/>
              <a:t>30.07.2026</a:t>
            </a:fld>
            <a:endParaRPr lang="tr-TR"/>
          </a:p>
        </p:txBody>
      </p:sp>
      <p:sp>
        <p:nvSpPr>
          <p:cNvPr id="3" name="Alt Bilgi Yer Tutucusu 2">
            <a:extLst>
              <a:ext uri="{FF2B5EF4-FFF2-40B4-BE49-F238E27FC236}">
                <a16:creationId xmlns:a16="http://schemas.microsoft.com/office/drawing/2014/main" id="{97623A96-115A-11A6-C141-C5513A681F53}"/>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85323324-7DE0-903E-5351-5382A7F464AF}"/>
              </a:ext>
            </a:extLst>
          </p:cNvPr>
          <p:cNvSpPr>
            <a:spLocks noGrp="1"/>
          </p:cNvSpPr>
          <p:nvPr>
            <p:ph type="sldNum" sz="quarter" idx="12"/>
          </p:nvPr>
        </p:nvSpPr>
        <p:spPr/>
        <p:txBody>
          <a:bodyPr/>
          <a:lstStyle/>
          <a:p>
            <a:fld id="{1827780A-C633-4445-BD1C-5000FBD263E2}" type="slidenum">
              <a:rPr lang="tr-TR" smtClean="0"/>
              <a:t>‹#›</a:t>
            </a:fld>
            <a:endParaRPr lang="tr-TR"/>
          </a:p>
        </p:txBody>
      </p:sp>
    </p:spTree>
    <p:extLst>
      <p:ext uri="{BB962C8B-B14F-4D97-AF65-F5344CB8AC3E}">
        <p14:creationId xmlns:p14="http://schemas.microsoft.com/office/powerpoint/2010/main" val="2081732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0BCD21F-C16E-0048-CF07-D3800B2101A8}"/>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945FD542-B1E1-E78F-F300-0528164531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D37887BE-1465-BB7C-EAD2-31234D9B17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BF9730AA-FEE9-F914-5A88-3204B9A48EA7}"/>
              </a:ext>
            </a:extLst>
          </p:cNvPr>
          <p:cNvSpPr>
            <a:spLocks noGrp="1"/>
          </p:cNvSpPr>
          <p:nvPr>
            <p:ph type="dt" sz="half" idx="10"/>
          </p:nvPr>
        </p:nvSpPr>
        <p:spPr/>
        <p:txBody>
          <a:bodyPr/>
          <a:lstStyle/>
          <a:p>
            <a:fld id="{D7840FE3-F54A-4824-AEF1-4898D2EFCA3D}" type="datetimeFigureOut">
              <a:rPr lang="tr-TR" smtClean="0"/>
              <a:t>30.07.2026</a:t>
            </a:fld>
            <a:endParaRPr lang="tr-TR"/>
          </a:p>
        </p:txBody>
      </p:sp>
      <p:sp>
        <p:nvSpPr>
          <p:cNvPr id="6" name="Alt Bilgi Yer Tutucusu 5">
            <a:extLst>
              <a:ext uri="{FF2B5EF4-FFF2-40B4-BE49-F238E27FC236}">
                <a16:creationId xmlns:a16="http://schemas.microsoft.com/office/drawing/2014/main" id="{11BE7BDF-2D05-0D34-99C3-9F53DB32B08E}"/>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F155FE9B-F7E7-B712-867D-8612C6329AD8}"/>
              </a:ext>
            </a:extLst>
          </p:cNvPr>
          <p:cNvSpPr>
            <a:spLocks noGrp="1"/>
          </p:cNvSpPr>
          <p:nvPr>
            <p:ph type="sldNum" sz="quarter" idx="12"/>
          </p:nvPr>
        </p:nvSpPr>
        <p:spPr/>
        <p:txBody>
          <a:bodyPr/>
          <a:lstStyle/>
          <a:p>
            <a:fld id="{1827780A-C633-4445-BD1C-5000FBD263E2}" type="slidenum">
              <a:rPr lang="tr-TR" smtClean="0"/>
              <a:t>‹#›</a:t>
            </a:fld>
            <a:endParaRPr lang="tr-TR"/>
          </a:p>
        </p:txBody>
      </p:sp>
    </p:spTree>
    <p:extLst>
      <p:ext uri="{BB962C8B-B14F-4D97-AF65-F5344CB8AC3E}">
        <p14:creationId xmlns:p14="http://schemas.microsoft.com/office/powerpoint/2010/main" val="355490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3154A4C-60CA-52C7-F44D-FB4D66F4DC75}"/>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63DB3425-CD45-26F7-D293-091ED2DD6A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C398D161-8FAC-27DD-F2E6-F8700BF4CF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4A215134-9D86-3099-0BE7-F7660FEBD799}"/>
              </a:ext>
            </a:extLst>
          </p:cNvPr>
          <p:cNvSpPr>
            <a:spLocks noGrp="1"/>
          </p:cNvSpPr>
          <p:nvPr>
            <p:ph type="dt" sz="half" idx="10"/>
          </p:nvPr>
        </p:nvSpPr>
        <p:spPr/>
        <p:txBody>
          <a:bodyPr/>
          <a:lstStyle/>
          <a:p>
            <a:fld id="{D7840FE3-F54A-4824-AEF1-4898D2EFCA3D}" type="datetimeFigureOut">
              <a:rPr lang="tr-TR" smtClean="0"/>
              <a:t>30.07.2026</a:t>
            </a:fld>
            <a:endParaRPr lang="tr-TR"/>
          </a:p>
        </p:txBody>
      </p:sp>
      <p:sp>
        <p:nvSpPr>
          <p:cNvPr id="6" name="Alt Bilgi Yer Tutucusu 5">
            <a:extLst>
              <a:ext uri="{FF2B5EF4-FFF2-40B4-BE49-F238E27FC236}">
                <a16:creationId xmlns:a16="http://schemas.microsoft.com/office/drawing/2014/main" id="{9ABEACC4-A2CA-0499-CDBD-52C60B1E907A}"/>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BC287AA6-0C62-C7AB-BFAC-5F4D5BA8E716}"/>
              </a:ext>
            </a:extLst>
          </p:cNvPr>
          <p:cNvSpPr>
            <a:spLocks noGrp="1"/>
          </p:cNvSpPr>
          <p:nvPr>
            <p:ph type="sldNum" sz="quarter" idx="12"/>
          </p:nvPr>
        </p:nvSpPr>
        <p:spPr/>
        <p:txBody>
          <a:bodyPr/>
          <a:lstStyle/>
          <a:p>
            <a:fld id="{1827780A-C633-4445-BD1C-5000FBD263E2}" type="slidenum">
              <a:rPr lang="tr-TR" smtClean="0"/>
              <a:t>‹#›</a:t>
            </a:fld>
            <a:endParaRPr lang="tr-TR"/>
          </a:p>
        </p:txBody>
      </p:sp>
    </p:spTree>
    <p:extLst>
      <p:ext uri="{BB962C8B-B14F-4D97-AF65-F5344CB8AC3E}">
        <p14:creationId xmlns:p14="http://schemas.microsoft.com/office/powerpoint/2010/main" val="803118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DCFCA55-EE1D-5D0C-33BA-1D7D242B5FAF}"/>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BD67E9B7-C638-7728-0B18-AD3EE4F064C4}"/>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A326FD5E-57F6-C3E8-2B62-384070BF9E7B}"/>
              </a:ext>
            </a:extLst>
          </p:cNvPr>
          <p:cNvSpPr>
            <a:spLocks noGrp="1"/>
          </p:cNvSpPr>
          <p:nvPr>
            <p:ph type="dt" sz="half" idx="10"/>
          </p:nvPr>
        </p:nvSpPr>
        <p:spPr/>
        <p:txBody>
          <a:bodyPr/>
          <a:lstStyle/>
          <a:p>
            <a:fld id="{D7840FE3-F54A-4824-AEF1-4898D2EFCA3D}" type="datetimeFigureOut">
              <a:rPr lang="tr-TR" smtClean="0"/>
              <a:t>30.07.2026</a:t>
            </a:fld>
            <a:endParaRPr lang="tr-TR"/>
          </a:p>
        </p:txBody>
      </p:sp>
      <p:sp>
        <p:nvSpPr>
          <p:cNvPr id="5" name="Alt Bilgi Yer Tutucusu 4">
            <a:extLst>
              <a:ext uri="{FF2B5EF4-FFF2-40B4-BE49-F238E27FC236}">
                <a16:creationId xmlns:a16="http://schemas.microsoft.com/office/drawing/2014/main" id="{C11B6441-5F43-8373-0069-22B7D3930555}"/>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1F2E1A38-A32F-C140-6DE5-950199D148A4}"/>
              </a:ext>
            </a:extLst>
          </p:cNvPr>
          <p:cNvSpPr>
            <a:spLocks noGrp="1"/>
          </p:cNvSpPr>
          <p:nvPr>
            <p:ph type="sldNum" sz="quarter" idx="12"/>
          </p:nvPr>
        </p:nvSpPr>
        <p:spPr/>
        <p:txBody>
          <a:bodyPr/>
          <a:lstStyle/>
          <a:p>
            <a:fld id="{1827780A-C633-4445-BD1C-5000FBD263E2}" type="slidenum">
              <a:rPr lang="tr-TR" smtClean="0"/>
              <a:t>‹#›</a:t>
            </a:fld>
            <a:endParaRPr lang="tr-TR"/>
          </a:p>
        </p:txBody>
      </p:sp>
    </p:spTree>
    <p:extLst>
      <p:ext uri="{BB962C8B-B14F-4D97-AF65-F5344CB8AC3E}">
        <p14:creationId xmlns:p14="http://schemas.microsoft.com/office/powerpoint/2010/main" val="2854497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AA46DE20-0E80-89C2-E8C2-1348D3B58D54}"/>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D18CA9A6-34FC-B6E0-0B46-464CE642A664}"/>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35F31CCB-9688-4703-1957-48AF3E893D8F}"/>
              </a:ext>
            </a:extLst>
          </p:cNvPr>
          <p:cNvSpPr>
            <a:spLocks noGrp="1"/>
          </p:cNvSpPr>
          <p:nvPr>
            <p:ph type="dt" sz="half" idx="10"/>
          </p:nvPr>
        </p:nvSpPr>
        <p:spPr/>
        <p:txBody>
          <a:bodyPr/>
          <a:lstStyle/>
          <a:p>
            <a:fld id="{D7840FE3-F54A-4824-AEF1-4898D2EFCA3D}" type="datetimeFigureOut">
              <a:rPr lang="tr-TR" smtClean="0"/>
              <a:t>30.07.2026</a:t>
            </a:fld>
            <a:endParaRPr lang="tr-TR"/>
          </a:p>
        </p:txBody>
      </p:sp>
      <p:sp>
        <p:nvSpPr>
          <p:cNvPr id="5" name="Alt Bilgi Yer Tutucusu 4">
            <a:extLst>
              <a:ext uri="{FF2B5EF4-FFF2-40B4-BE49-F238E27FC236}">
                <a16:creationId xmlns:a16="http://schemas.microsoft.com/office/drawing/2014/main" id="{D0BCF75C-CDBD-D6C7-0ABE-4EB5180EDDA1}"/>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D9104AFB-F3BC-2F79-94D8-C87F036041E6}"/>
              </a:ext>
            </a:extLst>
          </p:cNvPr>
          <p:cNvSpPr>
            <a:spLocks noGrp="1"/>
          </p:cNvSpPr>
          <p:nvPr>
            <p:ph type="sldNum" sz="quarter" idx="12"/>
          </p:nvPr>
        </p:nvSpPr>
        <p:spPr/>
        <p:txBody>
          <a:bodyPr/>
          <a:lstStyle/>
          <a:p>
            <a:fld id="{1827780A-C633-4445-BD1C-5000FBD263E2}" type="slidenum">
              <a:rPr lang="tr-TR" smtClean="0"/>
              <a:t>‹#›</a:t>
            </a:fld>
            <a:endParaRPr lang="tr-TR"/>
          </a:p>
        </p:txBody>
      </p:sp>
    </p:spTree>
    <p:extLst>
      <p:ext uri="{BB962C8B-B14F-4D97-AF65-F5344CB8AC3E}">
        <p14:creationId xmlns:p14="http://schemas.microsoft.com/office/powerpoint/2010/main" val="3224911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B20F7E2E-49F5-6479-A479-29C2DD50DE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239D2975-753B-E651-2017-1144805928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091E5D14-4C37-9C0A-C146-DFF06564A7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840FE3-F54A-4824-AEF1-4898D2EFCA3D}" type="datetimeFigureOut">
              <a:rPr lang="tr-TR" smtClean="0"/>
              <a:t>30.07.2026</a:t>
            </a:fld>
            <a:endParaRPr lang="tr-TR"/>
          </a:p>
        </p:txBody>
      </p:sp>
      <p:sp>
        <p:nvSpPr>
          <p:cNvPr id="5" name="Alt Bilgi Yer Tutucusu 4">
            <a:extLst>
              <a:ext uri="{FF2B5EF4-FFF2-40B4-BE49-F238E27FC236}">
                <a16:creationId xmlns:a16="http://schemas.microsoft.com/office/drawing/2014/main" id="{64565899-8C4E-C848-420F-04FAB26148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0BAFE633-F623-F0A4-9133-3AFCA6CD94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27780A-C633-4445-BD1C-5000FBD263E2}" type="slidenum">
              <a:rPr lang="tr-TR" smtClean="0"/>
              <a:t>‹#›</a:t>
            </a:fld>
            <a:endParaRPr lang="tr-TR"/>
          </a:p>
        </p:txBody>
      </p:sp>
    </p:spTree>
    <p:extLst>
      <p:ext uri="{BB962C8B-B14F-4D97-AF65-F5344CB8AC3E}">
        <p14:creationId xmlns:p14="http://schemas.microsoft.com/office/powerpoint/2010/main" val="845219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F33C809D-3BEB-332F-EFDD-FAAE3AB0F113}"/>
              </a:ext>
            </a:extLst>
          </p:cNvPr>
          <p:cNvSpPr txBox="1"/>
          <p:nvPr/>
        </p:nvSpPr>
        <p:spPr>
          <a:xfrm>
            <a:off x="2142744" y="5431536"/>
            <a:ext cx="7906512" cy="830997"/>
          </a:xfrm>
          <a:prstGeom prst="rect">
            <a:avLst/>
          </a:prstGeom>
          <a:noFill/>
        </p:spPr>
        <p:txBody>
          <a:bodyPr wrap="square" rtlCol="0">
            <a:spAutoFit/>
          </a:bodyPr>
          <a:lstStyle/>
          <a:p>
            <a:pPr algn="ctr"/>
            <a:r>
              <a:rPr lang="tr-TR" sz="4800" dirty="0"/>
              <a:t>Denetimsiz Modeller</a:t>
            </a:r>
          </a:p>
        </p:txBody>
      </p:sp>
      <p:pic>
        <p:nvPicPr>
          <p:cNvPr id="3" name="Resim 2">
            <a:extLst>
              <a:ext uri="{FF2B5EF4-FFF2-40B4-BE49-F238E27FC236}">
                <a16:creationId xmlns:a16="http://schemas.microsoft.com/office/drawing/2014/main" id="{AF82E762-F194-3A66-741D-75AB3DB3E3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1938" y="1005133"/>
            <a:ext cx="4108123" cy="4108123"/>
          </a:xfrm>
          <a:prstGeom prst="rect">
            <a:avLst/>
          </a:prstGeom>
        </p:spPr>
      </p:pic>
      <p:pic>
        <p:nvPicPr>
          <p:cNvPr id="2" name="Resim 1" descr="Zemin İstanbul ve Veri Laboratuvarı, Tech Istanbul markası altında  birleşiyor - Webrazzi">
            <a:extLst>
              <a:ext uri="{FF2B5EF4-FFF2-40B4-BE49-F238E27FC236}">
                <a16:creationId xmlns:a16="http://schemas.microsoft.com/office/drawing/2014/main" id="{3AEA3556-2B90-9606-7832-18EB1FB1C6B9}"/>
              </a:ext>
            </a:extLst>
          </p:cNvPr>
          <p:cNvPicPr>
            <a:picLocks noChangeAspect="1"/>
          </p:cNvPicPr>
          <p:nvPr/>
        </p:nvPicPr>
        <p:blipFill>
          <a:blip r:embed="rId3"/>
          <a:stretch>
            <a:fillRect/>
          </a:stretch>
        </p:blipFill>
        <p:spPr>
          <a:xfrm>
            <a:off x="1523999" y="288036"/>
            <a:ext cx="9144000" cy="5143500"/>
          </a:xfrm>
          <a:prstGeom prst="rect">
            <a:avLst/>
          </a:prstGeom>
        </p:spPr>
      </p:pic>
    </p:spTree>
    <p:extLst>
      <p:ext uri="{BB962C8B-B14F-4D97-AF65-F5344CB8AC3E}">
        <p14:creationId xmlns:p14="http://schemas.microsoft.com/office/powerpoint/2010/main" val="350960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27D2200-658F-47DD-6A70-A67A336208B9}"/>
              </a:ext>
            </a:extLst>
          </p:cNvPr>
          <p:cNvSpPr>
            <a:spLocks noGrp="1"/>
          </p:cNvSpPr>
          <p:nvPr>
            <p:ph type="title"/>
          </p:nvPr>
        </p:nvSpPr>
        <p:spPr/>
        <p:txBody>
          <a:bodyPr/>
          <a:lstStyle/>
          <a:p>
            <a:pPr algn="ctr"/>
            <a:r>
              <a:rPr lang="tr-TR" dirty="0"/>
              <a:t>K-</a:t>
            </a:r>
            <a:r>
              <a:rPr lang="tr-TR" dirty="0" err="1"/>
              <a:t>Means</a:t>
            </a:r>
            <a:r>
              <a:rPr lang="tr-TR" dirty="0"/>
              <a:t> Clustering</a:t>
            </a:r>
          </a:p>
        </p:txBody>
      </p:sp>
      <p:sp>
        <p:nvSpPr>
          <p:cNvPr id="3" name="İçerik Yer Tutucusu 2">
            <a:extLst>
              <a:ext uri="{FF2B5EF4-FFF2-40B4-BE49-F238E27FC236}">
                <a16:creationId xmlns:a16="http://schemas.microsoft.com/office/drawing/2014/main" id="{BC7A693C-DEA5-7F24-92F0-F4D498A83856}"/>
              </a:ext>
            </a:extLst>
          </p:cNvPr>
          <p:cNvSpPr>
            <a:spLocks noGrp="1"/>
          </p:cNvSpPr>
          <p:nvPr>
            <p:ph idx="1"/>
          </p:nvPr>
        </p:nvSpPr>
        <p:spPr>
          <a:xfrm>
            <a:off x="838200" y="1584542"/>
            <a:ext cx="6239005" cy="4908333"/>
          </a:xfrm>
        </p:spPr>
        <p:txBody>
          <a:bodyPr>
            <a:noAutofit/>
          </a:bodyPr>
          <a:lstStyle/>
          <a:p>
            <a:pPr marL="0" indent="0">
              <a:buNone/>
            </a:pPr>
            <a:r>
              <a:rPr lang="tr-TR" sz="1200" dirty="0"/>
              <a:t>K-</a:t>
            </a:r>
            <a:r>
              <a:rPr lang="tr-TR" sz="1200" dirty="0" err="1"/>
              <a:t>Means</a:t>
            </a:r>
            <a:r>
              <a:rPr lang="tr-TR" sz="1200" dirty="0"/>
              <a:t> kümeleme algoritması, veri noktalarını belirli bir kriter veya ölçüye göre benzerliklerine göre gruplamak için kullanılan bir </a:t>
            </a:r>
            <a:r>
              <a:rPr lang="tr-TR" sz="1200" dirty="0" err="1"/>
              <a:t>unsupervised</a:t>
            </a:r>
            <a:r>
              <a:rPr lang="tr-TR" sz="1200" dirty="0"/>
              <a:t> (denetimsiz) öğrenme algoritmasıdır. Bu algoritma, veri noktalarını kümelerine ayırmak ve her bir küme için bir merkez belirlemek amacıyla çalışır.</a:t>
            </a:r>
          </a:p>
          <a:p>
            <a:pPr marL="0" indent="0">
              <a:buNone/>
            </a:pPr>
            <a:endParaRPr lang="tr-TR" sz="1200" dirty="0"/>
          </a:p>
          <a:p>
            <a:pPr marL="0" indent="0">
              <a:buNone/>
            </a:pPr>
            <a:r>
              <a:rPr lang="tr-TR" sz="1200" dirty="0"/>
              <a:t>K-</a:t>
            </a:r>
            <a:r>
              <a:rPr lang="tr-TR" sz="1200" dirty="0" err="1"/>
              <a:t>Means</a:t>
            </a:r>
            <a:r>
              <a:rPr lang="tr-TR" sz="1200" dirty="0"/>
              <a:t> Algoritması Nasıl Çalışır?</a:t>
            </a:r>
          </a:p>
          <a:p>
            <a:pPr marL="457200" lvl="1" indent="0">
              <a:buNone/>
            </a:pPr>
            <a:r>
              <a:rPr lang="tr-TR" sz="1200" dirty="0"/>
              <a:t>Merkezlerin Başlangıç Değerlerinin Belirlenmesi: İlk olarak, küme sayısı belirlenir (K). Veri setinde rastgele K tane merkez belirlenir. Bu merkezler genellikle rastgele seçilen veri noktaları olabilir.</a:t>
            </a:r>
          </a:p>
          <a:p>
            <a:pPr lvl="1"/>
            <a:endParaRPr lang="tr-TR" sz="1200" dirty="0"/>
          </a:p>
          <a:p>
            <a:pPr marL="457200" lvl="1" indent="0">
              <a:buNone/>
            </a:pPr>
            <a:r>
              <a:rPr lang="tr-TR" sz="1200" dirty="0"/>
              <a:t>Veri Noktalarının Merkezlere Atanması: Her veri noktası, bu noktanın en yakın olduğu merkeze atanır. Bu atama işlemi genellikle Öklid mesafesi veya başka bir benzerlik metriği kullanılarak yapılır.</a:t>
            </a:r>
          </a:p>
          <a:p>
            <a:pPr lvl="1"/>
            <a:endParaRPr lang="tr-TR" sz="1200" dirty="0"/>
          </a:p>
          <a:p>
            <a:pPr marL="457200" lvl="1" indent="0">
              <a:buNone/>
            </a:pPr>
            <a:r>
              <a:rPr lang="tr-TR" sz="1200" dirty="0"/>
              <a:t>Yeni Merkezlerin Hesaplanması: Her bir küme için yeni merkezler hesaplanır. Bu yeni merkezler, o kümedeki tüm veri noktalarının ortalaması olarak belirlenir.</a:t>
            </a:r>
          </a:p>
          <a:p>
            <a:pPr lvl="1"/>
            <a:endParaRPr lang="tr-TR" sz="1200" dirty="0"/>
          </a:p>
          <a:p>
            <a:pPr marL="457200" lvl="1" indent="0">
              <a:buNone/>
            </a:pPr>
            <a:r>
              <a:rPr lang="tr-TR" sz="1200" dirty="0"/>
              <a:t>Yeni Merkezlerle Tekrar Atama ve Hesaplama: Yeni merkezler belirlendikten sonra, veri noktaları bu yeni merkezlere tekrar atanır. Yeniden atama ve yeni merkezlerin hesaplanması işlemi, merkezler artık değişmeyene veya belirli bir iterasyon sayısına ulaşılana kadar devam eder.</a:t>
            </a:r>
          </a:p>
          <a:p>
            <a:pPr lvl="1"/>
            <a:endParaRPr lang="tr-TR" sz="1200" dirty="0"/>
          </a:p>
          <a:p>
            <a:pPr marL="457200" lvl="1" indent="0">
              <a:buNone/>
            </a:pPr>
            <a:r>
              <a:rPr lang="tr-TR" sz="1200" dirty="0"/>
              <a:t>Algoritmanın Sonlanması: Merkezler artık değişmez veya belirli bir kriter karşılanana kadar (örneğin, maksimum iterasyon sayısına ulaşma) algoritma sonlanır.</a:t>
            </a:r>
          </a:p>
        </p:txBody>
      </p:sp>
      <p:pic>
        <p:nvPicPr>
          <p:cNvPr id="1026" name="Picture 2" descr="K Means Clustering | Step-by-Step Tutorials For Data Analysis">
            <a:extLst>
              <a:ext uri="{FF2B5EF4-FFF2-40B4-BE49-F238E27FC236}">
                <a16:creationId xmlns:a16="http://schemas.microsoft.com/office/drawing/2014/main" id="{149ECB52-7FB6-9BF9-A496-FA126C8C88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8535" y="1836020"/>
            <a:ext cx="4366459" cy="2202688"/>
          </a:xfrm>
          <a:prstGeom prst="rect">
            <a:avLst/>
          </a:prstGeom>
          <a:noFill/>
          <a:extLst>
            <a:ext uri="{909E8E84-426E-40DD-AFC4-6F175D3DCCD1}">
              <a14:hiddenFill xmlns:a14="http://schemas.microsoft.com/office/drawing/2010/main">
                <a:solidFill>
                  <a:srgbClr val="FFFFFF"/>
                </a:solidFill>
              </a14:hiddenFill>
            </a:ext>
          </a:extLst>
        </p:spPr>
      </p:pic>
      <p:sp>
        <p:nvSpPr>
          <p:cNvPr id="4" name="Metin kutusu 3">
            <a:extLst>
              <a:ext uri="{FF2B5EF4-FFF2-40B4-BE49-F238E27FC236}">
                <a16:creationId xmlns:a16="http://schemas.microsoft.com/office/drawing/2014/main" id="{F208D2FB-1E07-E42E-48A7-DF2B069B21C3}"/>
              </a:ext>
            </a:extLst>
          </p:cNvPr>
          <p:cNvSpPr txBox="1"/>
          <p:nvPr/>
        </p:nvSpPr>
        <p:spPr>
          <a:xfrm>
            <a:off x="7298535" y="4369217"/>
            <a:ext cx="4565737" cy="2123658"/>
          </a:xfrm>
          <a:prstGeom prst="rect">
            <a:avLst/>
          </a:prstGeom>
          <a:noFill/>
        </p:spPr>
        <p:txBody>
          <a:bodyPr wrap="square" rtlCol="0">
            <a:spAutoFit/>
          </a:bodyPr>
          <a:lstStyle/>
          <a:p>
            <a:r>
              <a:rPr lang="tr-TR" sz="1100" dirty="0"/>
              <a:t>K-</a:t>
            </a:r>
            <a:r>
              <a:rPr lang="tr-TR" sz="1100" dirty="0" err="1"/>
              <a:t>Means</a:t>
            </a:r>
            <a:r>
              <a:rPr lang="tr-TR" sz="1100" dirty="0"/>
              <a:t> Algoritmasının Kullanım Alanları:</a:t>
            </a:r>
          </a:p>
          <a:p>
            <a:pPr lvl="1"/>
            <a:r>
              <a:rPr lang="tr-TR" sz="1100" dirty="0"/>
              <a:t>Pazar segmentasyonu: Benzer özelliklere sahip müşteri gruplarını belirlemek için kullanılabilir.</a:t>
            </a:r>
          </a:p>
          <a:p>
            <a:pPr lvl="1"/>
            <a:endParaRPr lang="tr-TR" sz="1100" dirty="0"/>
          </a:p>
          <a:p>
            <a:pPr lvl="1"/>
            <a:r>
              <a:rPr lang="tr-TR" sz="1100" dirty="0"/>
              <a:t>Görüntü işleme: Görüntü piksellerini renklerine göre kümelendirme veya benzer özelliklere sahip nesneleri gruplama için kullanılabilir.</a:t>
            </a:r>
          </a:p>
          <a:p>
            <a:pPr lvl="1"/>
            <a:endParaRPr lang="tr-TR" sz="1100" dirty="0"/>
          </a:p>
          <a:p>
            <a:pPr lvl="1"/>
            <a:r>
              <a:rPr lang="tr-TR" sz="1100" dirty="0"/>
              <a:t>Genetik: DNA örneklerini benzerliklerine göre sınıflandırmak için kullanılabilir.</a:t>
            </a:r>
          </a:p>
          <a:p>
            <a:pPr lvl="1"/>
            <a:endParaRPr lang="tr-TR" sz="1100" dirty="0"/>
          </a:p>
          <a:p>
            <a:pPr lvl="1"/>
            <a:r>
              <a:rPr lang="tr-TR" sz="1100" dirty="0"/>
              <a:t>Web madenciliği: Benzer özelliklere sahip web sayfalarını veya belgeleri gruplamak için kullanılabilir.</a:t>
            </a:r>
          </a:p>
        </p:txBody>
      </p:sp>
    </p:spTree>
    <p:extLst>
      <p:ext uri="{BB962C8B-B14F-4D97-AF65-F5344CB8AC3E}">
        <p14:creationId xmlns:p14="http://schemas.microsoft.com/office/powerpoint/2010/main" val="935043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038BA26-C0B5-E6F2-0DD4-33D0105E5E63}"/>
              </a:ext>
            </a:extLst>
          </p:cNvPr>
          <p:cNvSpPr>
            <a:spLocks noGrp="1"/>
          </p:cNvSpPr>
          <p:nvPr>
            <p:ph type="title"/>
          </p:nvPr>
        </p:nvSpPr>
        <p:spPr/>
        <p:txBody>
          <a:bodyPr/>
          <a:lstStyle/>
          <a:p>
            <a:pPr algn="ctr"/>
            <a:r>
              <a:rPr lang="tr-TR" dirty="0"/>
              <a:t>Hiyerarşik Kümeleme</a:t>
            </a:r>
          </a:p>
        </p:txBody>
      </p:sp>
      <p:sp>
        <p:nvSpPr>
          <p:cNvPr id="3" name="İçerik Yer Tutucusu 2">
            <a:extLst>
              <a:ext uri="{FF2B5EF4-FFF2-40B4-BE49-F238E27FC236}">
                <a16:creationId xmlns:a16="http://schemas.microsoft.com/office/drawing/2014/main" id="{43A27DC9-7BE2-8DD2-268D-94990ECA759A}"/>
              </a:ext>
            </a:extLst>
          </p:cNvPr>
          <p:cNvSpPr>
            <a:spLocks noGrp="1"/>
          </p:cNvSpPr>
          <p:nvPr>
            <p:ph idx="1"/>
          </p:nvPr>
        </p:nvSpPr>
        <p:spPr>
          <a:xfrm>
            <a:off x="507304" y="1488966"/>
            <a:ext cx="7402882" cy="4911834"/>
          </a:xfrm>
        </p:spPr>
        <p:txBody>
          <a:bodyPr>
            <a:noAutofit/>
          </a:bodyPr>
          <a:lstStyle/>
          <a:p>
            <a:pPr marL="0" indent="0">
              <a:buNone/>
            </a:pPr>
            <a:r>
              <a:rPr lang="tr-TR" sz="1100" dirty="0"/>
              <a:t>Veri noktalarını bir ağaç yapısı şeklinde hiyerarşik bir düzende gruplamak için kullanılan bir kümeleme yöntemidir. Bu yöntem, benzer özelliklere sahip veri noktalarını alt kümelere ayırmak ve bu alt kümeleri daha büyük kümelerin içine yerleştirmek suretiyle işler.</a:t>
            </a:r>
          </a:p>
          <a:p>
            <a:pPr marL="0" indent="0">
              <a:buNone/>
            </a:pPr>
            <a:endParaRPr lang="tr-TR" sz="1100" dirty="0"/>
          </a:p>
          <a:p>
            <a:pPr marL="0" indent="0">
              <a:buNone/>
            </a:pPr>
            <a:r>
              <a:rPr lang="tr-TR" sz="1100" dirty="0"/>
              <a:t>İki Tür Hiyerarşik Kümeleme Yaklaşımı Vardır:</a:t>
            </a:r>
          </a:p>
          <a:p>
            <a:pPr marL="457200" lvl="1" indent="0">
              <a:buNone/>
            </a:pPr>
            <a:r>
              <a:rPr lang="tr-TR" sz="1100" dirty="0" err="1">
                <a:solidFill>
                  <a:srgbClr val="FF0000"/>
                </a:solidFill>
              </a:rPr>
              <a:t>Agglomerative</a:t>
            </a:r>
            <a:r>
              <a:rPr lang="tr-TR" sz="1100" dirty="0">
                <a:solidFill>
                  <a:srgbClr val="FF0000"/>
                </a:solidFill>
              </a:rPr>
              <a:t> (Birleştirici) </a:t>
            </a:r>
            <a:r>
              <a:rPr lang="tr-TR" sz="1100" dirty="0"/>
              <a:t>Yaklaşım: Bu yöntemde, başlangıçta her veri noktası ayrı bir küme olarak başlar ve benzerlikleri hesaplanarak en yakın küme veya veri noktaları birleştirilir. Bu birleştirme işlemi, tüm veri noktaları tek bir büyük küme oluşana kadar devam eder.</a:t>
            </a:r>
          </a:p>
          <a:p>
            <a:pPr marL="457200" lvl="1" indent="0">
              <a:buNone/>
            </a:pPr>
            <a:r>
              <a:rPr lang="tr-TR" sz="1100" dirty="0" err="1">
                <a:solidFill>
                  <a:srgbClr val="FF0000"/>
                </a:solidFill>
              </a:rPr>
              <a:t>Divisive</a:t>
            </a:r>
            <a:r>
              <a:rPr lang="tr-TR" sz="1100" dirty="0">
                <a:solidFill>
                  <a:srgbClr val="FF0000"/>
                </a:solidFill>
              </a:rPr>
              <a:t> (Bölücü) </a:t>
            </a:r>
            <a:r>
              <a:rPr lang="tr-TR" sz="1100" dirty="0"/>
              <a:t>Yaklaşım: Tam tersine, bu yöntemde başlangıçta tüm veri noktaları tek bir kümede bulunur. Bu küme, benzerliklerine göre alt kümelerine ayrılır ve bu işlem benzerlikler azalana kadar devam eder, her alt küme daha küçük alt kümeler haline gelir.</a:t>
            </a:r>
          </a:p>
          <a:p>
            <a:pPr marL="0" indent="0">
              <a:buNone/>
            </a:pPr>
            <a:endParaRPr lang="tr-TR" sz="1100" dirty="0"/>
          </a:p>
          <a:p>
            <a:pPr marL="0" indent="0">
              <a:buNone/>
            </a:pPr>
            <a:r>
              <a:rPr lang="tr-TR" sz="1100" dirty="0"/>
              <a:t>Adımları:</a:t>
            </a:r>
          </a:p>
          <a:p>
            <a:pPr marL="457200" lvl="1" indent="0">
              <a:buNone/>
            </a:pPr>
            <a:r>
              <a:rPr lang="tr-TR" sz="1100" dirty="0">
                <a:solidFill>
                  <a:srgbClr val="FF0000"/>
                </a:solidFill>
              </a:rPr>
              <a:t>Benzerlik Matrisinin Oluşturulması</a:t>
            </a:r>
            <a:r>
              <a:rPr lang="tr-TR" sz="1100" dirty="0"/>
              <a:t>: Veri noktaları arasındaki benzerlik veya uzaklık ölçüsüne göre bir benzerlik matrisi oluşturulur. Öklid mesafesi, Manhattan mesafesi veya korelasyon gibi metrikler kullanılabilir.</a:t>
            </a:r>
          </a:p>
          <a:p>
            <a:pPr marL="457200" lvl="1" indent="0">
              <a:buNone/>
            </a:pPr>
            <a:r>
              <a:rPr lang="tr-TR" sz="1100" dirty="0">
                <a:solidFill>
                  <a:srgbClr val="FF0000"/>
                </a:solidFill>
              </a:rPr>
              <a:t>Kümeleme Başlangıcı</a:t>
            </a:r>
            <a:r>
              <a:rPr lang="tr-TR" sz="1100" dirty="0"/>
              <a:t>: Her veri noktası başlangıçta bir küme olarak kabul edilir.</a:t>
            </a:r>
          </a:p>
          <a:p>
            <a:pPr marL="457200" lvl="1" indent="0">
              <a:buNone/>
            </a:pPr>
            <a:r>
              <a:rPr lang="tr-TR" sz="1100" dirty="0">
                <a:solidFill>
                  <a:srgbClr val="FF0000"/>
                </a:solidFill>
              </a:rPr>
              <a:t>Benzerliklere Göre Kümeleme</a:t>
            </a:r>
            <a:r>
              <a:rPr lang="tr-TR" sz="1100" dirty="0"/>
              <a:t>: Benzerliklere göre en yakın olan veri noktaları veya küme merkezleri birleştirilir veya ayrılır. Bu işlem, belirli bir benzerlik ölçüsünü veya bağlantı (</a:t>
            </a:r>
            <a:r>
              <a:rPr lang="tr-TR" sz="1100" dirty="0" err="1"/>
              <a:t>linkage</a:t>
            </a:r>
            <a:r>
              <a:rPr lang="tr-TR" sz="1100" dirty="0"/>
              <a:t>) yöntemini kullanarak yapılır (örneğin, en yakın komşu, en uzak komşu veya ortalamaya göre birleştirme).</a:t>
            </a:r>
          </a:p>
          <a:p>
            <a:pPr marL="457200" lvl="1" indent="0">
              <a:buNone/>
            </a:pPr>
            <a:r>
              <a:rPr lang="tr-TR" sz="1100" dirty="0">
                <a:solidFill>
                  <a:srgbClr val="FF0000"/>
                </a:solidFill>
              </a:rPr>
              <a:t>Kümeleme İşlemi</a:t>
            </a:r>
            <a:r>
              <a:rPr lang="tr-TR" sz="1100" dirty="0"/>
              <a:t>: İlk birleştirme veya ayrılma işlemi gerçekleştirildikten sonra, benzerlikler güncellenir ve en yakın veya en uygun küme veya veri noktaları birleştirilir veya ayrılır. Bu işlem, tüm veri noktaları tek bir küme haline gelene veya tüm kümeler ayrı ayrı hale gelene kadar devam eder.</a:t>
            </a:r>
          </a:p>
          <a:p>
            <a:pPr marL="457200" lvl="1" indent="0">
              <a:buNone/>
            </a:pPr>
            <a:r>
              <a:rPr lang="tr-TR" sz="1100" dirty="0" err="1">
                <a:solidFill>
                  <a:srgbClr val="FF0000"/>
                </a:solidFill>
              </a:rPr>
              <a:t>Dendrogram</a:t>
            </a:r>
            <a:r>
              <a:rPr lang="tr-TR" sz="1100" dirty="0">
                <a:solidFill>
                  <a:srgbClr val="FF0000"/>
                </a:solidFill>
              </a:rPr>
              <a:t> Oluşturma</a:t>
            </a:r>
            <a:r>
              <a:rPr lang="tr-TR" sz="1100" dirty="0"/>
              <a:t>: Hiyerarşik kümeleme işlemi sonucunda bir ağaç yapısı oluşur. Bu ağaç yapısı, </a:t>
            </a:r>
            <a:r>
              <a:rPr lang="tr-TR" sz="1100" dirty="0" err="1"/>
              <a:t>dendrogram</a:t>
            </a:r>
            <a:r>
              <a:rPr lang="tr-TR" sz="1100" dirty="0"/>
              <a:t> olarak adlandırılır ve veri noktalarının birleştirme veya ayrılma sırasını gösterir.</a:t>
            </a:r>
          </a:p>
        </p:txBody>
      </p:sp>
      <p:pic>
        <p:nvPicPr>
          <p:cNvPr id="2050" name="Picture 2" descr="Hierarchical Clustering. Hierarchical Clustering groups… | by Himanshu  Sharma | Medium">
            <a:extLst>
              <a:ext uri="{FF2B5EF4-FFF2-40B4-BE49-F238E27FC236}">
                <a16:creationId xmlns:a16="http://schemas.microsoft.com/office/drawing/2014/main" id="{580E1660-BE89-C3C5-7CD9-0760AA5B82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0186" y="3056350"/>
            <a:ext cx="3973296" cy="23126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2499086"/>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TotalTime>
  <Words>569</Words>
  <Application>Microsoft Office PowerPoint</Application>
  <PresentationFormat>Geniş ekran</PresentationFormat>
  <Paragraphs>35</Paragraphs>
  <Slides>3</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3</vt:i4>
      </vt:variant>
    </vt:vector>
  </HeadingPairs>
  <TitlesOfParts>
    <vt:vector size="7" baseType="lpstr">
      <vt:lpstr>Arial</vt:lpstr>
      <vt:lpstr>Calibri</vt:lpstr>
      <vt:lpstr>Calibri Light</vt:lpstr>
      <vt:lpstr>Office Teması</vt:lpstr>
      <vt:lpstr>PowerPoint Sunusu</vt:lpstr>
      <vt:lpstr>K-Means Clustering</vt:lpstr>
      <vt:lpstr>Hiyerarşik Kümeleme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Battal Koç</dc:creator>
  <cp:lastModifiedBy>Cengiz Ceylan</cp:lastModifiedBy>
  <cp:revision>7</cp:revision>
  <dcterms:created xsi:type="dcterms:W3CDTF">2023-12-29T17:52:18Z</dcterms:created>
  <dcterms:modified xsi:type="dcterms:W3CDTF">2026-07-30T10:48:09Z</dcterms:modified>
</cp:coreProperties>
</file>