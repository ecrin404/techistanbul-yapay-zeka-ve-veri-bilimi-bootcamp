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59" r:id="rId4"/>
    <p:sldId id="260" r:id="rId5"/>
    <p:sldId id="261" r:id="rId6"/>
    <p:sldId id="262" r:id="rId7"/>
    <p:sldId id="264" r:id="rId8"/>
    <p:sldId id="265" r:id="rId9"/>
    <p:sldId id="266" r:id="rId10"/>
    <p:sldId id="267" r:id="rId11"/>
    <p:sldId id="268" r:id="rId12"/>
    <p:sldId id="269" r:id="rId13"/>
    <p:sldId id="270" r:id="rId14"/>
    <p:sldId id="271" r:id="rId15"/>
    <p:sldId id="273" r:id="rId16"/>
    <p:sldId id="274" r:id="rId17"/>
    <p:sldId id="275" r:id="rId18"/>
    <p:sldId id="276" r:id="rId19"/>
    <p:sldId id="277" r:id="rId20"/>
    <p:sldId id="278" r:id="rId2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61B52C-AC6B-4825-9978-95283AE64381}" type="datetimeFigureOut">
              <a:rPr lang="tr-TR" smtClean="0"/>
              <a:t>11.08.2026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C471D-6047-4F00-A7E9-6E3011A695FB}" type="slidenum">
              <a:rPr lang="tr-TR" smtClean="0"/>
              <a:t>‹#›</a:t>
            </a:fld>
            <a:endParaRPr lang="tr-TR"/>
          </a:p>
        </p:txBody>
      </p:sp>
    </p:spTree>
    <p:extLst>
      <p:ext uri="{BB962C8B-B14F-4D97-AF65-F5344CB8AC3E}">
        <p14:creationId xmlns:p14="http://schemas.microsoft.com/office/powerpoint/2010/main" val="637775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8FC471D-6047-4F00-A7E9-6E3011A695FB}" type="slidenum">
              <a:rPr lang="tr-TR" smtClean="0"/>
              <a:t>9</a:t>
            </a:fld>
            <a:endParaRPr lang="tr-TR"/>
          </a:p>
        </p:txBody>
      </p:sp>
    </p:spTree>
    <p:extLst>
      <p:ext uri="{BB962C8B-B14F-4D97-AF65-F5344CB8AC3E}">
        <p14:creationId xmlns:p14="http://schemas.microsoft.com/office/powerpoint/2010/main" val="2153362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F3FD14E-A513-0585-5358-29165E9A403A}"/>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49E8296A-0AC3-2309-B208-1D8718A84C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F1E070BE-6C89-CC31-BE80-0B8D90969A00}"/>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5" name="Alt Bilgi Yer Tutucusu 4">
            <a:extLst>
              <a:ext uri="{FF2B5EF4-FFF2-40B4-BE49-F238E27FC236}">
                <a16:creationId xmlns:a16="http://schemas.microsoft.com/office/drawing/2014/main" id="{11B45FB7-53B4-EF9C-5F78-F6BB1AEC5D9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417EFDF-24F0-3C62-48B7-35D6C857E143}"/>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320380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D1D8F3D-023F-C5D3-EE0F-376977BE443C}"/>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12FA5544-0EE3-19EE-997F-C54AC04171FC}"/>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5893FE7-C854-4F4E-4BE6-3D86B3784DEF}"/>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5" name="Alt Bilgi Yer Tutucusu 4">
            <a:extLst>
              <a:ext uri="{FF2B5EF4-FFF2-40B4-BE49-F238E27FC236}">
                <a16:creationId xmlns:a16="http://schemas.microsoft.com/office/drawing/2014/main" id="{9A99D31C-ED38-646B-0188-C79380E7DAC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F4232BE-0EEF-50BE-58B5-95C11FCA2695}"/>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930059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0C88BCE-4269-996B-E73F-6251D676B132}"/>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672C0D5C-2B28-BBA3-C19A-D57FDB902D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A5B2669F-81AE-E2A6-6C98-A806E6BB7A78}"/>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5" name="Alt Bilgi Yer Tutucusu 4">
            <a:extLst>
              <a:ext uri="{FF2B5EF4-FFF2-40B4-BE49-F238E27FC236}">
                <a16:creationId xmlns:a16="http://schemas.microsoft.com/office/drawing/2014/main" id="{A9500677-25CF-1187-4392-6BAB4420B1F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ED48F3F1-2655-638F-37DD-B0EECEEB8A37}"/>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4277799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30CD31B-4EF6-100B-3B3B-4678A6788BB2}"/>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AD70DC0F-A0F7-172B-1054-449A6B70DEBE}"/>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E57ED2B0-9BED-771B-FD9A-52F7999E1AE0}"/>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8E3D2DCE-74DF-CD75-4E37-6EC223666080}"/>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6" name="Alt Bilgi Yer Tutucusu 5">
            <a:extLst>
              <a:ext uri="{FF2B5EF4-FFF2-40B4-BE49-F238E27FC236}">
                <a16:creationId xmlns:a16="http://schemas.microsoft.com/office/drawing/2014/main" id="{0ECE3727-1BDF-6A3E-7FD5-3DA2CC37DA24}"/>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741EBCD7-5338-8191-CDFD-7423FC96F5D1}"/>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4197839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BE27A43-8859-92F4-740D-4D448D6CF6E6}"/>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BD9E16E4-7584-E495-9B7C-40CA2C045F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81F98E4B-9A43-762F-565D-7071D1D88550}"/>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273F39D8-6743-A2ED-1408-F5664CB450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5FECDB6C-BD1A-A33C-EE83-A2C519891437}"/>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2C0E0991-3226-01D7-07D4-FE514B48372C}"/>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8" name="Alt Bilgi Yer Tutucusu 7">
            <a:extLst>
              <a:ext uri="{FF2B5EF4-FFF2-40B4-BE49-F238E27FC236}">
                <a16:creationId xmlns:a16="http://schemas.microsoft.com/office/drawing/2014/main" id="{E620F2B6-3176-D555-5C56-827A70294FFD}"/>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5A0CE560-7F32-0236-2763-30A678DB9749}"/>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1830027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0ADCCEF-EC6E-58C8-86BF-179356CE90ED}"/>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D85DD3C5-C47B-46A8-DC5C-A8AA691EBA95}"/>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4" name="Alt Bilgi Yer Tutucusu 3">
            <a:extLst>
              <a:ext uri="{FF2B5EF4-FFF2-40B4-BE49-F238E27FC236}">
                <a16:creationId xmlns:a16="http://schemas.microsoft.com/office/drawing/2014/main" id="{8B1AB225-DFA4-B18B-A467-9A4232914EC5}"/>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B904551B-EA15-5B43-5913-594D7145E44F}"/>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1274971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1F318422-D808-8099-C8FB-263709B97D11}"/>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3" name="Alt Bilgi Yer Tutucusu 2">
            <a:extLst>
              <a:ext uri="{FF2B5EF4-FFF2-40B4-BE49-F238E27FC236}">
                <a16:creationId xmlns:a16="http://schemas.microsoft.com/office/drawing/2014/main" id="{E245AC7C-1AE5-0F78-334A-7928923938A1}"/>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2B408E0B-C9FE-349E-453C-14F9309DE1F4}"/>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326397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139669-BE88-1891-FFEB-9EFFC559A4F2}"/>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3871E6DC-B4F9-C5B9-3FFE-26ABC46A63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D883CACB-5125-86F6-9CE4-8924159A87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E0CEA159-511D-12DD-D1D3-682AC559A100}"/>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6" name="Alt Bilgi Yer Tutucusu 5">
            <a:extLst>
              <a:ext uri="{FF2B5EF4-FFF2-40B4-BE49-F238E27FC236}">
                <a16:creationId xmlns:a16="http://schemas.microsoft.com/office/drawing/2014/main" id="{5E288271-FFEB-2420-D0CA-F38759E4F2CB}"/>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DF2625C9-8959-38D2-FB7A-592D1F2F0E12}"/>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1787539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2A72E54-6853-7607-8856-AEC59E4B5502}"/>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F99C29C2-0A1D-7ED8-77BD-C6D9AE1C76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36D0EAA4-AADC-606C-7AFC-CEA846F703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16B1228A-E1F8-0448-192C-C480BEF84DD6}"/>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6" name="Alt Bilgi Yer Tutucusu 5">
            <a:extLst>
              <a:ext uri="{FF2B5EF4-FFF2-40B4-BE49-F238E27FC236}">
                <a16:creationId xmlns:a16="http://schemas.microsoft.com/office/drawing/2014/main" id="{752EFA71-6A4D-2672-D195-115ECAB83C8D}"/>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9B1C2E6D-DCA2-02D5-5BA6-E49AD9AD01F5}"/>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4139188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422EA1D-8360-A718-9A64-E29E7994B57B}"/>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E1DBA31B-1709-FDD7-DF72-D94ACC27B865}"/>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6212A1F0-CD8F-F2C4-7C23-20A29523460E}"/>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5" name="Alt Bilgi Yer Tutucusu 4">
            <a:extLst>
              <a:ext uri="{FF2B5EF4-FFF2-40B4-BE49-F238E27FC236}">
                <a16:creationId xmlns:a16="http://schemas.microsoft.com/office/drawing/2014/main" id="{FD37A870-0E99-2A74-75F9-62271648666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19B9DE7-1266-0330-4FFD-B702DB40B7CA}"/>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2878412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7E4E41CB-F8BB-8C0D-F2E4-50AD5A6D861A}"/>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B3E5CE4F-C70E-AABC-B285-A86EED46312E}"/>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A38A196-D7F7-3760-9C09-0249B1E4C6A6}"/>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5" name="Alt Bilgi Yer Tutucusu 4">
            <a:extLst>
              <a:ext uri="{FF2B5EF4-FFF2-40B4-BE49-F238E27FC236}">
                <a16:creationId xmlns:a16="http://schemas.microsoft.com/office/drawing/2014/main" id="{2591F4B3-8006-AEF9-176B-B192A32111C9}"/>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052B283-D073-947B-BC29-F7338CA5EC6D}"/>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1668656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A5B2C81B-6317-09D4-ADB3-D7B020409B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D2C62C4A-AA1A-53ED-2549-B759C9475A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09E7A2E-AD23-6AC9-BD1A-E790D0F075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19585-9FE6-459F-A17E-5C17D886206A}" type="datetimeFigureOut">
              <a:rPr lang="tr-TR" smtClean="0"/>
              <a:t>11.08.2026</a:t>
            </a:fld>
            <a:endParaRPr lang="tr-TR"/>
          </a:p>
        </p:txBody>
      </p:sp>
      <p:sp>
        <p:nvSpPr>
          <p:cNvPr id="5" name="Alt Bilgi Yer Tutucusu 4">
            <a:extLst>
              <a:ext uri="{FF2B5EF4-FFF2-40B4-BE49-F238E27FC236}">
                <a16:creationId xmlns:a16="http://schemas.microsoft.com/office/drawing/2014/main" id="{C2CCD6EC-1143-2DEE-55E6-F7A2297E98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398B209C-3A5A-CD5E-1033-EFD49FC90E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6C1657-578F-4CD5-8B11-1C924ACA4E42}" type="slidenum">
              <a:rPr lang="tr-TR" smtClean="0"/>
              <a:t>‹#›</a:t>
            </a:fld>
            <a:endParaRPr lang="tr-TR"/>
          </a:p>
        </p:txBody>
      </p:sp>
    </p:spTree>
    <p:extLst>
      <p:ext uri="{BB962C8B-B14F-4D97-AF65-F5344CB8AC3E}">
        <p14:creationId xmlns:p14="http://schemas.microsoft.com/office/powerpoint/2010/main" val="2435513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F33C809D-3BEB-332F-EFDD-FAAE3AB0F113}"/>
              </a:ext>
            </a:extLst>
          </p:cNvPr>
          <p:cNvSpPr txBox="1"/>
          <p:nvPr/>
        </p:nvSpPr>
        <p:spPr>
          <a:xfrm>
            <a:off x="2142744" y="5431536"/>
            <a:ext cx="7906512" cy="830997"/>
          </a:xfrm>
          <a:prstGeom prst="rect">
            <a:avLst/>
          </a:prstGeom>
          <a:noFill/>
        </p:spPr>
        <p:txBody>
          <a:bodyPr wrap="square" rtlCol="0">
            <a:spAutoFit/>
          </a:bodyPr>
          <a:lstStyle/>
          <a:p>
            <a:pPr algn="l"/>
            <a:r>
              <a:rPr lang="tr-TR" sz="4800" b="1" i="0" dirty="0" err="1">
                <a:solidFill>
                  <a:srgbClr val="242424"/>
                </a:solidFill>
                <a:effectLst/>
                <a:latin typeface="sohne"/>
              </a:rPr>
              <a:t>Convolutional</a:t>
            </a:r>
            <a:r>
              <a:rPr lang="tr-TR" sz="4800" b="1" i="0" dirty="0">
                <a:solidFill>
                  <a:srgbClr val="242424"/>
                </a:solidFill>
                <a:effectLst/>
                <a:latin typeface="sohne"/>
              </a:rPr>
              <a:t> </a:t>
            </a:r>
            <a:r>
              <a:rPr lang="tr-TR" sz="4800" b="1" i="0" dirty="0" err="1">
                <a:solidFill>
                  <a:srgbClr val="242424"/>
                </a:solidFill>
                <a:effectLst/>
                <a:latin typeface="sohne"/>
              </a:rPr>
              <a:t>Neural</a:t>
            </a:r>
            <a:r>
              <a:rPr lang="tr-TR" sz="4800" b="1" i="0" dirty="0">
                <a:solidFill>
                  <a:srgbClr val="242424"/>
                </a:solidFill>
                <a:effectLst/>
                <a:latin typeface="sohne"/>
              </a:rPr>
              <a:t> Network</a:t>
            </a:r>
          </a:p>
        </p:txBody>
      </p:sp>
      <p:pic>
        <p:nvPicPr>
          <p:cNvPr id="3" name="Resim 2">
            <a:extLst>
              <a:ext uri="{FF2B5EF4-FFF2-40B4-BE49-F238E27FC236}">
                <a16:creationId xmlns:a16="http://schemas.microsoft.com/office/drawing/2014/main" id="{4B4DDE6F-0BC3-22B9-F651-15B3DA3610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8116" y="675195"/>
            <a:ext cx="4475768" cy="4475768"/>
          </a:xfrm>
          <a:prstGeom prst="rect">
            <a:avLst/>
          </a:prstGeom>
        </p:spPr>
      </p:pic>
      <p:pic>
        <p:nvPicPr>
          <p:cNvPr id="2" name="Resim 1" descr="Zemin İstanbul ve Veri Laboratuvarı, Tech Istanbul markası altında  birleşiyor - Webrazzi">
            <a:extLst>
              <a:ext uri="{FF2B5EF4-FFF2-40B4-BE49-F238E27FC236}">
                <a16:creationId xmlns:a16="http://schemas.microsoft.com/office/drawing/2014/main" id="{E6CC4CB8-B040-D698-76D2-0E7221411D49}"/>
              </a:ext>
            </a:extLst>
          </p:cNvPr>
          <p:cNvPicPr>
            <a:picLocks noChangeAspect="1"/>
          </p:cNvPicPr>
          <p:nvPr/>
        </p:nvPicPr>
        <p:blipFill>
          <a:blip r:embed="rId3"/>
          <a:stretch>
            <a:fillRect/>
          </a:stretch>
        </p:blipFill>
        <p:spPr>
          <a:xfrm>
            <a:off x="1524000" y="147750"/>
            <a:ext cx="9144000" cy="5143500"/>
          </a:xfrm>
          <a:prstGeom prst="rect">
            <a:avLst/>
          </a:prstGeom>
        </p:spPr>
      </p:pic>
    </p:spTree>
    <p:extLst>
      <p:ext uri="{BB962C8B-B14F-4D97-AF65-F5344CB8AC3E}">
        <p14:creationId xmlns:p14="http://schemas.microsoft.com/office/powerpoint/2010/main" val="350960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C9C319-9F9D-6AF3-ADAF-0B71DB343E25}"/>
              </a:ext>
            </a:extLst>
          </p:cNvPr>
          <p:cNvSpPr>
            <a:spLocks noGrp="1"/>
          </p:cNvSpPr>
          <p:nvPr>
            <p:ph type="title"/>
          </p:nvPr>
        </p:nvSpPr>
        <p:spPr/>
        <p:txBody>
          <a:bodyPr/>
          <a:lstStyle/>
          <a:p>
            <a:pPr algn="ctr"/>
            <a:r>
              <a:rPr lang="tr-TR" b="1" i="0" dirty="0" err="1">
                <a:solidFill>
                  <a:srgbClr val="242424"/>
                </a:solidFill>
                <a:effectLst/>
                <a:latin typeface="sohne"/>
              </a:rPr>
              <a:t>Convolutional</a:t>
            </a:r>
            <a:r>
              <a:rPr lang="tr-TR" b="1" i="0" dirty="0">
                <a:solidFill>
                  <a:srgbClr val="242424"/>
                </a:solidFill>
                <a:effectLst/>
                <a:latin typeface="sohne"/>
              </a:rPr>
              <a:t> </a:t>
            </a:r>
            <a:r>
              <a:rPr lang="tr-TR" b="1" i="0" dirty="0" err="1">
                <a:solidFill>
                  <a:srgbClr val="242424"/>
                </a:solidFill>
                <a:effectLst/>
                <a:latin typeface="sohne"/>
              </a:rPr>
              <a:t>Neural</a:t>
            </a:r>
            <a:r>
              <a:rPr lang="tr-TR" b="1" i="0" dirty="0">
                <a:solidFill>
                  <a:srgbClr val="242424"/>
                </a:solidFill>
                <a:effectLst/>
                <a:latin typeface="sohne"/>
              </a:rPr>
              <a:t> Network - CNN</a:t>
            </a:r>
            <a:endParaRPr lang="tr-TR" dirty="0"/>
          </a:p>
        </p:txBody>
      </p:sp>
      <p:sp>
        <p:nvSpPr>
          <p:cNvPr id="3" name="İçerik Yer Tutucusu 2">
            <a:extLst>
              <a:ext uri="{FF2B5EF4-FFF2-40B4-BE49-F238E27FC236}">
                <a16:creationId xmlns:a16="http://schemas.microsoft.com/office/drawing/2014/main" id="{D8530C88-75DF-457C-F79D-06969188D17C}"/>
              </a:ext>
            </a:extLst>
          </p:cNvPr>
          <p:cNvSpPr>
            <a:spLocks noGrp="1"/>
          </p:cNvSpPr>
          <p:nvPr>
            <p:ph idx="1"/>
          </p:nvPr>
        </p:nvSpPr>
        <p:spPr/>
        <p:txBody>
          <a:bodyPr/>
          <a:lstStyle/>
          <a:p>
            <a:pPr marL="0" indent="0">
              <a:buNone/>
            </a:pPr>
            <a:r>
              <a:rPr lang="tr-TR" dirty="0"/>
              <a:t>CNN (</a:t>
            </a:r>
            <a:r>
              <a:rPr lang="tr-TR" dirty="0" err="1"/>
              <a:t>Convolutional</a:t>
            </a:r>
            <a:r>
              <a:rPr lang="tr-TR" dirty="0"/>
              <a:t> </a:t>
            </a:r>
            <a:r>
              <a:rPr lang="tr-TR" dirty="0" err="1"/>
              <a:t>Neural</a:t>
            </a:r>
            <a:r>
              <a:rPr lang="tr-TR" dirty="0"/>
              <a:t> Network - </a:t>
            </a:r>
            <a:r>
              <a:rPr lang="tr-TR" dirty="0" err="1"/>
              <a:t>Evrişimli</a:t>
            </a:r>
            <a:r>
              <a:rPr lang="tr-TR" dirty="0"/>
              <a:t> Sinir Ağı), özellikle görsel veri işleme alanında kullanılan bir yapay sinir ağı türüdür. İnsan görsel algısını taklit etmek üzere tasarlanmıştır ve özellikle görüntü tanıma, nesne tespiti ve sınıflandırma gibi görevlerde etkilidir.</a:t>
            </a:r>
          </a:p>
          <a:p>
            <a:pPr marL="0" indent="0">
              <a:buNone/>
            </a:pPr>
            <a:endParaRPr lang="tr-TR" dirty="0"/>
          </a:p>
          <a:p>
            <a:pPr marL="0" indent="0">
              <a:buNone/>
            </a:pPr>
            <a:r>
              <a:rPr lang="tr-TR" dirty="0"/>
              <a:t>CNN'ler, özellikle görüntü verilerindeki karmaşıklığı işlemek için çoklu katmanlardan oluşur ve bu katmanlar öğrenme sürecinde görüntülerdeki hiyerarşik özellikleri tanımlar. Bu özellikler, modelin eğitimi sırasında ağırlıkların otomatik olarak ayarlanmasıyla elde edilir.</a:t>
            </a:r>
          </a:p>
        </p:txBody>
      </p:sp>
    </p:spTree>
    <p:extLst>
      <p:ext uri="{BB962C8B-B14F-4D97-AF65-F5344CB8AC3E}">
        <p14:creationId xmlns:p14="http://schemas.microsoft.com/office/powerpoint/2010/main" val="1726249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A13DE8A-EA18-9061-9A89-737B8CDA6230}"/>
              </a:ext>
            </a:extLst>
          </p:cNvPr>
          <p:cNvSpPr>
            <a:spLocks noGrp="1"/>
          </p:cNvSpPr>
          <p:nvPr>
            <p:ph type="title"/>
          </p:nvPr>
        </p:nvSpPr>
        <p:spPr>
          <a:xfrm>
            <a:off x="838200" y="365126"/>
            <a:ext cx="10515600" cy="889810"/>
          </a:xfrm>
        </p:spPr>
        <p:txBody>
          <a:bodyPr/>
          <a:lstStyle/>
          <a:p>
            <a:pPr algn="ctr"/>
            <a:r>
              <a:rPr lang="tr-TR" b="1" dirty="0"/>
              <a:t>Yapısı</a:t>
            </a:r>
          </a:p>
        </p:txBody>
      </p:sp>
      <p:sp>
        <p:nvSpPr>
          <p:cNvPr id="3" name="İçerik Yer Tutucusu 2">
            <a:extLst>
              <a:ext uri="{FF2B5EF4-FFF2-40B4-BE49-F238E27FC236}">
                <a16:creationId xmlns:a16="http://schemas.microsoft.com/office/drawing/2014/main" id="{6A5B72FE-EC94-078A-054F-DE1268BE343F}"/>
              </a:ext>
            </a:extLst>
          </p:cNvPr>
          <p:cNvSpPr>
            <a:spLocks noGrp="1"/>
          </p:cNvSpPr>
          <p:nvPr>
            <p:ph idx="1"/>
          </p:nvPr>
        </p:nvSpPr>
        <p:spPr>
          <a:xfrm>
            <a:off x="838200" y="1299079"/>
            <a:ext cx="10515600" cy="5297213"/>
          </a:xfrm>
        </p:spPr>
        <p:txBody>
          <a:bodyPr>
            <a:normAutofit/>
          </a:bodyPr>
          <a:lstStyle/>
          <a:p>
            <a:pPr marL="0" indent="0" algn="l">
              <a:buNone/>
            </a:pPr>
            <a:r>
              <a:rPr lang="tr-TR" sz="2400" b="1" i="0" dirty="0" err="1">
                <a:solidFill>
                  <a:srgbClr val="242424"/>
                </a:solidFill>
                <a:effectLst/>
                <a:latin typeface="source-serif-pro"/>
              </a:rPr>
              <a:t>Convolutional</a:t>
            </a:r>
            <a:r>
              <a:rPr lang="tr-TR" sz="2400" b="1" i="0" dirty="0">
                <a:solidFill>
                  <a:srgbClr val="242424"/>
                </a:solidFill>
                <a:effectLst/>
                <a:latin typeface="source-serif-pro"/>
              </a:rPr>
              <a:t> </a:t>
            </a:r>
            <a:r>
              <a:rPr lang="tr-TR" sz="2400" b="1" i="0" dirty="0" err="1">
                <a:solidFill>
                  <a:srgbClr val="242424"/>
                </a:solidFill>
                <a:effectLst/>
                <a:latin typeface="source-serif-pro"/>
              </a:rPr>
              <a:t>Layer</a:t>
            </a:r>
            <a:r>
              <a:rPr lang="tr-TR" sz="2400" b="0" i="0" dirty="0">
                <a:solidFill>
                  <a:srgbClr val="242424"/>
                </a:solidFill>
                <a:effectLst/>
                <a:latin typeface="source-serif-pro"/>
              </a:rPr>
              <a:t> — Özellikleri saptamak için kullanılır</a:t>
            </a:r>
          </a:p>
          <a:p>
            <a:pPr marL="0" indent="0" algn="l">
              <a:buNone/>
            </a:pPr>
            <a:r>
              <a:rPr lang="tr-TR" sz="2400" b="1" i="0" dirty="0" err="1">
                <a:solidFill>
                  <a:srgbClr val="242424"/>
                </a:solidFill>
                <a:effectLst/>
                <a:latin typeface="source-serif-pro"/>
              </a:rPr>
              <a:t>Non-Linearity</a:t>
            </a:r>
            <a:r>
              <a:rPr lang="tr-TR" sz="2400" b="1" i="0" dirty="0">
                <a:solidFill>
                  <a:srgbClr val="242424"/>
                </a:solidFill>
                <a:effectLst/>
                <a:latin typeface="source-serif-pro"/>
              </a:rPr>
              <a:t> </a:t>
            </a:r>
            <a:r>
              <a:rPr lang="tr-TR" sz="2400" b="1" i="0" dirty="0" err="1">
                <a:solidFill>
                  <a:srgbClr val="242424"/>
                </a:solidFill>
                <a:effectLst/>
                <a:latin typeface="source-serif-pro"/>
              </a:rPr>
              <a:t>Layer</a:t>
            </a:r>
            <a:r>
              <a:rPr lang="tr-TR" sz="2400" b="1" i="0" dirty="0">
                <a:solidFill>
                  <a:srgbClr val="242424"/>
                </a:solidFill>
                <a:effectLst/>
                <a:latin typeface="source-serif-pro"/>
              </a:rPr>
              <a:t> </a:t>
            </a:r>
            <a:r>
              <a:rPr lang="tr-TR" sz="2400" b="0" i="0" dirty="0">
                <a:solidFill>
                  <a:srgbClr val="242424"/>
                </a:solidFill>
                <a:effectLst/>
                <a:latin typeface="source-serif-pro"/>
              </a:rPr>
              <a:t>— Sisteme doğrusal olmama (Aktivasyon Fonksiyonu)</a:t>
            </a:r>
          </a:p>
          <a:p>
            <a:pPr marL="0" indent="0" algn="l">
              <a:buNone/>
            </a:pPr>
            <a:r>
              <a:rPr lang="tr-TR" sz="2400" b="1" i="0" dirty="0" err="1">
                <a:solidFill>
                  <a:srgbClr val="242424"/>
                </a:solidFill>
                <a:effectLst/>
                <a:latin typeface="source-serif-pro"/>
              </a:rPr>
              <a:t>Pooling</a:t>
            </a:r>
            <a:r>
              <a:rPr lang="tr-TR" sz="2400" b="1" i="0" dirty="0">
                <a:solidFill>
                  <a:srgbClr val="242424"/>
                </a:solidFill>
                <a:effectLst/>
                <a:latin typeface="source-serif-pro"/>
              </a:rPr>
              <a:t> </a:t>
            </a:r>
            <a:r>
              <a:rPr lang="tr-TR" sz="2400" b="1" i="0" dirty="0" err="1">
                <a:solidFill>
                  <a:srgbClr val="242424"/>
                </a:solidFill>
                <a:effectLst/>
                <a:latin typeface="source-serif-pro"/>
              </a:rPr>
              <a:t>Layer</a:t>
            </a:r>
            <a:r>
              <a:rPr lang="tr-TR" sz="2400" b="1" i="0" dirty="0">
                <a:solidFill>
                  <a:srgbClr val="242424"/>
                </a:solidFill>
                <a:effectLst/>
                <a:latin typeface="source-serif-pro"/>
              </a:rPr>
              <a:t> </a:t>
            </a:r>
            <a:r>
              <a:rPr lang="tr-TR" sz="2400" b="0" i="0" dirty="0">
                <a:solidFill>
                  <a:srgbClr val="242424"/>
                </a:solidFill>
                <a:effectLst/>
                <a:latin typeface="source-serif-pro"/>
              </a:rPr>
              <a:t>— Ağırlık sayısını azaltır ve uygunluğu kontrol eder (Özet Çıkarımı)</a:t>
            </a:r>
          </a:p>
          <a:p>
            <a:pPr marL="0" indent="0" algn="l">
              <a:buNone/>
            </a:pPr>
            <a:r>
              <a:rPr lang="tr-TR" sz="2400" b="1" i="0" dirty="0" err="1">
                <a:solidFill>
                  <a:srgbClr val="242424"/>
                </a:solidFill>
                <a:effectLst/>
                <a:latin typeface="source-serif-pro"/>
              </a:rPr>
              <a:t>Flattening</a:t>
            </a:r>
            <a:r>
              <a:rPr lang="tr-TR" sz="2400" b="1" i="0" dirty="0">
                <a:solidFill>
                  <a:srgbClr val="242424"/>
                </a:solidFill>
                <a:effectLst/>
                <a:latin typeface="source-serif-pro"/>
              </a:rPr>
              <a:t> </a:t>
            </a:r>
            <a:r>
              <a:rPr lang="tr-TR" sz="2400" b="1" i="0" dirty="0" err="1">
                <a:solidFill>
                  <a:srgbClr val="242424"/>
                </a:solidFill>
                <a:effectLst/>
                <a:latin typeface="source-serif-pro"/>
              </a:rPr>
              <a:t>Layer</a:t>
            </a:r>
            <a:r>
              <a:rPr lang="tr-TR" sz="2400" b="1" i="0" dirty="0">
                <a:solidFill>
                  <a:srgbClr val="242424"/>
                </a:solidFill>
                <a:effectLst/>
                <a:latin typeface="source-serif-pro"/>
              </a:rPr>
              <a:t> </a:t>
            </a:r>
            <a:r>
              <a:rPr lang="tr-TR" sz="2400" b="0" i="0" dirty="0">
                <a:solidFill>
                  <a:srgbClr val="242424"/>
                </a:solidFill>
                <a:effectLst/>
                <a:latin typeface="source-serif-pro"/>
              </a:rPr>
              <a:t>— Klasik Sinir Ağı için verileri hazırlar</a:t>
            </a:r>
          </a:p>
          <a:p>
            <a:pPr marL="0" indent="0" algn="l">
              <a:buNone/>
            </a:pPr>
            <a:r>
              <a:rPr lang="tr-TR" sz="2400" b="1" i="0" dirty="0" err="1">
                <a:solidFill>
                  <a:srgbClr val="242424"/>
                </a:solidFill>
                <a:effectLst/>
                <a:latin typeface="source-serif-pro"/>
              </a:rPr>
              <a:t>Fully-Connected</a:t>
            </a:r>
            <a:r>
              <a:rPr lang="tr-TR" sz="2400" b="1" i="0" dirty="0">
                <a:solidFill>
                  <a:srgbClr val="242424"/>
                </a:solidFill>
                <a:effectLst/>
                <a:latin typeface="source-serif-pro"/>
              </a:rPr>
              <a:t> </a:t>
            </a:r>
            <a:r>
              <a:rPr lang="tr-TR" sz="2400" b="1" i="0" dirty="0" err="1">
                <a:solidFill>
                  <a:srgbClr val="242424"/>
                </a:solidFill>
                <a:effectLst/>
                <a:latin typeface="source-serif-pro"/>
              </a:rPr>
              <a:t>Layer</a:t>
            </a:r>
            <a:r>
              <a:rPr lang="tr-TR" sz="2400" b="0" i="0" dirty="0">
                <a:solidFill>
                  <a:srgbClr val="242424"/>
                </a:solidFill>
                <a:effectLst/>
                <a:latin typeface="source-serif-pro"/>
              </a:rPr>
              <a:t> — Sınıflamada kullanılan Standart Sinir Ağı</a:t>
            </a:r>
          </a:p>
          <a:p>
            <a:pPr marL="0" indent="0" algn="l">
              <a:buNone/>
            </a:pPr>
            <a:endParaRPr lang="tr-TR" sz="2400" dirty="0">
              <a:solidFill>
                <a:srgbClr val="242424"/>
              </a:solidFill>
              <a:latin typeface="source-serif-pro"/>
            </a:endParaRPr>
          </a:p>
          <a:p>
            <a:pPr marL="0" indent="0" algn="l">
              <a:buNone/>
            </a:pPr>
            <a:endParaRPr lang="tr-TR" sz="2400" b="0" i="0" dirty="0">
              <a:solidFill>
                <a:srgbClr val="242424"/>
              </a:solidFill>
              <a:effectLst/>
              <a:latin typeface="source-serif-pro"/>
            </a:endParaRPr>
          </a:p>
          <a:p>
            <a:pPr marL="0" indent="0" algn="l">
              <a:buNone/>
            </a:pPr>
            <a:endParaRPr lang="tr-TR" sz="1600" b="0" i="0" dirty="0">
              <a:solidFill>
                <a:srgbClr val="242424"/>
              </a:solidFill>
              <a:effectLst/>
              <a:latin typeface="source-serif-pro"/>
            </a:endParaRPr>
          </a:p>
          <a:p>
            <a:pPr marL="0" indent="0" algn="l">
              <a:buNone/>
            </a:pPr>
            <a:endParaRPr lang="tr-TR" sz="1600" dirty="0">
              <a:solidFill>
                <a:srgbClr val="242424"/>
              </a:solidFill>
              <a:latin typeface="source-serif-pro"/>
            </a:endParaRPr>
          </a:p>
          <a:p>
            <a:pPr marL="0" indent="0" algn="l">
              <a:buNone/>
            </a:pPr>
            <a:endParaRPr lang="tr-TR" sz="1600" b="0" i="0" dirty="0">
              <a:solidFill>
                <a:srgbClr val="242424"/>
              </a:solidFill>
              <a:effectLst/>
              <a:latin typeface="source-serif-pro"/>
            </a:endParaRPr>
          </a:p>
          <a:p>
            <a:pPr marL="0" indent="0" algn="l">
              <a:buNone/>
            </a:pPr>
            <a:endParaRPr lang="tr-TR" sz="1600" dirty="0">
              <a:solidFill>
                <a:srgbClr val="242424"/>
              </a:solidFill>
              <a:latin typeface="source-serif-pro"/>
            </a:endParaRPr>
          </a:p>
          <a:p>
            <a:pPr marL="0" indent="0" algn="l">
              <a:buNone/>
            </a:pPr>
            <a:r>
              <a:rPr lang="tr-TR" sz="1600" b="0" i="0" dirty="0">
                <a:solidFill>
                  <a:srgbClr val="242424"/>
                </a:solidFill>
                <a:effectLst/>
                <a:latin typeface="source-serif-pro"/>
              </a:rPr>
              <a:t>Temel olarak, CNN, sınıflandırma sorununun çözümü için standart Sinir Ağı kullanır, ancak bilgileri belirlemek ve bazı özellikleri tespit etmek için diğer farklı katmanları da kullanır.</a:t>
            </a:r>
            <a:endParaRPr lang="tr-TR" sz="2400" b="0" i="0" dirty="0">
              <a:solidFill>
                <a:srgbClr val="242424"/>
              </a:solidFill>
              <a:effectLst/>
              <a:latin typeface="source-serif-pro"/>
            </a:endParaRPr>
          </a:p>
          <a:p>
            <a:endParaRPr lang="tr-TR" sz="2400" dirty="0"/>
          </a:p>
        </p:txBody>
      </p:sp>
      <p:pic>
        <p:nvPicPr>
          <p:cNvPr id="1026" name="Picture 2">
            <a:extLst>
              <a:ext uri="{FF2B5EF4-FFF2-40B4-BE49-F238E27FC236}">
                <a16:creationId xmlns:a16="http://schemas.microsoft.com/office/drawing/2014/main" id="{18A4120C-3892-6C2B-3940-2476CAA39F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5186" y="2961682"/>
            <a:ext cx="6628545" cy="2882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719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C6D67B5-4015-A6C8-890E-90376CD89AE6}"/>
              </a:ext>
            </a:extLst>
          </p:cNvPr>
          <p:cNvSpPr>
            <a:spLocks noGrp="1"/>
          </p:cNvSpPr>
          <p:nvPr>
            <p:ph type="title"/>
          </p:nvPr>
        </p:nvSpPr>
        <p:spPr/>
        <p:txBody>
          <a:bodyPr>
            <a:normAutofit/>
          </a:bodyPr>
          <a:lstStyle/>
          <a:p>
            <a:pPr algn="ctr"/>
            <a:r>
              <a:rPr lang="tr-TR" b="1" i="0" dirty="0" err="1">
                <a:solidFill>
                  <a:srgbClr val="242424"/>
                </a:solidFill>
                <a:effectLst/>
                <a:latin typeface="sohne"/>
              </a:rPr>
              <a:t>Convolutional</a:t>
            </a:r>
            <a:r>
              <a:rPr lang="tr-TR" b="1" i="0" dirty="0">
                <a:solidFill>
                  <a:srgbClr val="242424"/>
                </a:solidFill>
                <a:effectLst/>
                <a:latin typeface="sohne"/>
              </a:rPr>
              <a:t> </a:t>
            </a:r>
            <a:r>
              <a:rPr lang="tr-TR" b="1" i="0" dirty="0" err="1">
                <a:solidFill>
                  <a:srgbClr val="242424"/>
                </a:solidFill>
                <a:effectLst/>
                <a:latin typeface="sohne"/>
              </a:rPr>
              <a:t>Layer</a:t>
            </a:r>
            <a:endParaRPr lang="tr-TR" dirty="0"/>
          </a:p>
        </p:txBody>
      </p:sp>
      <p:sp>
        <p:nvSpPr>
          <p:cNvPr id="3" name="İçerik Yer Tutucusu 2">
            <a:extLst>
              <a:ext uri="{FF2B5EF4-FFF2-40B4-BE49-F238E27FC236}">
                <a16:creationId xmlns:a16="http://schemas.microsoft.com/office/drawing/2014/main" id="{DCB915FB-E5EF-42E3-5277-867AD8251944}"/>
              </a:ext>
            </a:extLst>
          </p:cNvPr>
          <p:cNvSpPr>
            <a:spLocks noGrp="1"/>
          </p:cNvSpPr>
          <p:nvPr>
            <p:ph idx="1"/>
          </p:nvPr>
        </p:nvSpPr>
        <p:spPr/>
        <p:txBody>
          <a:bodyPr>
            <a:normAutofit/>
          </a:bodyPr>
          <a:lstStyle/>
          <a:p>
            <a:pPr marL="0" indent="0">
              <a:buNone/>
            </a:pPr>
            <a:r>
              <a:rPr lang="tr-TR" sz="1400" b="0" i="0" dirty="0">
                <a:solidFill>
                  <a:srgbClr val="242424"/>
                </a:solidFill>
                <a:effectLst/>
                <a:latin typeface="source-serif-pro"/>
              </a:rPr>
              <a:t>Bu katman CNN’nin ana yapı taşıdır. Resmin özelliklerini algılamaktan sorumludur. Bu katman, görüntüdeki düşük ve yüksek seviyeli özellikleri çıkarmak için resme bazı fitreler uygular. Örneğin, bu filtre kenarları algılayacak bir filtre olabilir. Bu filtreler genellikle çok boyutludur ve piksel değerleri içerirler.(5x5x3) 5 matrisin yükseklik ve genişliğini, 3 matrisin derinliğini temsil eder.</a:t>
            </a:r>
          </a:p>
          <a:p>
            <a:pPr marL="0" indent="0">
              <a:buNone/>
            </a:pPr>
            <a:endParaRPr lang="tr-TR" sz="1050" b="0" i="0" dirty="0">
              <a:solidFill>
                <a:srgbClr val="242424"/>
              </a:solidFill>
              <a:effectLst/>
              <a:latin typeface="source-serif-pro"/>
            </a:endParaRPr>
          </a:p>
          <a:p>
            <a:pPr marL="0" indent="0">
              <a:buNone/>
            </a:pPr>
            <a:endParaRPr lang="tr-TR" sz="1050" dirty="0">
              <a:solidFill>
                <a:srgbClr val="242424"/>
              </a:solidFill>
              <a:latin typeface="source-serif-pro"/>
            </a:endParaRPr>
          </a:p>
          <a:p>
            <a:pPr marL="0" indent="0">
              <a:buNone/>
            </a:pPr>
            <a:endParaRPr lang="tr-TR" sz="1050" b="0" i="0" dirty="0">
              <a:solidFill>
                <a:srgbClr val="242424"/>
              </a:solidFill>
              <a:effectLst/>
              <a:latin typeface="source-serif-pro"/>
            </a:endParaRPr>
          </a:p>
          <a:p>
            <a:pPr marL="0" indent="0">
              <a:buNone/>
            </a:pPr>
            <a:endParaRPr lang="tr-TR" sz="1050" dirty="0">
              <a:solidFill>
                <a:srgbClr val="242424"/>
              </a:solidFill>
              <a:latin typeface="source-serif-pro"/>
            </a:endParaRPr>
          </a:p>
          <a:p>
            <a:pPr marL="0" indent="0" algn="ctr">
              <a:buNone/>
            </a:pPr>
            <a:endParaRPr lang="tr-TR" sz="1800" b="0" i="0" dirty="0">
              <a:solidFill>
                <a:srgbClr val="242424"/>
              </a:solidFill>
              <a:effectLst/>
              <a:latin typeface="source-serif-pro"/>
            </a:endParaRPr>
          </a:p>
          <a:p>
            <a:pPr marL="0" indent="0" algn="ctr">
              <a:buNone/>
            </a:pPr>
            <a:r>
              <a:rPr lang="tr-TR" sz="1800" b="0" i="0" dirty="0">
                <a:solidFill>
                  <a:srgbClr val="242424"/>
                </a:solidFill>
                <a:effectLst/>
                <a:latin typeface="source-serif-pro"/>
              </a:rPr>
              <a:t>Örneğin basit olması için sadece 1 kanal işlenecektir.</a:t>
            </a:r>
            <a:br>
              <a:rPr lang="tr-TR" sz="1800" dirty="0"/>
            </a:br>
            <a:r>
              <a:rPr lang="tr-TR" sz="1800" b="0" i="0" dirty="0" err="1">
                <a:solidFill>
                  <a:srgbClr val="242424"/>
                </a:solidFill>
                <a:effectLst/>
                <a:latin typeface="source-serif-pro"/>
              </a:rPr>
              <a:t>Resimin</a:t>
            </a:r>
            <a:r>
              <a:rPr lang="tr-TR" sz="1800" b="0" i="0" dirty="0">
                <a:solidFill>
                  <a:srgbClr val="242424"/>
                </a:solidFill>
                <a:effectLst/>
                <a:latin typeface="source-serif-pro"/>
              </a:rPr>
              <a:t> 5×5 boyutunda ve 1 ve 0 ‘</a:t>
            </a:r>
            <a:r>
              <a:rPr lang="tr-TR" sz="1800" b="0" i="0" dirty="0" err="1">
                <a:solidFill>
                  <a:srgbClr val="242424"/>
                </a:solidFill>
                <a:effectLst/>
                <a:latin typeface="source-serif-pro"/>
              </a:rPr>
              <a:t>lardan</a:t>
            </a:r>
            <a:r>
              <a:rPr lang="tr-TR" sz="1800" b="0" i="0" dirty="0">
                <a:solidFill>
                  <a:srgbClr val="242424"/>
                </a:solidFill>
                <a:effectLst/>
                <a:latin typeface="source-serif-pro"/>
              </a:rPr>
              <a:t> oluşan bir resim olduğunu varsayalım. Filtremizi 3×3 boyutunda oluşturalım.</a:t>
            </a:r>
          </a:p>
          <a:p>
            <a:pPr marL="0" indent="0" algn="ctr">
              <a:buNone/>
            </a:pPr>
            <a:endParaRPr lang="tr-TR" sz="1400" dirty="0"/>
          </a:p>
          <a:p>
            <a:pPr marL="0" indent="0" algn="ctr">
              <a:buNone/>
            </a:pPr>
            <a:endParaRPr lang="tr-TR" sz="1400" dirty="0"/>
          </a:p>
          <a:p>
            <a:pPr marL="0" indent="0" algn="ctr">
              <a:buNone/>
            </a:pPr>
            <a:r>
              <a:rPr lang="tr-TR" sz="1400" dirty="0"/>
              <a:t>Filtre</a:t>
            </a:r>
          </a:p>
          <a:p>
            <a:pPr marL="0" indent="0" algn="ctr">
              <a:buNone/>
            </a:pPr>
            <a:endParaRPr lang="tr-TR" sz="1400" dirty="0"/>
          </a:p>
        </p:txBody>
      </p:sp>
      <p:pic>
        <p:nvPicPr>
          <p:cNvPr id="2050" name="Picture 2">
            <a:extLst>
              <a:ext uri="{FF2B5EF4-FFF2-40B4-BE49-F238E27FC236}">
                <a16:creationId xmlns:a16="http://schemas.microsoft.com/office/drawing/2014/main" id="{7A359977-4E89-1789-504C-34086B5E65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6411" y="2840964"/>
            <a:ext cx="1019175" cy="9239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409754A-45B0-104B-CAF1-564DB95DF4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0724" y="4874559"/>
            <a:ext cx="590550" cy="504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2973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7FF486E-BB94-8B3F-1075-955724C0D023}"/>
              </a:ext>
            </a:extLst>
          </p:cNvPr>
          <p:cNvSpPr>
            <a:spLocks noGrp="1"/>
          </p:cNvSpPr>
          <p:nvPr>
            <p:ph idx="1"/>
          </p:nvPr>
        </p:nvSpPr>
        <p:spPr>
          <a:xfrm>
            <a:off x="838200" y="2686444"/>
            <a:ext cx="10515600" cy="3490518"/>
          </a:xfrm>
        </p:spPr>
        <p:txBody>
          <a:bodyPr>
            <a:normAutofit/>
          </a:bodyPr>
          <a:lstStyle/>
          <a:p>
            <a:pPr marL="0" indent="0">
              <a:buNone/>
            </a:pPr>
            <a:r>
              <a:rPr lang="tr-TR" sz="1600" b="0" i="0" dirty="0">
                <a:solidFill>
                  <a:srgbClr val="242424"/>
                </a:solidFill>
                <a:effectLst/>
                <a:latin typeface="source-serif-pro"/>
              </a:rPr>
              <a:t>Öncelikle, filtre görüntünün sol üst köşesine konumlandırılır. Burada, iki matris arasında</a:t>
            </a:r>
            <a:r>
              <a:rPr lang="tr-TR" sz="1600" b="0" i="1" dirty="0">
                <a:solidFill>
                  <a:srgbClr val="242424"/>
                </a:solidFill>
                <a:effectLst/>
                <a:latin typeface="source-serif-pro"/>
              </a:rPr>
              <a:t> (resim ve filtre)</a:t>
            </a:r>
            <a:r>
              <a:rPr lang="tr-TR" sz="1600" b="0" i="0" dirty="0">
                <a:solidFill>
                  <a:srgbClr val="242424"/>
                </a:solidFill>
                <a:effectLst/>
                <a:latin typeface="source-serif-pro"/>
              </a:rPr>
              <a:t> indisler </a:t>
            </a:r>
            <a:r>
              <a:rPr lang="tr-TR" sz="1600" b="0" i="0" dirty="0" err="1">
                <a:solidFill>
                  <a:srgbClr val="242424"/>
                </a:solidFill>
                <a:effectLst/>
                <a:latin typeface="source-serif-pro"/>
              </a:rPr>
              <a:t>birbirisi</a:t>
            </a:r>
            <a:r>
              <a:rPr lang="tr-TR" sz="1600" b="0" i="0" dirty="0">
                <a:solidFill>
                  <a:srgbClr val="242424"/>
                </a:solidFill>
                <a:effectLst/>
                <a:latin typeface="source-serif-pro"/>
              </a:rPr>
              <a:t> ile çarpılır ve tüm sonuçlar toplanır, daha sonra sonucu çıktı matrisine depolanır. Ardından, bu filtreyi sağa 1 piksel (“basamak” olarak da bilinir) kadar hareket ettirip işlemi tekrarlanır. 1. Satır bittikten sonra 2 satıra geçilir ve işlemler tekrarlanır. Tüm işlemler bittikten sonra çıktı matrisi oluşturulur. Burada çıktı matrisinin 3×3 olmasının nedeni 5×5 matrisinde 3×3 filtresi yatayda ve dikeyde 3 kez hareket etmesinden kaynaklanır.</a:t>
            </a:r>
            <a:br>
              <a:rPr lang="tr-TR" sz="1600" dirty="0"/>
            </a:br>
            <a:r>
              <a:rPr lang="tr-TR" sz="1600" b="0" i="0" dirty="0">
                <a:solidFill>
                  <a:srgbClr val="242424"/>
                </a:solidFill>
                <a:effectLst/>
                <a:latin typeface="source-serif-pro"/>
              </a:rPr>
              <a:t>Eğer resim 6×4 ve filtre 3×3 boyutunda olsaydı çıkış matrisi 4×2 boyutunda olurdu.</a:t>
            </a:r>
            <a:br>
              <a:rPr lang="tr-TR" sz="1600" dirty="0"/>
            </a:br>
            <a:r>
              <a:rPr lang="tr-TR" sz="1600" b="0" i="0" dirty="0">
                <a:solidFill>
                  <a:srgbClr val="242424"/>
                </a:solidFill>
                <a:effectLst/>
                <a:latin typeface="source-serif-pro"/>
              </a:rPr>
              <a:t>Peki çıktı matrisi bize ne anlatıyor? Bu matrise genellikle </a:t>
            </a:r>
            <a:r>
              <a:rPr lang="tr-TR" sz="1600" b="0" i="0" dirty="0" err="1">
                <a:solidFill>
                  <a:srgbClr val="242424"/>
                </a:solidFill>
                <a:effectLst/>
                <a:latin typeface="source-serif-pro"/>
              </a:rPr>
              <a:t>Feature</a:t>
            </a:r>
            <a:r>
              <a:rPr lang="tr-TR" sz="1600" b="0" i="0" dirty="0">
                <a:solidFill>
                  <a:srgbClr val="242424"/>
                </a:solidFill>
                <a:effectLst/>
                <a:latin typeface="source-serif-pro"/>
              </a:rPr>
              <a:t> </a:t>
            </a:r>
            <a:r>
              <a:rPr lang="tr-TR" sz="1600" b="0" i="0" dirty="0" err="1">
                <a:solidFill>
                  <a:srgbClr val="242424"/>
                </a:solidFill>
                <a:effectLst/>
                <a:latin typeface="source-serif-pro"/>
              </a:rPr>
              <a:t>Map</a:t>
            </a:r>
            <a:r>
              <a:rPr lang="tr-TR" sz="1600" b="0" i="0" dirty="0">
                <a:solidFill>
                  <a:srgbClr val="242424"/>
                </a:solidFill>
                <a:effectLst/>
                <a:latin typeface="source-serif-pro"/>
              </a:rPr>
              <a:t> denir. Filtre tarafından temsil edilen özellikte görüntünün bulunduğu yeri gösterir. Kısacası, filtreyi görüntü üzerinden hareket ettirerek ve basit matris çarpımını kullanarak, özelliklerimizi tespit ediyoruz.</a:t>
            </a:r>
            <a:br>
              <a:rPr lang="tr-TR" sz="1600" dirty="0"/>
            </a:br>
            <a:r>
              <a:rPr lang="tr-TR" sz="1600" b="0" i="0" dirty="0">
                <a:solidFill>
                  <a:srgbClr val="242424"/>
                </a:solidFill>
                <a:effectLst/>
                <a:latin typeface="source-serif-pro"/>
              </a:rPr>
              <a:t>Genellikle, birden çok özelliği tespit etmek için birden fazla filtre kullanılır, yani bir CNN ağında birden fazla </a:t>
            </a:r>
            <a:r>
              <a:rPr lang="tr-TR" sz="1600" b="0" i="0" dirty="0" err="1">
                <a:solidFill>
                  <a:srgbClr val="242424"/>
                </a:solidFill>
                <a:effectLst/>
                <a:latin typeface="source-serif-pro"/>
              </a:rPr>
              <a:t>konvolüsyonel</a:t>
            </a:r>
            <a:r>
              <a:rPr lang="tr-TR" sz="1600" b="0" i="0" dirty="0">
                <a:solidFill>
                  <a:srgbClr val="242424"/>
                </a:solidFill>
                <a:effectLst/>
                <a:latin typeface="source-serif-pro"/>
              </a:rPr>
              <a:t> (</a:t>
            </a:r>
            <a:r>
              <a:rPr lang="tr-TR" sz="1600" b="0" i="0" dirty="0" err="1">
                <a:solidFill>
                  <a:srgbClr val="242424"/>
                </a:solidFill>
                <a:effectLst/>
                <a:latin typeface="source-serif-pro"/>
              </a:rPr>
              <a:t>Convolutional</a:t>
            </a:r>
            <a:r>
              <a:rPr lang="tr-TR" sz="1600" b="0" i="0" dirty="0">
                <a:solidFill>
                  <a:srgbClr val="242424"/>
                </a:solidFill>
                <a:effectLst/>
                <a:latin typeface="source-serif-pro"/>
              </a:rPr>
              <a:t>) katman bulunur. </a:t>
            </a:r>
            <a:endParaRPr lang="tr-TR" sz="1600" dirty="0"/>
          </a:p>
        </p:txBody>
      </p:sp>
      <p:pic>
        <p:nvPicPr>
          <p:cNvPr id="3074" name="Picture 2">
            <a:extLst>
              <a:ext uri="{FF2B5EF4-FFF2-40B4-BE49-F238E27FC236}">
                <a16:creationId xmlns:a16="http://schemas.microsoft.com/office/drawing/2014/main" id="{A1042D09-9421-6628-790F-D08B88515A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4101" y="161500"/>
            <a:ext cx="3603798" cy="252494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7FA0B105-8FAD-43E3-EE08-26146F8E7F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3951" y="5042198"/>
            <a:ext cx="2666474" cy="1511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5649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5B2A147-57F6-BA92-05F9-0E4798CD59E9}"/>
              </a:ext>
            </a:extLst>
          </p:cNvPr>
          <p:cNvSpPr>
            <a:spLocks noGrp="1"/>
          </p:cNvSpPr>
          <p:nvPr>
            <p:ph idx="1"/>
          </p:nvPr>
        </p:nvSpPr>
        <p:spPr>
          <a:xfrm>
            <a:off x="838200" y="428822"/>
            <a:ext cx="10515600" cy="5748141"/>
          </a:xfrm>
        </p:spPr>
        <p:txBody>
          <a:bodyPr/>
          <a:lstStyle/>
          <a:p>
            <a:pPr marL="0" indent="0">
              <a:buNone/>
            </a:pPr>
            <a:r>
              <a:rPr lang="tr-TR" b="0" i="0" dirty="0">
                <a:solidFill>
                  <a:srgbClr val="242424"/>
                </a:solidFill>
                <a:effectLst/>
                <a:latin typeface="source-serif-pro"/>
              </a:rPr>
              <a:t>İlk filtreyi uyguladığımızda, bir </a:t>
            </a:r>
            <a:r>
              <a:rPr lang="tr-TR" b="0" i="0" dirty="0" err="1">
                <a:solidFill>
                  <a:srgbClr val="242424"/>
                </a:solidFill>
                <a:effectLst/>
                <a:latin typeface="source-serif-pro"/>
              </a:rPr>
              <a:t>Feature</a:t>
            </a:r>
            <a:r>
              <a:rPr lang="tr-TR" b="0" i="0" dirty="0">
                <a:solidFill>
                  <a:srgbClr val="242424"/>
                </a:solidFill>
                <a:effectLst/>
                <a:latin typeface="source-serif-pro"/>
              </a:rPr>
              <a:t> </a:t>
            </a:r>
            <a:r>
              <a:rPr lang="tr-TR" b="0" i="0" dirty="0" err="1">
                <a:solidFill>
                  <a:srgbClr val="242424"/>
                </a:solidFill>
                <a:effectLst/>
                <a:latin typeface="source-serif-pro"/>
              </a:rPr>
              <a:t>Map</a:t>
            </a:r>
            <a:r>
              <a:rPr lang="tr-TR" b="0" i="0" dirty="0">
                <a:solidFill>
                  <a:srgbClr val="242424"/>
                </a:solidFill>
                <a:effectLst/>
                <a:latin typeface="source-serif-pro"/>
              </a:rPr>
              <a:t> oluşturuyor ve bir özellik türünü tespit ediyoruz. Ardından, ikinci bir filtre kullanıp başka bir özellik türünü algılayan ikinci bir </a:t>
            </a:r>
            <a:r>
              <a:rPr lang="tr-TR" b="0" i="0" dirty="0" err="1">
                <a:solidFill>
                  <a:srgbClr val="242424"/>
                </a:solidFill>
                <a:effectLst/>
                <a:latin typeface="source-serif-pro"/>
              </a:rPr>
              <a:t>Feature</a:t>
            </a:r>
            <a:r>
              <a:rPr lang="tr-TR" b="0" i="0" dirty="0">
                <a:solidFill>
                  <a:srgbClr val="242424"/>
                </a:solidFill>
                <a:effectLst/>
                <a:latin typeface="source-serif-pro"/>
              </a:rPr>
              <a:t> </a:t>
            </a:r>
            <a:r>
              <a:rPr lang="tr-TR" b="0" i="0" dirty="0" err="1">
                <a:solidFill>
                  <a:srgbClr val="242424"/>
                </a:solidFill>
                <a:effectLst/>
                <a:latin typeface="source-serif-pro"/>
              </a:rPr>
              <a:t>Map</a:t>
            </a:r>
            <a:r>
              <a:rPr lang="tr-TR" b="0" i="0" dirty="0">
                <a:solidFill>
                  <a:srgbClr val="242424"/>
                </a:solidFill>
                <a:effectLst/>
                <a:latin typeface="source-serif-pro"/>
              </a:rPr>
              <a:t> oluştururuz.</a:t>
            </a:r>
            <a:br>
              <a:rPr lang="tr-TR" dirty="0"/>
            </a:br>
            <a:r>
              <a:rPr lang="tr-TR" b="0" i="0" dirty="0">
                <a:solidFill>
                  <a:srgbClr val="242424"/>
                </a:solidFill>
                <a:effectLst/>
                <a:latin typeface="source-serif-pro"/>
              </a:rPr>
              <a:t>Yukarıdaki örnekte görebildiğimiz gibi bu filtreler basit olabilir, ancak görüntüde bazı karmaşık özellikler çıkarmak istiyorsanız bu filtreler karmaşık hale gelebilirler. </a:t>
            </a:r>
            <a:endParaRPr lang="tr-TR" dirty="0"/>
          </a:p>
        </p:txBody>
      </p:sp>
      <p:pic>
        <p:nvPicPr>
          <p:cNvPr id="4098" name="Picture 2">
            <a:extLst>
              <a:ext uri="{FF2B5EF4-FFF2-40B4-BE49-F238E27FC236}">
                <a16:creationId xmlns:a16="http://schemas.microsoft.com/office/drawing/2014/main" id="{9048F1AD-38FC-14D0-0893-BF2308327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3652" y="3235413"/>
            <a:ext cx="2228850" cy="219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8849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42252D5-3AAD-1FC5-9F6D-45C1250002C8}"/>
              </a:ext>
            </a:extLst>
          </p:cNvPr>
          <p:cNvSpPr>
            <a:spLocks noGrp="1"/>
          </p:cNvSpPr>
          <p:nvPr>
            <p:ph type="title"/>
          </p:nvPr>
        </p:nvSpPr>
        <p:spPr/>
        <p:txBody>
          <a:bodyPr/>
          <a:lstStyle/>
          <a:p>
            <a:pPr algn="ctr"/>
            <a:r>
              <a:rPr lang="tr-TR" b="1" dirty="0" err="1"/>
              <a:t>Padding</a:t>
            </a:r>
            <a:r>
              <a:rPr lang="tr-TR" b="1" dirty="0"/>
              <a:t> ve </a:t>
            </a:r>
            <a:r>
              <a:rPr lang="tr-TR" b="1" dirty="0" err="1"/>
              <a:t>Stride</a:t>
            </a:r>
            <a:endParaRPr lang="tr-TR" b="1" dirty="0"/>
          </a:p>
        </p:txBody>
      </p:sp>
      <p:sp>
        <p:nvSpPr>
          <p:cNvPr id="3" name="İçerik Yer Tutucusu 2">
            <a:extLst>
              <a:ext uri="{FF2B5EF4-FFF2-40B4-BE49-F238E27FC236}">
                <a16:creationId xmlns:a16="http://schemas.microsoft.com/office/drawing/2014/main" id="{4BC10F61-9BC1-AC3E-0C23-BCFAF8A3AB6C}"/>
              </a:ext>
            </a:extLst>
          </p:cNvPr>
          <p:cNvSpPr>
            <a:spLocks noGrp="1"/>
          </p:cNvSpPr>
          <p:nvPr>
            <p:ph idx="1"/>
          </p:nvPr>
        </p:nvSpPr>
        <p:spPr>
          <a:xfrm>
            <a:off x="838200" y="1825625"/>
            <a:ext cx="9201281" cy="4351338"/>
          </a:xfrm>
        </p:spPr>
        <p:txBody>
          <a:bodyPr>
            <a:normAutofit fontScale="77500" lnSpcReduction="20000"/>
          </a:bodyPr>
          <a:lstStyle/>
          <a:p>
            <a:pPr marL="0" indent="0">
              <a:buNone/>
            </a:pPr>
            <a:r>
              <a:rPr lang="tr-TR" dirty="0" err="1"/>
              <a:t>Evrişim</a:t>
            </a:r>
            <a:r>
              <a:rPr lang="tr-TR" dirty="0"/>
              <a:t> işlemi sırasında, girdi verinin kenarlarında pikseller kaybedilebilir. </a:t>
            </a:r>
            <a:r>
              <a:rPr lang="tr-TR" dirty="0" err="1"/>
              <a:t>Padding</a:t>
            </a:r>
            <a:r>
              <a:rPr lang="tr-TR" dirty="0"/>
              <a:t>, girdi görüntüsünün etrafına ekstra pikseller ekleyerek, çıktı boyutunun kontrol edilmesini ve istenen boyutta olmasını sağlar.</a:t>
            </a:r>
          </a:p>
          <a:p>
            <a:pPr marL="0" indent="0">
              <a:buNone/>
            </a:pPr>
            <a:r>
              <a:rPr lang="tr-TR" dirty="0">
                <a:solidFill>
                  <a:srgbClr val="FF0000"/>
                </a:solidFill>
              </a:rPr>
              <a:t>"</a:t>
            </a:r>
            <a:r>
              <a:rPr lang="tr-TR" dirty="0" err="1">
                <a:solidFill>
                  <a:srgbClr val="FF0000"/>
                </a:solidFill>
              </a:rPr>
              <a:t>Valid</a:t>
            </a:r>
            <a:r>
              <a:rPr lang="tr-TR" dirty="0">
                <a:solidFill>
                  <a:srgbClr val="FF0000"/>
                </a:solidFill>
              </a:rPr>
              <a:t>" </a:t>
            </a:r>
            <a:r>
              <a:rPr lang="tr-TR" dirty="0" err="1">
                <a:solidFill>
                  <a:srgbClr val="FF0000"/>
                </a:solidFill>
              </a:rPr>
              <a:t>Padding</a:t>
            </a:r>
            <a:r>
              <a:rPr lang="tr-TR" dirty="0">
                <a:solidFill>
                  <a:srgbClr val="FF0000"/>
                </a:solidFill>
              </a:rPr>
              <a:t> (Kayıpsız): </a:t>
            </a:r>
            <a:r>
              <a:rPr lang="tr-TR" dirty="0" err="1"/>
              <a:t>Padding</a:t>
            </a:r>
            <a:r>
              <a:rPr lang="tr-TR" dirty="0"/>
              <a:t> yapılmaz. </a:t>
            </a:r>
            <a:r>
              <a:rPr lang="tr-TR" dirty="0" err="1"/>
              <a:t>Evrişim</a:t>
            </a:r>
            <a:r>
              <a:rPr lang="tr-TR" dirty="0"/>
              <a:t> filtresi, girdi görüntüsünün iç kısmında hareket eder ve çıktı görüntü boyutu, filtre boyutu ve adım (</a:t>
            </a:r>
            <a:r>
              <a:rPr lang="tr-TR" dirty="0" err="1"/>
              <a:t>stride</a:t>
            </a:r>
            <a:r>
              <a:rPr lang="tr-TR" dirty="0"/>
              <a:t>) uzunluğuna bağlı olarak küçülür.</a:t>
            </a:r>
          </a:p>
          <a:p>
            <a:pPr marL="0" indent="0">
              <a:buNone/>
            </a:pPr>
            <a:r>
              <a:rPr lang="tr-TR" dirty="0">
                <a:solidFill>
                  <a:srgbClr val="FF0000"/>
                </a:solidFill>
              </a:rPr>
              <a:t>"</a:t>
            </a:r>
            <a:r>
              <a:rPr lang="tr-TR" dirty="0" err="1">
                <a:solidFill>
                  <a:srgbClr val="FF0000"/>
                </a:solidFill>
              </a:rPr>
              <a:t>Same</a:t>
            </a:r>
            <a:r>
              <a:rPr lang="tr-TR" dirty="0">
                <a:solidFill>
                  <a:srgbClr val="FF0000"/>
                </a:solidFill>
              </a:rPr>
              <a:t>" </a:t>
            </a:r>
            <a:r>
              <a:rPr lang="tr-TR" dirty="0" err="1">
                <a:solidFill>
                  <a:srgbClr val="FF0000"/>
                </a:solidFill>
              </a:rPr>
              <a:t>Padding</a:t>
            </a:r>
            <a:r>
              <a:rPr lang="tr-TR" dirty="0">
                <a:solidFill>
                  <a:srgbClr val="FF0000"/>
                </a:solidFill>
              </a:rPr>
              <a:t> (Aynı Boyut): </a:t>
            </a:r>
            <a:r>
              <a:rPr lang="tr-TR" dirty="0" err="1"/>
              <a:t>Padding</a:t>
            </a:r>
            <a:r>
              <a:rPr lang="tr-TR" dirty="0"/>
              <a:t> yapılarak, çıktı boyutunun girdi boyutuyla aynı olmasını sağlar. Eklenen pikseller, genellikle sıfır değerleriyle doldurulur.</a:t>
            </a:r>
          </a:p>
          <a:p>
            <a:pPr marL="0" indent="0">
              <a:buNone/>
            </a:pPr>
            <a:r>
              <a:rPr lang="tr-TR" dirty="0" err="1">
                <a:solidFill>
                  <a:srgbClr val="FF0000"/>
                </a:solidFill>
              </a:rPr>
              <a:t>Stride</a:t>
            </a:r>
            <a:r>
              <a:rPr lang="tr-TR" dirty="0"/>
              <a:t>, filtre veya </a:t>
            </a:r>
            <a:r>
              <a:rPr lang="tr-TR" dirty="0" err="1"/>
              <a:t>kernel'in</a:t>
            </a:r>
            <a:r>
              <a:rPr lang="tr-TR" dirty="0"/>
              <a:t> her bir adımında ne kadar hareket edeceğini belirler. Örneğin, 1 </a:t>
            </a:r>
            <a:r>
              <a:rPr lang="tr-TR" dirty="0" err="1"/>
              <a:t>stride</a:t>
            </a:r>
            <a:r>
              <a:rPr lang="tr-TR" dirty="0"/>
              <a:t>, filtreleri bir piksel aralıklarla hareket ettirirken, 2 </a:t>
            </a:r>
            <a:r>
              <a:rPr lang="tr-TR" dirty="0" err="1"/>
              <a:t>stride</a:t>
            </a:r>
            <a:r>
              <a:rPr lang="tr-TR" dirty="0"/>
              <a:t> filtreleri ikişer piksel aralıklarla hareket ettirir.</a:t>
            </a:r>
          </a:p>
          <a:p>
            <a:pPr marL="0" indent="0">
              <a:buNone/>
            </a:pPr>
            <a:r>
              <a:rPr lang="tr-TR" dirty="0"/>
              <a:t>Daha büyük </a:t>
            </a:r>
            <a:r>
              <a:rPr lang="tr-TR" dirty="0" err="1"/>
              <a:t>stride</a:t>
            </a:r>
            <a:r>
              <a:rPr lang="tr-TR" dirty="0"/>
              <a:t> değerleri, çıktı boyutunu küçültürken, daha küçük </a:t>
            </a:r>
            <a:r>
              <a:rPr lang="tr-TR" dirty="0" err="1"/>
              <a:t>stride</a:t>
            </a:r>
            <a:r>
              <a:rPr lang="tr-TR" dirty="0"/>
              <a:t> değerleri daha fazla öznitelik çıkmasını sağlar ancak hesaplama maliyetini artırabilir.</a:t>
            </a:r>
          </a:p>
        </p:txBody>
      </p:sp>
      <p:pic>
        <p:nvPicPr>
          <p:cNvPr id="5122" name="Picture 2">
            <a:extLst>
              <a:ext uri="{FF2B5EF4-FFF2-40B4-BE49-F238E27FC236}">
                <a16:creationId xmlns:a16="http://schemas.microsoft.com/office/drawing/2014/main" id="{F1C4C3AB-236A-6D3B-E06A-8E8B8FE610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5156" y="2640822"/>
            <a:ext cx="1757232" cy="1727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1567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64422B8-0C79-E644-1E9A-45F4B93C2595}"/>
              </a:ext>
            </a:extLst>
          </p:cNvPr>
          <p:cNvSpPr>
            <a:spLocks noGrp="1"/>
          </p:cNvSpPr>
          <p:nvPr>
            <p:ph type="title"/>
          </p:nvPr>
        </p:nvSpPr>
        <p:spPr/>
        <p:txBody>
          <a:bodyPr/>
          <a:lstStyle/>
          <a:p>
            <a:pPr algn="ctr"/>
            <a:r>
              <a:rPr lang="tr-TR" b="1" dirty="0" err="1"/>
              <a:t>Non-linearity</a:t>
            </a:r>
            <a:endParaRPr lang="tr-TR" b="1" dirty="0"/>
          </a:p>
        </p:txBody>
      </p:sp>
      <p:sp>
        <p:nvSpPr>
          <p:cNvPr id="3" name="İçerik Yer Tutucusu 2">
            <a:extLst>
              <a:ext uri="{FF2B5EF4-FFF2-40B4-BE49-F238E27FC236}">
                <a16:creationId xmlns:a16="http://schemas.microsoft.com/office/drawing/2014/main" id="{A5F357BB-A65F-840C-9FA5-1D82E5765F3F}"/>
              </a:ext>
            </a:extLst>
          </p:cNvPr>
          <p:cNvSpPr>
            <a:spLocks noGrp="1"/>
          </p:cNvSpPr>
          <p:nvPr>
            <p:ph idx="1"/>
          </p:nvPr>
        </p:nvSpPr>
        <p:spPr/>
        <p:txBody>
          <a:bodyPr>
            <a:normAutofit fontScale="62500" lnSpcReduction="20000"/>
          </a:bodyPr>
          <a:lstStyle/>
          <a:p>
            <a:pPr marL="0" indent="0">
              <a:buNone/>
            </a:pPr>
            <a:r>
              <a:rPr lang="tr-TR" dirty="0" err="1"/>
              <a:t>Non-linearity</a:t>
            </a:r>
            <a:r>
              <a:rPr lang="tr-TR" dirty="0"/>
              <a:t> (doğrusal olmama), yapay sinir ağlarında kullanılan bir kavramdır. Bir aktivasyon fonksiyonu (</a:t>
            </a:r>
            <a:r>
              <a:rPr lang="tr-TR" dirty="0" err="1"/>
              <a:t>activation</a:t>
            </a:r>
            <a:r>
              <a:rPr lang="tr-TR" dirty="0"/>
              <a:t> </a:t>
            </a:r>
            <a:r>
              <a:rPr lang="tr-TR" dirty="0" err="1"/>
              <a:t>function</a:t>
            </a:r>
            <a:r>
              <a:rPr lang="tr-TR" dirty="0"/>
              <a:t>) tarafından sağlanan bir özelliktir. Bu fonksiyonlar, sinir ağlarının doğrusal olmayan ilişkileri öğrenmesini ve karmaşık veri yapılarını temsil etmesini sağlar.</a:t>
            </a:r>
          </a:p>
          <a:p>
            <a:pPr marL="0" indent="0">
              <a:buNone/>
            </a:pPr>
            <a:r>
              <a:rPr lang="tr-TR" dirty="0"/>
              <a:t>Doğrusal bir ilişki, girdi ve çıktı arasında doğrusal bir bağıntı olduğu durumu ifade eder. Örneğin, girdi arttığında çıktının da doğrusal bir şekilde artmasıdır. Ancak, sinir ağlarında pek çok gerçek dünya problemi doğrusal olmayan ilişkilere sahiptir. Bu durumda, doğrusal </a:t>
            </a:r>
            <a:r>
              <a:rPr lang="tr-TR" dirty="0" err="1"/>
              <a:t>olmayanlık</a:t>
            </a:r>
            <a:r>
              <a:rPr lang="tr-TR" dirty="0"/>
              <a:t> (</a:t>
            </a:r>
            <a:r>
              <a:rPr lang="tr-TR" dirty="0" err="1"/>
              <a:t>non-linearity</a:t>
            </a:r>
            <a:r>
              <a:rPr lang="tr-TR" dirty="0"/>
              <a:t>) önemli bir rol oynar.</a:t>
            </a:r>
          </a:p>
          <a:p>
            <a:pPr marL="0" indent="0">
              <a:buNone/>
            </a:pPr>
            <a:r>
              <a:rPr lang="tr-TR" dirty="0"/>
              <a:t>Aktivasyon fonksiyonları, sinir ağlarının katmanları arasına yerleştirilir ve bu fonksiyonlar, katmanların çıktılarını genellikle doğrusal olmayan bir şekilde dönüştürür. Örneğin, </a:t>
            </a:r>
            <a:r>
              <a:rPr lang="tr-TR" dirty="0" err="1"/>
              <a:t>ReLU</a:t>
            </a:r>
            <a:r>
              <a:rPr lang="tr-TR" dirty="0"/>
              <a:t> (</a:t>
            </a:r>
            <a:r>
              <a:rPr lang="tr-TR" dirty="0" err="1"/>
              <a:t>Rectified</a:t>
            </a:r>
            <a:r>
              <a:rPr lang="tr-TR" dirty="0"/>
              <a:t> </a:t>
            </a:r>
            <a:r>
              <a:rPr lang="tr-TR" dirty="0" err="1"/>
              <a:t>Linear</a:t>
            </a:r>
            <a:r>
              <a:rPr lang="tr-TR" dirty="0"/>
              <a:t> </a:t>
            </a:r>
            <a:r>
              <a:rPr lang="tr-TR" dirty="0" err="1"/>
              <a:t>Activation</a:t>
            </a:r>
            <a:r>
              <a:rPr lang="tr-TR" dirty="0"/>
              <a:t>), sigmoid, </a:t>
            </a:r>
            <a:r>
              <a:rPr lang="tr-TR" dirty="0" err="1"/>
              <a:t>tanh</a:t>
            </a:r>
            <a:r>
              <a:rPr lang="tr-TR" dirty="0"/>
              <a:t> gibi aktivasyon fonksiyonları bu doğrusal </a:t>
            </a:r>
            <a:r>
              <a:rPr lang="tr-TR" dirty="0" err="1"/>
              <a:t>olmayanlık</a:t>
            </a:r>
            <a:r>
              <a:rPr lang="tr-TR" dirty="0"/>
              <a:t> özelliğini sağlarlar.</a:t>
            </a:r>
          </a:p>
          <a:p>
            <a:pPr marL="0" indent="0">
              <a:buNone/>
            </a:pPr>
            <a:r>
              <a:rPr lang="tr-TR" dirty="0"/>
              <a:t>Özellikle </a:t>
            </a:r>
            <a:r>
              <a:rPr lang="tr-TR" dirty="0" err="1"/>
              <a:t>ReLU</a:t>
            </a:r>
            <a:r>
              <a:rPr lang="tr-TR" dirty="0"/>
              <a:t>, yaygın olarak kullanılan bir aktivasyon fonksiyonudur. </a:t>
            </a:r>
            <a:r>
              <a:rPr lang="tr-TR" dirty="0" err="1"/>
              <a:t>ReLU</a:t>
            </a:r>
            <a:r>
              <a:rPr lang="tr-TR" dirty="0"/>
              <a:t> fonksiyonu, negatif girdileri sıfıra eşitlerken, pozitif girdileri doğrudan ileterek doğrusal olmayan bir dönüşüm sağlar. Bu tür fonksiyonlar, sinir ağlarının karmaşık örüntüleri, hiyerarşik yapıları ve doğrusal olmayan ilişkileri öğrenmesine yardımcı olur.</a:t>
            </a:r>
          </a:p>
          <a:p>
            <a:pPr marL="0" indent="0">
              <a:buNone/>
            </a:pPr>
            <a:r>
              <a:rPr lang="tr-TR" dirty="0"/>
              <a:t>Doğrusal </a:t>
            </a:r>
            <a:r>
              <a:rPr lang="tr-TR" dirty="0" err="1"/>
              <a:t>olmayanlık</a:t>
            </a:r>
            <a:r>
              <a:rPr lang="tr-TR" dirty="0"/>
              <a:t>, sinir ağlarının esneklik kazanmasına ve daha karmaşık veri yapılarını temsil etmesine yardımcı olur. Bu sayede sinir ağları, gerçek dünya problemlerini daha iyi modelleyebilir ve daha iyi sonuçlar elde edebilir.</a:t>
            </a:r>
          </a:p>
        </p:txBody>
      </p:sp>
      <p:pic>
        <p:nvPicPr>
          <p:cNvPr id="6146" name="Picture 2">
            <a:extLst>
              <a:ext uri="{FF2B5EF4-FFF2-40B4-BE49-F238E27FC236}">
                <a16:creationId xmlns:a16="http://schemas.microsoft.com/office/drawing/2014/main" id="{CAE6B6DD-2D90-CBE7-3D10-6F201B0860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8696" y="5143500"/>
            <a:ext cx="531495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9617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7255326-F972-1773-61CC-D6917D775CC5}"/>
              </a:ext>
            </a:extLst>
          </p:cNvPr>
          <p:cNvSpPr>
            <a:spLocks noGrp="1"/>
          </p:cNvSpPr>
          <p:nvPr>
            <p:ph type="title"/>
          </p:nvPr>
        </p:nvSpPr>
        <p:spPr/>
        <p:txBody>
          <a:bodyPr/>
          <a:lstStyle/>
          <a:p>
            <a:pPr algn="ctr"/>
            <a:r>
              <a:rPr lang="tr-TR" b="1" dirty="0" err="1"/>
              <a:t>Pooling</a:t>
            </a:r>
            <a:endParaRPr lang="tr-TR" b="1" dirty="0"/>
          </a:p>
        </p:txBody>
      </p:sp>
      <p:sp>
        <p:nvSpPr>
          <p:cNvPr id="3" name="İçerik Yer Tutucusu 2">
            <a:extLst>
              <a:ext uri="{FF2B5EF4-FFF2-40B4-BE49-F238E27FC236}">
                <a16:creationId xmlns:a16="http://schemas.microsoft.com/office/drawing/2014/main" id="{4A00CF7E-0346-6DBA-0519-C416983DFA36}"/>
              </a:ext>
            </a:extLst>
          </p:cNvPr>
          <p:cNvSpPr>
            <a:spLocks noGrp="1"/>
          </p:cNvSpPr>
          <p:nvPr>
            <p:ph idx="1"/>
          </p:nvPr>
        </p:nvSpPr>
        <p:spPr>
          <a:xfrm>
            <a:off x="838200" y="1690688"/>
            <a:ext cx="10515600" cy="4848849"/>
          </a:xfrm>
        </p:spPr>
        <p:txBody>
          <a:bodyPr>
            <a:normAutofit lnSpcReduction="10000"/>
          </a:bodyPr>
          <a:lstStyle/>
          <a:p>
            <a:pPr marL="0" indent="0">
              <a:buNone/>
            </a:pPr>
            <a:r>
              <a:rPr lang="tr-TR" sz="1200" dirty="0"/>
              <a:t>Amacı, </a:t>
            </a:r>
            <a:r>
              <a:rPr lang="tr-TR" sz="1200" dirty="0" err="1"/>
              <a:t>evrişim</a:t>
            </a:r>
            <a:r>
              <a:rPr lang="tr-TR" sz="1200" dirty="0"/>
              <a:t> katmanlarının çıkışını boyutunu küçültmek ve özellikleri özetlemek için kullanılır.</a:t>
            </a:r>
          </a:p>
          <a:p>
            <a:pPr marL="0" indent="0">
              <a:buNone/>
            </a:pPr>
            <a:r>
              <a:rPr lang="tr-TR" sz="1200" dirty="0" err="1"/>
              <a:t>Pooling</a:t>
            </a:r>
            <a:r>
              <a:rPr lang="tr-TR" sz="1200" dirty="0"/>
              <a:t> katmanları, </a:t>
            </a:r>
            <a:r>
              <a:rPr lang="tr-TR" sz="1200" dirty="0" err="1"/>
              <a:t>evrişim</a:t>
            </a:r>
            <a:r>
              <a:rPr lang="tr-TR" sz="1200" dirty="0"/>
              <a:t> katmanlarının çıkışlarını alır ve her bir bölgeyi (örneğin, 2x2 piksellik alanlar) bir araya getirerek tek bir temsil ile değiştirir. Bu, ağın öğrenirken çıktı boyutunu azaltmasına ve hesaplama yükünü azaltmasına yardımcı olurken, özelliklerin özetlenmesini sağlar.</a:t>
            </a:r>
          </a:p>
          <a:p>
            <a:pPr marL="0" indent="0">
              <a:buNone/>
            </a:pPr>
            <a:r>
              <a:rPr lang="tr-TR" sz="1200" dirty="0"/>
              <a:t>En yaygın kullanılan </a:t>
            </a:r>
            <a:r>
              <a:rPr lang="tr-TR" sz="1200" dirty="0" err="1"/>
              <a:t>pooling</a:t>
            </a:r>
            <a:r>
              <a:rPr lang="tr-TR" sz="1200" dirty="0"/>
              <a:t> yöntemleri şunlardır:</a:t>
            </a:r>
          </a:p>
          <a:p>
            <a:pPr marL="457200" lvl="1" indent="0">
              <a:buNone/>
            </a:pPr>
            <a:r>
              <a:rPr lang="tr-TR" sz="1200" dirty="0" err="1"/>
              <a:t>Max</a:t>
            </a:r>
            <a:r>
              <a:rPr lang="tr-TR" sz="1200" dirty="0"/>
              <a:t> </a:t>
            </a:r>
            <a:r>
              <a:rPr lang="tr-TR" sz="1200" dirty="0" err="1"/>
              <a:t>Pooling</a:t>
            </a:r>
            <a:r>
              <a:rPr lang="tr-TR" sz="1200" dirty="0"/>
              <a:t>: Her bölge içerisinden en büyük değeri seçerek, bu değerleri kullanarak yeni bir temsil oluşturur. Özellikle belirli özelliklerin vurgulanmasına ve daha belirgin özniteliklerin korunmasına yardımcı olur.</a:t>
            </a:r>
          </a:p>
          <a:p>
            <a:pPr marL="457200" lvl="1" indent="0">
              <a:buNone/>
            </a:pPr>
            <a:r>
              <a:rPr lang="tr-TR" sz="1200" dirty="0" err="1"/>
              <a:t>Average</a:t>
            </a:r>
            <a:r>
              <a:rPr lang="tr-TR" sz="1200" dirty="0"/>
              <a:t> </a:t>
            </a:r>
            <a:r>
              <a:rPr lang="tr-TR" sz="1200" dirty="0" err="1"/>
              <a:t>Pooling</a:t>
            </a:r>
            <a:r>
              <a:rPr lang="tr-TR" sz="1200" dirty="0"/>
              <a:t>: Her bölge içerisindeki piksel değerlerinin ortalamasını alarak yeni bir temsil oluşturur. Bu yöntem daha yumuşak bir özellik çıkarımı sağlar.</a:t>
            </a:r>
          </a:p>
          <a:p>
            <a:pPr marL="0" indent="0">
              <a:buNone/>
            </a:pPr>
            <a:r>
              <a:rPr lang="tr-TR" sz="1200" dirty="0" err="1"/>
              <a:t>Pooling</a:t>
            </a:r>
            <a:r>
              <a:rPr lang="tr-TR" sz="1200" dirty="0"/>
              <a:t> işlemi, modelin özelliklerini azaltarak öğrenme sürecini iyileştirebilir, </a:t>
            </a:r>
            <a:r>
              <a:rPr lang="tr-TR" sz="1200" dirty="0" err="1"/>
              <a:t>overfitting</a:t>
            </a:r>
            <a:r>
              <a:rPr lang="tr-TR" sz="1200" dirty="0"/>
              <a:t> riskini azaltabilir ve hesaplama maliyetini düşürebilir. Ancak, özellikle küçük ölçekli veri setleri veya bazı görevler için her zaman kullanılması gereken bir işlem değildir. Yine de, ağın mimarisine ve görevin gerekliliklerine bağlı olarak </a:t>
            </a:r>
            <a:r>
              <a:rPr lang="tr-TR" sz="1200" dirty="0" err="1"/>
              <a:t>pooling</a:t>
            </a:r>
            <a:r>
              <a:rPr lang="tr-TR" sz="1200" dirty="0"/>
              <a:t> katmanları, ağın performansını ve genelleme yeteneğini artırabilir.</a:t>
            </a:r>
          </a:p>
          <a:p>
            <a:pPr marL="0" indent="0">
              <a:buNone/>
            </a:pPr>
            <a:endParaRPr lang="tr-TR" sz="1200" dirty="0"/>
          </a:p>
          <a:p>
            <a:pPr marL="0" indent="0">
              <a:buNone/>
            </a:pPr>
            <a:endParaRPr lang="tr-TR" sz="1200" dirty="0"/>
          </a:p>
          <a:p>
            <a:pPr marL="0" indent="0">
              <a:buNone/>
            </a:pPr>
            <a:endParaRPr lang="tr-TR" sz="1200" dirty="0"/>
          </a:p>
          <a:p>
            <a:pPr marL="0" indent="0">
              <a:buNone/>
            </a:pPr>
            <a:endParaRPr lang="tr-TR" sz="1200" dirty="0"/>
          </a:p>
          <a:p>
            <a:pPr marL="0" indent="0">
              <a:buNone/>
            </a:pPr>
            <a:endParaRPr lang="tr-TR" sz="1200" dirty="0"/>
          </a:p>
          <a:p>
            <a:pPr marL="0" indent="0">
              <a:buNone/>
            </a:pPr>
            <a:endParaRPr lang="tr-TR" sz="1200" dirty="0"/>
          </a:p>
          <a:p>
            <a:pPr marL="0" indent="0">
              <a:buNone/>
            </a:pPr>
            <a:endParaRPr lang="tr-TR" sz="1200" dirty="0"/>
          </a:p>
          <a:p>
            <a:pPr marL="0" indent="0">
              <a:buNone/>
            </a:pPr>
            <a:r>
              <a:rPr lang="tr-TR" sz="1200" b="0" i="0" dirty="0">
                <a:solidFill>
                  <a:srgbClr val="242424"/>
                </a:solidFill>
                <a:effectLst/>
                <a:latin typeface="source-serif-pro"/>
              </a:rPr>
              <a:t>Öncelikle 2×2 boyutunda bir filtre oluşturalım. Bu filtreyi aşağıdaki (4×4) resim üzerinde görebilirsiniz. Resimde gördüğünüz gibi, filtre, kapsadığı alandaki en büyük sayıyı alır. Bu sayede, sinir ağının doğru karar vermesi için </a:t>
            </a:r>
            <a:r>
              <a:rPr lang="tr-TR" sz="1200" b="0" i="0" dirty="0" err="1">
                <a:solidFill>
                  <a:srgbClr val="242424"/>
                </a:solidFill>
                <a:effectLst/>
                <a:latin typeface="source-serif-pro"/>
              </a:rPr>
              <a:t>için</a:t>
            </a:r>
            <a:r>
              <a:rPr lang="tr-TR" sz="1200" b="0" i="0" dirty="0">
                <a:solidFill>
                  <a:srgbClr val="242424"/>
                </a:solidFill>
                <a:effectLst/>
                <a:latin typeface="source-serif-pro"/>
              </a:rPr>
              <a:t> yeterli bilgiyi içeren daha küçük çıktıları kullanmış olur. Bununla </a:t>
            </a:r>
            <a:r>
              <a:rPr lang="tr-TR" sz="1200" b="0" i="0" dirty="0" err="1">
                <a:solidFill>
                  <a:srgbClr val="242424"/>
                </a:solidFill>
                <a:effectLst/>
                <a:latin typeface="source-serif-pro"/>
              </a:rPr>
              <a:t>birlekte</a:t>
            </a:r>
            <a:r>
              <a:rPr lang="tr-TR" sz="1200" b="0" i="0" dirty="0">
                <a:solidFill>
                  <a:srgbClr val="242424"/>
                </a:solidFill>
                <a:effectLst/>
                <a:latin typeface="source-serif-pro"/>
              </a:rPr>
              <a:t> birçok kişi bu katmanı kullanmayı tercih etmez. Bunun yerine </a:t>
            </a:r>
            <a:r>
              <a:rPr lang="tr-TR" sz="1200" b="0" i="0" dirty="0" err="1">
                <a:solidFill>
                  <a:srgbClr val="242424"/>
                </a:solidFill>
                <a:effectLst/>
                <a:latin typeface="source-serif-pro"/>
              </a:rPr>
              <a:t>Convolutional</a:t>
            </a:r>
            <a:r>
              <a:rPr lang="tr-TR" sz="1200" b="0" i="0" dirty="0">
                <a:solidFill>
                  <a:srgbClr val="242424"/>
                </a:solidFill>
                <a:effectLst/>
                <a:latin typeface="source-serif-pro"/>
              </a:rPr>
              <a:t> katmanında daha büyük </a:t>
            </a:r>
            <a:r>
              <a:rPr lang="tr-TR" sz="1200" b="0" i="0" dirty="0" err="1">
                <a:solidFill>
                  <a:srgbClr val="242424"/>
                </a:solidFill>
                <a:effectLst/>
                <a:latin typeface="source-serif-pro"/>
              </a:rPr>
              <a:t>Stride</a:t>
            </a:r>
            <a:r>
              <a:rPr lang="tr-TR" sz="1200" b="0" i="0" dirty="0">
                <a:solidFill>
                  <a:srgbClr val="242424"/>
                </a:solidFill>
                <a:effectLst/>
                <a:latin typeface="source-serif-pro"/>
              </a:rPr>
              <a:t> (Filtreyi kaydırma işlemi) tercih edilir. </a:t>
            </a:r>
            <a:endParaRPr lang="tr-TR" sz="1200" dirty="0"/>
          </a:p>
        </p:txBody>
      </p:sp>
      <p:pic>
        <p:nvPicPr>
          <p:cNvPr id="7170" name="Picture 2">
            <a:extLst>
              <a:ext uri="{FF2B5EF4-FFF2-40B4-BE49-F238E27FC236}">
                <a16:creationId xmlns:a16="http://schemas.microsoft.com/office/drawing/2014/main" id="{B77C5CFB-B598-4D3A-4D52-CEF0F80BD6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8391" y="3588068"/>
            <a:ext cx="4248150" cy="1876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8532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B4BBB8C-CC7E-5736-B3A5-1BA549CFBB9D}"/>
              </a:ext>
            </a:extLst>
          </p:cNvPr>
          <p:cNvSpPr>
            <a:spLocks noGrp="1"/>
          </p:cNvSpPr>
          <p:nvPr>
            <p:ph type="title"/>
          </p:nvPr>
        </p:nvSpPr>
        <p:spPr/>
        <p:txBody>
          <a:bodyPr>
            <a:normAutofit/>
          </a:bodyPr>
          <a:lstStyle/>
          <a:p>
            <a:pPr algn="ctr"/>
            <a:r>
              <a:rPr lang="tr-TR" b="1" i="0" dirty="0" err="1">
                <a:solidFill>
                  <a:srgbClr val="242424"/>
                </a:solidFill>
                <a:effectLst/>
                <a:latin typeface="sohne"/>
              </a:rPr>
              <a:t>Flattening</a:t>
            </a:r>
            <a:endParaRPr lang="tr-TR" dirty="0"/>
          </a:p>
        </p:txBody>
      </p:sp>
      <p:sp>
        <p:nvSpPr>
          <p:cNvPr id="3" name="İçerik Yer Tutucusu 2">
            <a:extLst>
              <a:ext uri="{FF2B5EF4-FFF2-40B4-BE49-F238E27FC236}">
                <a16:creationId xmlns:a16="http://schemas.microsoft.com/office/drawing/2014/main" id="{FD478BD4-0CA0-6438-94E1-51E53E5F9793}"/>
              </a:ext>
            </a:extLst>
          </p:cNvPr>
          <p:cNvSpPr>
            <a:spLocks noGrp="1"/>
          </p:cNvSpPr>
          <p:nvPr>
            <p:ph idx="1"/>
          </p:nvPr>
        </p:nvSpPr>
        <p:spPr/>
        <p:txBody>
          <a:bodyPr/>
          <a:lstStyle/>
          <a:p>
            <a:pPr marL="0" indent="0">
              <a:buNone/>
            </a:pPr>
            <a:r>
              <a:rPr lang="tr-TR" b="0" i="0" dirty="0">
                <a:solidFill>
                  <a:srgbClr val="242424"/>
                </a:solidFill>
                <a:effectLst/>
                <a:latin typeface="source-serif-pro"/>
              </a:rPr>
              <a:t>Bu katmanın görevi basitçe, son ve en önemli katman olan </a:t>
            </a:r>
            <a:r>
              <a:rPr lang="tr-TR" b="0" i="0" dirty="0" err="1">
                <a:solidFill>
                  <a:srgbClr val="242424"/>
                </a:solidFill>
                <a:effectLst/>
                <a:latin typeface="source-serif-pro"/>
              </a:rPr>
              <a:t>Fully</a:t>
            </a:r>
            <a:r>
              <a:rPr lang="tr-TR" b="0" i="0" dirty="0">
                <a:solidFill>
                  <a:srgbClr val="242424"/>
                </a:solidFill>
                <a:effectLst/>
                <a:latin typeface="source-serif-pro"/>
              </a:rPr>
              <a:t> </a:t>
            </a:r>
            <a:r>
              <a:rPr lang="tr-TR" b="0" i="0" dirty="0" err="1">
                <a:solidFill>
                  <a:srgbClr val="242424"/>
                </a:solidFill>
                <a:effectLst/>
                <a:latin typeface="source-serif-pro"/>
              </a:rPr>
              <a:t>Connected</a:t>
            </a:r>
            <a:r>
              <a:rPr lang="tr-TR" b="0" i="0" dirty="0">
                <a:solidFill>
                  <a:srgbClr val="242424"/>
                </a:solidFill>
                <a:effectLst/>
                <a:latin typeface="source-serif-pro"/>
              </a:rPr>
              <a:t> </a:t>
            </a:r>
            <a:r>
              <a:rPr lang="tr-TR" b="0" i="0" dirty="0" err="1">
                <a:solidFill>
                  <a:srgbClr val="242424"/>
                </a:solidFill>
                <a:effectLst/>
                <a:latin typeface="source-serif-pro"/>
              </a:rPr>
              <a:t>Layer’ın</a:t>
            </a:r>
            <a:r>
              <a:rPr lang="tr-TR" b="0" i="0" dirty="0">
                <a:solidFill>
                  <a:srgbClr val="242424"/>
                </a:solidFill>
                <a:effectLst/>
                <a:latin typeface="source-serif-pro"/>
              </a:rPr>
              <a:t> girişindeki verileri hazırlamaktır. Genel olarak, sinir ağları, giriş verilerini tek boyutlu bir diziden alır. Bu sinir ağındaki veriler ise </a:t>
            </a:r>
            <a:r>
              <a:rPr lang="tr-TR" b="0" i="0" dirty="0" err="1">
                <a:solidFill>
                  <a:srgbClr val="242424"/>
                </a:solidFill>
                <a:effectLst/>
                <a:latin typeface="source-serif-pro"/>
              </a:rPr>
              <a:t>Convolutional</a:t>
            </a:r>
            <a:r>
              <a:rPr lang="tr-TR" b="0" i="0" dirty="0">
                <a:solidFill>
                  <a:srgbClr val="242424"/>
                </a:solidFill>
                <a:effectLst/>
                <a:latin typeface="source-serif-pro"/>
              </a:rPr>
              <a:t> ve </a:t>
            </a:r>
            <a:r>
              <a:rPr lang="tr-TR" b="0" i="0" dirty="0" err="1">
                <a:solidFill>
                  <a:srgbClr val="242424"/>
                </a:solidFill>
                <a:effectLst/>
                <a:latin typeface="source-serif-pro"/>
              </a:rPr>
              <a:t>Pooling</a:t>
            </a:r>
            <a:r>
              <a:rPr lang="tr-TR" b="0" i="0" dirty="0">
                <a:solidFill>
                  <a:srgbClr val="242424"/>
                </a:solidFill>
                <a:effectLst/>
                <a:latin typeface="source-serif-pro"/>
              </a:rPr>
              <a:t> katmanından gelen </a:t>
            </a:r>
            <a:r>
              <a:rPr lang="tr-TR" b="0" i="0" dirty="0" err="1">
                <a:solidFill>
                  <a:srgbClr val="242424"/>
                </a:solidFill>
                <a:effectLst/>
                <a:latin typeface="source-serif-pro"/>
              </a:rPr>
              <a:t>matrixlerin</a:t>
            </a:r>
            <a:r>
              <a:rPr lang="tr-TR" b="0" i="0" dirty="0">
                <a:solidFill>
                  <a:srgbClr val="242424"/>
                </a:solidFill>
                <a:effectLst/>
                <a:latin typeface="source-serif-pro"/>
              </a:rPr>
              <a:t> tek boyutlu diziye çevrilmiş halidir.</a:t>
            </a:r>
            <a:endParaRPr lang="tr-TR" dirty="0"/>
          </a:p>
        </p:txBody>
      </p:sp>
      <p:pic>
        <p:nvPicPr>
          <p:cNvPr id="8194" name="Picture 2">
            <a:extLst>
              <a:ext uri="{FF2B5EF4-FFF2-40B4-BE49-F238E27FC236}">
                <a16:creationId xmlns:a16="http://schemas.microsoft.com/office/drawing/2014/main" id="{AC637149-3826-AD0C-31D5-C11A1EDE29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7330" y="3916745"/>
            <a:ext cx="2571750" cy="2114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743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0DC20AC-8DF0-E2CF-9BA2-333867A02015}"/>
              </a:ext>
            </a:extLst>
          </p:cNvPr>
          <p:cNvSpPr>
            <a:spLocks noGrp="1"/>
          </p:cNvSpPr>
          <p:nvPr>
            <p:ph type="title"/>
          </p:nvPr>
        </p:nvSpPr>
        <p:spPr/>
        <p:txBody>
          <a:bodyPr/>
          <a:lstStyle/>
          <a:p>
            <a:pPr algn="ctr"/>
            <a:r>
              <a:rPr lang="tr-TR" sz="4400" b="1" dirty="0" err="1"/>
              <a:t>Fully-Connected</a:t>
            </a:r>
            <a:endParaRPr lang="tr-TR" b="1" dirty="0"/>
          </a:p>
        </p:txBody>
      </p:sp>
      <p:sp>
        <p:nvSpPr>
          <p:cNvPr id="3" name="İçerik Yer Tutucusu 2">
            <a:extLst>
              <a:ext uri="{FF2B5EF4-FFF2-40B4-BE49-F238E27FC236}">
                <a16:creationId xmlns:a16="http://schemas.microsoft.com/office/drawing/2014/main" id="{96A16AEE-B0D3-FB5E-8C5D-4AA41CB5C682}"/>
              </a:ext>
            </a:extLst>
          </p:cNvPr>
          <p:cNvSpPr>
            <a:spLocks noGrp="1"/>
          </p:cNvSpPr>
          <p:nvPr>
            <p:ph idx="1"/>
          </p:nvPr>
        </p:nvSpPr>
        <p:spPr/>
        <p:txBody>
          <a:bodyPr>
            <a:normAutofit/>
          </a:bodyPr>
          <a:lstStyle/>
          <a:p>
            <a:pPr marL="0" indent="0">
              <a:buNone/>
            </a:pPr>
            <a:r>
              <a:rPr lang="tr-TR" sz="2000" dirty="0" err="1"/>
              <a:t>Fully-Connected</a:t>
            </a:r>
            <a:r>
              <a:rPr lang="tr-TR" sz="2000" dirty="0"/>
              <a:t> katmanlar, ağın her bir önceki katmandaki tüm çıkışlarını alır ve bu çıkışları birbirine tam bağlantılı olarak bağlar. Bu, daha önce elde edilen özniteliklerin daha genel bir görev için kullanılmasını sağlar. Ancak, bu yapı genellikle </a:t>
            </a:r>
            <a:r>
              <a:rPr lang="tr-TR" sz="2000" dirty="0" err="1"/>
              <a:t>evrişimli</a:t>
            </a:r>
            <a:r>
              <a:rPr lang="tr-TR" sz="2000" dirty="0"/>
              <a:t> sinir ağları gibi özellik çıkarımı yapan katmanlardan gelen çıktıları düzgün bir şekilde sınıflandırmak için kullanılmak üzere tasarlanmıştır.</a:t>
            </a:r>
          </a:p>
        </p:txBody>
      </p:sp>
      <p:pic>
        <p:nvPicPr>
          <p:cNvPr id="1026" name="Picture 2" descr="Evrişimsel Sinir Ağı (Convolutional Neural Network) | by Büşra Şebin |  Medium">
            <a:extLst>
              <a:ext uri="{FF2B5EF4-FFF2-40B4-BE49-F238E27FC236}">
                <a16:creationId xmlns:a16="http://schemas.microsoft.com/office/drawing/2014/main" id="{109E90C7-F130-DC05-C74B-6FDA39A16B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2948" y="3365616"/>
            <a:ext cx="9146103" cy="2946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7744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4767762-CAB8-B9FE-D583-E4A04A720F28}"/>
              </a:ext>
            </a:extLst>
          </p:cNvPr>
          <p:cNvSpPr>
            <a:spLocks noGrp="1"/>
          </p:cNvSpPr>
          <p:nvPr>
            <p:ph type="title"/>
          </p:nvPr>
        </p:nvSpPr>
        <p:spPr>
          <a:xfrm>
            <a:off x="838200" y="365125"/>
            <a:ext cx="10515600" cy="1924028"/>
          </a:xfrm>
        </p:spPr>
        <p:txBody>
          <a:bodyPr/>
          <a:lstStyle/>
          <a:p>
            <a:pPr algn="ctr"/>
            <a:r>
              <a:rPr lang="tr-TR" b="1" dirty="0" err="1"/>
              <a:t>Region-based</a:t>
            </a:r>
            <a:r>
              <a:rPr lang="tr-TR" b="1" dirty="0"/>
              <a:t> </a:t>
            </a:r>
            <a:r>
              <a:rPr lang="tr-TR" b="1" dirty="0" err="1"/>
              <a:t>Convolutional</a:t>
            </a:r>
            <a:r>
              <a:rPr lang="tr-TR" b="1" dirty="0"/>
              <a:t> </a:t>
            </a:r>
            <a:r>
              <a:rPr lang="tr-TR" b="1" dirty="0" err="1"/>
              <a:t>Neural</a:t>
            </a:r>
            <a:r>
              <a:rPr lang="tr-TR" b="1" dirty="0"/>
              <a:t> Network</a:t>
            </a:r>
            <a:br>
              <a:rPr lang="tr-TR" b="1" dirty="0"/>
            </a:br>
            <a:r>
              <a:rPr lang="tr-TR" b="1" dirty="0"/>
              <a:t>Bölge Bazlı </a:t>
            </a:r>
            <a:r>
              <a:rPr lang="tr-TR" b="1" dirty="0" err="1"/>
              <a:t>Evrişimsel</a:t>
            </a:r>
            <a:r>
              <a:rPr lang="tr-TR" b="1" dirty="0"/>
              <a:t> Sinir Ağı</a:t>
            </a:r>
          </a:p>
        </p:txBody>
      </p:sp>
      <p:sp>
        <p:nvSpPr>
          <p:cNvPr id="3" name="İçerik Yer Tutucusu 2">
            <a:extLst>
              <a:ext uri="{FF2B5EF4-FFF2-40B4-BE49-F238E27FC236}">
                <a16:creationId xmlns:a16="http://schemas.microsoft.com/office/drawing/2014/main" id="{1967A59D-2E3C-C87D-A6A4-B6DAF6EB0B97}"/>
              </a:ext>
            </a:extLst>
          </p:cNvPr>
          <p:cNvSpPr>
            <a:spLocks noGrp="1"/>
          </p:cNvSpPr>
          <p:nvPr>
            <p:ph idx="1"/>
          </p:nvPr>
        </p:nvSpPr>
        <p:spPr>
          <a:xfrm>
            <a:off x="838200" y="2383746"/>
            <a:ext cx="5739174" cy="4181015"/>
          </a:xfrm>
        </p:spPr>
        <p:txBody>
          <a:bodyPr>
            <a:normAutofit fontScale="77500" lnSpcReduction="20000"/>
          </a:bodyPr>
          <a:lstStyle/>
          <a:p>
            <a:pPr marL="0" indent="0">
              <a:buNone/>
            </a:pPr>
            <a:r>
              <a:rPr lang="tr-TR" sz="1600" dirty="0"/>
              <a:t>Nesne algılama alanında önemli bir dönüm noktasıdır. Bu yaklaşım, nesnelerin algılanması ve konumlarının belirlenmesi için kullanılan bir modeldir. R-CNN, nesne algılama problemini çözmek için önerilen bir yöntemdir ve özellikle görüntüdeki nesnelerin konumlarını belirleme üzerine odaklanır.</a:t>
            </a:r>
          </a:p>
          <a:p>
            <a:pPr marL="0" indent="0">
              <a:buNone/>
            </a:pPr>
            <a:endParaRPr lang="tr-TR" sz="1600" dirty="0"/>
          </a:p>
          <a:p>
            <a:pPr marL="457200" lvl="1" indent="0">
              <a:buNone/>
            </a:pPr>
            <a:r>
              <a:rPr lang="tr-TR" sz="1600" u="sng" dirty="0"/>
              <a:t>Bölge Önerisi </a:t>
            </a:r>
            <a:r>
              <a:rPr lang="tr-TR" sz="1600" dirty="0"/>
              <a:t>(</a:t>
            </a:r>
            <a:r>
              <a:rPr lang="tr-TR" sz="1600" dirty="0" err="1"/>
              <a:t>Region</a:t>
            </a:r>
            <a:r>
              <a:rPr lang="tr-TR" sz="1600" dirty="0"/>
              <a:t> </a:t>
            </a:r>
            <a:r>
              <a:rPr lang="tr-TR" sz="1600" dirty="0" err="1"/>
              <a:t>Proposal</a:t>
            </a:r>
            <a:r>
              <a:rPr lang="tr-TR" sz="1600" dirty="0"/>
              <a:t>): İlk olarak, görüntüdeki potansiyel nesne bölgelerini öneren bir bölge önerisi aşaması bulunur. </a:t>
            </a:r>
            <a:r>
              <a:rPr lang="tr-TR" sz="1600" dirty="0" err="1"/>
              <a:t>Selective</a:t>
            </a:r>
            <a:r>
              <a:rPr lang="tr-TR" sz="1600" dirty="0"/>
              <a:t> </a:t>
            </a:r>
            <a:r>
              <a:rPr lang="tr-TR" sz="1600" dirty="0" err="1"/>
              <a:t>Search</a:t>
            </a:r>
            <a:r>
              <a:rPr lang="tr-TR" sz="1600" dirty="0"/>
              <a:t> gibi bir yöntem kullanılarak, olası nesne konumları belirlenir ve bu bölgeler daha fazla analiz için seçilir.</a:t>
            </a:r>
          </a:p>
          <a:p>
            <a:pPr marL="457200" lvl="1" indent="0">
              <a:buNone/>
            </a:pPr>
            <a:r>
              <a:rPr lang="tr-TR" sz="1600" u="sng" dirty="0"/>
              <a:t>Özellik Çıkarma </a:t>
            </a:r>
            <a:r>
              <a:rPr lang="tr-TR" sz="1600" dirty="0"/>
              <a:t>(</a:t>
            </a:r>
            <a:r>
              <a:rPr lang="tr-TR" sz="1600" dirty="0" err="1"/>
              <a:t>Feature</a:t>
            </a:r>
            <a:r>
              <a:rPr lang="tr-TR" sz="1600" dirty="0"/>
              <a:t> </a:t>
            </a:r>
            <a:r>
              <a:rPr lang="tr-TR" sz="1600" dirty="0" err="1"/>
              <a:t>Extraction</a:t>
            </a:r>
            <a:r>
              <a:rPr lang="tr-TR" sz="1600" dirty="0"/>
              <a:t>): Seçilen her bölge, önceden eğitilmiş bir derin öğrenme modeli (genellikle bir </a:t>
            </a:r>
            <a:r>
              <a:rPr lang="tr-TR" sz="1600" dirty="0" err="1"/>
              <a:t>evrişimli</a:t>
            </a:r>
            <a:r>
              <a:rPr lang="tr-TR" sz="1600" dirty="0"/>
              <a:t> sinir ağı - </a:t>
            </a:r>
            <a:r>
              <a:rPr lang="tr-TR" sz="1600" dirty="0" err="1"/>
              <a:t>Convolutional</a:t>
            </a:r>
            <a:r>
              <a:rPr lang="tr-TR" sz="1600" dirty="0"/>
              <a:t> </a:t>
            </a:r>
            <a:r>
              <a:rPr lang="tr-TR" sz="1600" dirty="0" err="1"/>
              <a:t>Neural</a:t>
            </a:r>
            <a:r>
              <a:rPr lang="tr-TR" sz="1600" dirty="0"/>
              <a:t> Network) kullanılarak özellik vektörlerine dönüştürülür. Bu özellik vektörleri, bölge içindeki nesne bilgilerini içerir.</a:t>
            </a:r>
          </a:p>
          <a:p>
            <a:pPr marL="457200" lvl="1" indent="0">
              <a:buNone/>
            </a:pPr>
            <a:r>
              <a:rPr lang="tr-TR" sz="1600" u="sng" dirty="0"/>
              <a:t>Bölge Sınıflandırması </a:t>
            </a:r>
            <a:r>
              <a:rPr lang="tr-TR" sz="1600" dirty="0"/>
              <a:t>(</a:t>
            </a:r>
            <a:r>
              <a:rPr lang="tr-TR" sz="1600" dirty="0" err="1"/>
              <a:t>Region</a:t>
            </a:r>
            <a:r>
              <a:rPr lang="tr-TR" sz="1600" dirty="0"/>
              <a:t> </a:t>
            </a:r>
            <a:r>
              <a:rPr lang="tr-TR" sz="1600" dirty="0" err="1"/>
              <a:t>Classification</a:t>
            </a:r>
            <a:r>
              <a:rPr lang="tr-TR" sz="1600" dirty="0"/>
              <a:t>): Her bir bölge için elde edilen özellik vektörleri, sınıflandırıcı modeller (genellikle SVM - </a:t>
            </a:r>
            <a:r>
              <a:rPr lang="tr-TR" sz="1600" dirty="0" err="1"/>
              <a:t>Support</a:t>
            </a:r>
            <a:r>
              <a:rPr lang="tr-TR" sz="1600" dirty="0"/>
              <a:t> </a:t>
            </a:r>
            <a:r>
              <a:rPr lang="tr-TR" sz="1600" dirty="0" err="1"/>
              <a:t>Vector</a:t>
            </a:r>
            <a:r>
              <a:rPr lang="tr-TR" sz="1600" dirty="0"/>
              <a:t> Machine) tarafından incelenir ve bu bölgelerdeki nesnelerin sınıflarını belirlemek için kullanılır.</a:t>
            </a:r>
          </a:p>
          <a:p>
            <a:pPr marL="0" indent="0">
              <a:buNone/>
            </a:pPr>
            <a:endParaRPr lang="tr-TR" sz="1600" dirty="0"/>
          </a:p>
          <a:p>
            <a:pPr marL="0" indent="0">
              <a:buNone/>
            </a:pPr>
            <a:r>
              <a:rPr lang="tr-TR" sz="1600" dirty="0"/>
              <a:t>R-CNN, özellikle nesne algılama görevlerinde başarılı olmuş bir yaklaşımdır. Ancak, hesaplama açısından oldukça maliyetli bir yapıya sahiptir. Her bölge önerisi için ayrı ayrı özellik çıkarımı yapılması gerektiği için hesaplama süresi oldukça uzun olabilir.</a:t>
            </a:r>
          </a:p>
        </p:txBody>
      </p:sp>
      <p:pic>
        <p:nvPicPr>
          <p:cNvPr id="3074" name="Picture 2" descr="nesne-tanima-algoritmalari-r-cnn-mimarisi">
            <a:extLst>
              <a:ext uri="{FF2B5EF4-FFF2-40B4-BE49-F238E27FC236}">
                <a16:creationId xmlns:a16="http://schemas.microsoft.com/office/drawing/2014/main" id="{8F442AFC-E7D0-7461-8E4F-09EF9A250F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8541" y="2945782"/>
            <a:ext cx="4209229" cy="2135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7922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9101E5B-43A9-1988-14DE-D2A735750DF8}"/>
              </a:ext>
            </a:extLst>
          </p:cNvPr>
          <p:cNvSpPr>
            <a:spLocks noGrp="1"/>
          </p:cNvSpPr>
          <p:nvPr>
            <p:ph type="title"/>
          </p:nvPr>
        </p:nvSpPr>
        <p:spPr/>
        <p:txBody>
          <a:bodyPr/>
          <a:lstStyle/>
          <a:p>
            <a:pPr algn="ctr"/>
            <a:r>
              <a:rPr lang="tr-TR" b="1" i="0" dirty="0">
                <a:effectLst/>
                <a:latin typeface="paralucent"/>
              </a:rPr>
              <a:t>Bölge Önerisi</a:t>
            </a:r>
            <a:endParaRPr lang="tr-TR" dirty="0"/>
          </a:p>
        </p:txBody>
      </p:sp>
      <p:sp>
        <p:nvSpPr>
          <p:cNvPr id="3" name="İçerik Yer Tutucusu 2">
            <a:extLst>
              <a:ext uri="{FF2B5EF4-FFF2-40B4-BE49-F238E27FC236}">
                <a16:creationId xmlns:a16="http://schemas.microsoft.com/office/drawing/2014/main" id="{63BEDAB3-E708-6F95-F98F-9151A3943230}"/>
              </a:ext>
            </a:extLst>
          </p:cNvPr>
          <p:cNvSpPr>
            <a:spLocks noGrp="1"/>
          </p:cNvSpPr>
          <p:nvPr>
            <p:ph idx="1"/>
          </p:nvPr>
        </p:nvSpPr>
        <p:spPr/>
        <p:txBody>
          <a:bodyPr>
            <a:normAutofit fontScale="77500" lnSpcReduction="20000"/>
          </a:bodyPr>
          <a:lstStyle/>
          <a:p>
            <a:pPr marL="0" indent="0">
              <a:buNone/>
            </a:pPr>
            <a:r>
              <a:rPr lang="tr-TR" dirty="0"/>
              <a:t>Bölge önerisi (</a:t>
            </a:r>
            <a:r>
              <a:rPr lang="tr-TR" dirty="0" err="1"/>
              <a:t>region</a:t>
            </a:r>
            <a:r>
              <a:rPr lang="tr-TR" dirty="0"/>
              <a:t> </a:t>
            </a:r>
            <a:r>
              <a:rPr lang="tr-TR" dirty="0" err="1"/>
              <a:t>proposal</a:t>
            </a:r>
            <a:r>
              <a:rPr lang="tr-TR" dirty="0"/>
              <a:t>), nesne algılama sistemlerinde görüntüde potansiyel nesne konumlarını belirlemek için kullanılan bir tekniktir. Özellikle R-CNN, </a:t>
            </a:r>
            <a:r>
              <a:rPr lang="tr-TR" dirty="0" err="1"/>
              <a:t>Fast</a:t>
            </a:r>
            <a:r>
              <a:rPr lang="tr-TR" dirty="0"/>
              <a:t> R-CNN, ve </a:t>
            </a:r>
            <a:r>
              <a:rPr lang="tr-TR" dirty="0" err="1"/>
              <a:t>Faster</a:t>
            </a:r>
            <a:r>
              <a:rPr lang="tr-TR" dirty="0"/>
              <a:t> R-CNN gibi modellerde kullanılır. Bölge önerisi, genellikle çok sayıda bölgeleri (örneğin, dikdörtgen veya kare bölgeler) belirleyerek, bunların içinde olası nesne konumlarını tahmin etmeye yöneliktir.</a:t>
            </a:r>
          </a:p>
          <a:p>
            <a:endParaRPr lang="tr-TR" dirty="0"/>
          </a:p>
          <a:p>
            <a:pPr marL="0" indent="0">
              <a:buNone/>
            </a:pPr>
            <a:r>
              <a:rPr lang="tr-TR" dirty="0"/>
              <a:t>Bölge önerisi genellikle iki ana yaklaşım üzerinden gerçekleştirilir:</a:t>
            </a:r>
          </a:p>
          <a:p>
            <a:pPr marL="0" indent="0">
              <a:buNone/>
            </a:pPr>
            <a:endParaRPr lang="tr-TR" dirty="0"/>
          </a:p>
          <a:p>
            <a:pPr marL="457200" lvl="1" indent="0">
              <a:buNone/>
            </a:pPr>
            <a:r>
              <a:rPr lang="tr-TR" dirty="0"/>
              <a:t>Seçici Arama (</a:t>
            </a:r>
            <a:r>
              <a:rPr lang="tr-TR" dirty="0" err="1"/>
              <a:t>Selective</a:t>
            </a:r>
            <a:r>
              <a:rPr lang="tr-TR" dirty="0"/>
              <a:t> </a:t>
            </a:r>
            <a:r>
              <a:rPr lang="tr-TR" dirty="0" err="1"/>
              <a:t>Search</a:t>
            </a:r>
            <a:r>
              <a:rPr lang="tr-TR" dirty="0"/>
              <a:t>): Bu yöntem, görüntüde farklı ölçeklerde ve farklı görüntü bölgelerinde (renk, tekstür, yoğunluk vb. özelliklere dayalı olarak) bölgeleri birleştirir ve gruplandırır. Böylece, potansiyel nesne konumlarını önerir.</a:t>
            </a:r>
          </a:p>
          <a:p>
            <a:pPr lvl="1"/>
            <a:endParaRPr lang="tr-TR" dirty="0"/>
          </a:p>
          <a:p>
            <a:pPr marL="457200" lvl="1" indent="0">
              <a:buNone/>
            </a:pPr>
            <a:r>
              <a:rPr lang="tr-TR" dirty="0" err="1"/>
              <a:t>Evrişimsel</a:t>
            </a:r>
            <a:r>
              <a:rPr lang="tr-TR" dirty="0"/>
              <a:t> Bölge Önerisi (</a:t>
            </a:r>
            <a:r>
              <a:rPr lang="tr-TR" dirty="0" err="1"/>
              <a:t>Region</a:t>
            </a:r>
            <a:r>
              <a:rPr lang="tr-TR" dirty="0"/>
              <a:t> </a:t>
            </a:r>
            <a:r>
              <a:rPr lang="tr-TR" dirty="0" err="1"/>
              <a:t>Proposal</a:t>
            </a:r>
            <a:r>
              <a:rPr lang="tr-TR" dirty="0"/>
              <a:t> Networks - RPN): RPN, özellikle </a:t>
            </a:r>
            <a:r>
              <a:rPr lang="tr-TR" dirty="0" err="1"/>
              <a:t>Faster</a:t>
            </a:r>
            <a:r>
              <a:rPr lang="tr-TR" dirty="0"/>
              <a:t> R-CNN gibi modellerde kullanılan bir yöntemdir. </a:t>
            </a:r>
            <a:r>
              <a:rPr lang="tr-TR" dirty="0" err="1"/>
              <a:t>Evrişimsel</a:t>
            </a:r>
            <a:r>
              <a:rPr lang="tr-TR" dirty="0"/>
              <a:t> sinir ağları (CNN) tabanlı bir yaklaşım olan RPN, bir görüntüyü işleyerek çeşitli boyutlarda ve oranlarda bölge önerileri üretir. Bu öneriler daha sonra nesne algılama aşamasında kullanılır.</a:t>
            </a:r>
          </a:p>
        </p:txBody>
      </p:sp>
    </p:spTree>
    <p:extLst>
      <p:ext uri="{BB962C8B-B14F-4D97-AF65-F5344CB8AC3E}">
        <p14:creationId xmlns:p14="http://schemas.microsoft.com/office/powerpoint/2010/main" val="1726300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6174742-5010-8246-9F28-0F807F1587AB}"/>
              </a:ext>
            </a:extLst>
          </p:cNvPr>
          <p:cNvSpPr>
            <a:spLocks noGrp="1"/>
          </p:cNvSpPr>
          <p:nvPr>
            <p:ph type="title"/>
          </p:nvPr>
        </p:nvSpPr>
        <p:spPr/>
        <p:txBody>
          <a:bodyPr/>
          <a:lstStyle/>
          <a:p>
            <a:pPr algn="ctr"/>
            <a:r>
              <a:rPr lang="tr-TR" b="1" dirty="0" err="1"/>
              <a:t>Selective</a:t>
            </a:r>
            <a:r>
              <a:rPr lang="tr-TR" b="1" dirty="0"/>
              <a:t> </a:t>
            </a:r>
            <a:r>
              <a:rPr lang="tr-TR" b="1" dirty="0" err="1"/>
              <a:t>Search</a:t>
            </a:r>
            <a:endParaRPr lang="tr-TR" b="1" dirty="0"/>
          </a:p>
        </p:txBody>
      </p:sp>
      <p:sp>
        <p:nvSpPr>
          <p:cNvPr id="3" name="İçerik Yer Tutucusu 2">
            <a:extLst>
              <a:ext uri="{FF2B5EF4-FFF2-40B4-BE49-F238E27FC236}">
                <a16:creationId xmlns:a16="http://schemas.microsoft.com/office/drawing/2014/main" id="{AD3FF418-239D-DB57-8B8F-17C4DAE853E6}"/>
              </a:ext>
            </a:extLst>
          </p:cNvPr>
          <p:cNvSpPr>
            <a:spLocks noGrp="1"/>
          </p:cNvSpPr>
          <p:nvPr>
            <p:ph idx="1"/>
          </p:nvPr>
        </p:nvSpPr>
        <p:spPr>
          <a:xfrm>
            <a:off x="390459" y="1787787"/>
            <a:ext cx="6849066" cy="4351338"/>
          </a:xfrm>
        </p:spPr>
        <p:txBody>
          <a:bodyPr>
            <a:normAutofit fontScale="62500" lnSpcReduction="20000"/>
          </a:bodyPr>
          <a:lstStyle/>
          <a:p>
            <a:pPr marL="0" indent="0">
              <a:buNone/>
            </a:pPr>
            <a:r>
              <a:rPr lang="tr-TR" dirty="0">
                <a:solidFill>
                  <a:srgbClr val="383838"/>
                </a:solidFill>
                <a:latin typeface="proxima-nova"/>
              </a:rPr>
              <a:t>Ç</a:t>
            </a:r>
            <a:r>
              <a:rPr lang="tr-TR" b="0" i="0" dirty="0">
                <a:solidFill>
                  <a:srgbClr val="383838"/>
                </a:solidFill>
                <a:effectLst/>
                <a:latin typeface="proxima-nova"/>
              </a:rPr>
              <a:t>eşitli bölge önerileri kümesi oluşturmak için renk, doku ve şekil gibi çeşitli görüntü ipuçlarına dayalı olarak görüntünün bölümlerini birleştirerek veya bölerek çalışır.</a:t>
            </a:r>
          </a:p>
          <a:p>
            <a:pPr marL="0" indent="0">
              <a:buNone/>
            </a:pPr>
            <a:endParaRPr lang="tr-TR" dirty="0">
              <a:solidFill>
                <a:srgbClr val="383838"/>
              </a:solidFill>
              <a:latin typeface="proxima-nova"/>
            </a:endParaRPr>
          </a:p>
          <a:p>
            <a:pPr marL="0" indent="0">
              <a:buNone/>
            </a:pPr>
            <a:r>
              <a:rPr lang="tr-TR" b="0" i="0" dirty="0">
                <a:solidFill>
                  <a:srgbClr val="212121"/>
                </a:solidFill>
                <a:effectLst/>
                <a:latin typeface="Source Sans Pro" panose="020B0503030403020204" pitchFamily="34" charset="0"/>
              </a:rPr>
              <a:t>Küçükten büyüğe hiyerarşi mantığı ile çalışan </a:t>
            </a:r>
            <a:r>
              <a:rPr lang="tr-TR" b="0" i="0" dirty="0" err="1">
                <a:solidFill>
                  <a:srgbClr val="212121"/>
                </a:solidFill>
                <a:effectLst/>
                <a:latin typeface="Source Sans Pro" panose="020B0503030403020204" pitchFamily="34" charset="0"/>
              </a:rPr>
              <a:t>selective</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search’te</a:t>
            </a:r>
            <a:r>
              <a:rPr lang="tr-TR" b="0" i="0" dirty="0">
                <a:solidFill>
                  <a:srgbClr val="212121"/>
                </a:solidFill>
                <a:effectLst/>
                <a:latin typeface="Source Sans Pro" panose="020B0503030403020204" pitchFamily="34" charset="0"/>
              </a:rPr>
              <a:t> ilk olarak ufak bölgeler belirlenir. Ardından birbirine benzer olan iki bölge birleştirilir ve daha büyük yeni bölge ortaya çıkar. Bu işlem tekrarlı olarak devam eder. Her iterasyonda daha büyük bölgeler ortaya çıkar ve görselde bulunan objeler bir nevi </a:t>
            </a:r>
            <a:r>
              <a:rPr lang="tr-TR" b="0" i="0" dirty="0" err="1">
                <a:solidFill>
                  <a:srgbClr val="212121"/>
                </a:solidFill>
                <a:effectLst/>
                <a:latin typeface="Source Sans Pro" panose="020B0503030403020204" pitchFamily="34" charset="0"/>
              </a:rPr>
              <a:t>kümelendirilir</a:t>
            </a:r>
            <a:r>
              <a:rPr lang="tr-TR" b="0" i="0" dirty="0">
                <a:solidFill>
                  <a:srgbClr val="212121"/>
                </a:solidFill>
                <a:effectLst/>
                <a:latin typeface="Source Sans Pro" panose="020B0503030403020204" pitchFamily="34" charset="0"/>
              </a:rPr>
              <a:t>.</a:t>
            </a:r>
          </a:p>
          <a:p>
            <a:pPr marL="0" indent="0">
              <a:buNone/>
            </a:pPr>
            <a:endParaRPr lang="tr-TR" dirty="0">
              <a:solidFill>
                <a:srgbClr val="212121"/>
              </a:solidFill>
              <a:latin typeface="Source Sans Pro" panose="020B0503030403020204" pitchFamily="34" charset="0"/>
            </a:endParaRPr>
          </a:p>
          <a:p>
            <a:pPr marL="0" indent="0">
              <a:buNone/>
            </a:pPr>
            <a:r>
              <a:rPr lang="tr-TR" b="0" i="0" dirty="0" err="1">
                <a:solidFill>
                  <a:srgbClr val="212121"/>
                </a:solidFill>
                <a:effectLst/>
                <a:latin typeface="Source Sans Pro" panose="020B0503030403020204" pitchFamily="34" charset="0"/>
              </a:rPr>
              <a:t>Selective</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search</a:t>
            </a:r>
            <a:r>
              <a:rPr lang="tr-TR" b="0" i="0" dirty="0">
                <a:solidFill>
                  <a:srgbClr val="212121"/>
                </a:solidFill>
                <a:effectLst/>
                <a:latin typeface="Source Sans Pro" panose="020B0503030403020204" pitchFamily="34" charset="0"/>
              </a:rPr>
              <a:t> ile R-CNN için belirli bölge adayları belirlenir. Bu bölge adayları her biri farklı CNN ağlarına girdi olarak girer. Bu bölge aday çıkarma sürecinin sonunda yaklaşık olarak 2000 adet farklı bölge ortaya çıkar ve bu 2000 bölge için, 2000 CNN ağı kullanılır. CNN ağlarından çıkan öznitelikler kullanılarak SVM modellerinde objenin sınıfı regresyon modellerinde ise sınırlayıcı kutular belirlenir.</a:t>
            </a:r>
            <a:endParaRPr lang="tr-TR" dirty="0"/>
          </a:p>
        </p:txBody>
      </p:sp>
      <p:pic>
        <p:nvPicPr>
          <p:cNvPr id="1028" name="Picture 4">
            <a:extLst>
              <a:ext uri="{FF2B5EF4-FFF2-40B4-BE49-F238E27FC236}">
                <a16:creationId xmlns:a16="http://schemas.microsoft.com/office/drawing/2014/main" id="{E8DA3BB8-CD8D-8D38-DEB1-664076B8F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525" y="2654913"/>
            <a:ext cx="4599852" cy="2118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568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3184E20-7695-2983-3543-28E11EAA44C6}"/>
              </a:ext>
            </a:extLst>
          </p:cNvPr>
          <p:cNvSpPr>
            <a:spLocks noGrp="1"/>
          </p:cNvSpPr>
          <p:nvPr>
            <p:ph type="title"/>
          </p:nvPr>
        </p:nvSpPr>
        <p:spPr/>
        <p:txBody>
          <a:bodyPr/>
          <a:lstStyle/>
          <a:p>
            <a:pPr algn="ctr"/>
            <a:r>
              <a:rPr lang="tr-TR" b="1" i="0" dirty="0" err="1">
                <a:solidFill>
                  <a:srgbClr val="212121"/>
                </a:solidFill>
                <a:effectLst/>
                <a:latin typeface="Ubuntu" panose="020F0502020204030204" pitchFamily="34" charset="0"/>
              </a:rPr>
              <a:t>Non-Max</a:t>
            </a:r>
            <a:r>
              <a:rPr lang="tr-TR" b="1" i="0" dirty="0">
                <a:solidFill>
                  <a:srgbClr val="212121"/>
                </a:solidFill>
                <a:effectLst/>
                <a:latin typeface="Ubuntu" panose="020F0502020204030204" pitchFamily="34" charset="0"/>
              </a:rPr>
              <a:t> </a:t>
            </a:r>
            <a:r>
              <a:rPr lang="tr-TR" b="1" i="0" dirty="0" err="1">
                <a:solidFill>
                  <a:srgbClr val="212121"/>
                </a:solidFill>
                <a:effectLst/>
                <a:latin typeface="Ubuntu" panose="020F0502020204030204" pitchFamily="34" charset="0"/>
              </a:rPr>
              <a:t>Supression</a:t>
            </a:r>
            <a:br>
              <a:rPr lang="tr-TR" b="1" i="0" dirty="0">
                <a:solidFill>
                  <a:srgbClr val="212121"/>
                </a:solidFill>
                <a:effectLst/>
                <a:latin typeface="Ubuntu" panose="020F0502020204030204" pitchFamily="34" charset="0"/>
              </a:rPr>
            </a:br>
            <a:r>
              <a:rPr lang="tr-TR" b="1" i="0" dirty="0">
                <a:solidFill>
                  <a:srgbClr val="212121"/>
                </a:solidFill>
                <a:effectLst/>
                <a:latin typeface="Ubuntu" panose="020F0502020204030204" pitchFamily="34" charset="0"/>
              </a:rPr>
              <a:t>Maksimum Olmayan Bastırma</a:t>
            </a:r>
            <a:endParaRPr lang="tr-TR" dirty="0"/>
          </a:p>
        </p:txBody>
      </p:sp>
      <p:sp>
        <p:nvSpPr>
          <p:cNvPr id="3" name="İçerik Yer Tutucusu 2">
            <a:extLst>
              <a:ext uri="{FF2B5EF4-FFF2-40B4-BE49-F238E27FC236}">
                <a16:creationId xmlns:a16="http://schemas.microsoft.com/office/drawing/2014/main" id="{2A3608A0-C3D8-ADD3-7AE0-7D79FC57E4A3}"/>
              </a:ext>
            </a:extLst>
          </p:cNvPr>
          <p:cNvSpPr>
            <a:spLocks noGrp="1"/>
          </p:cNvSpPr>
          <p:nvPr>
            <p:ph idx="1"/>
          </p:nvPr>
        </p:nvSpPr>
        <p:spPr/>
        <p:txBody>
          <a:bodyPr/>
          <a:lstStyle/>
          <a:p>
            <a:pPr marL="0" indent="0">
              <a:buNone/>
            </a:pPr>
            <a:r>
              <a:rPr lang="tr-TR" b="0" i="0" dirty="0">
                <a:solidFill>
                  <a:srgbClr val="212121"/>
                </a:solidFill>
                <a:effectLst/>
                <a:latin typeface="Source Sans Pro" panose="020B0503030403020204" pitchFamily="34" charset="0"/>
              </a:rPr>
              <a:t>Verilen görsellerden her ne kadar 2000 adet bölge ortaya çıksa da bunların hepsi kullanılmaz. Doğru </a:t>
            </a:r>
            <a:r>
              <a:rPr lang="tr-TR" b="0" i="0" dirty="0" err="1">
                <a:solidFill>
                  <a:srgbClr val="212121"/>
                </a:solidFill>
                <a:effectLst/>
                <a:latin typeface="Source Sans Pro" panose="020B0503030403020204" pitchFamily="34" charset="0"/>
              </a:rPr>
              <a:t>bounding</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box’ları</a:t>
            </a:r>
            <a:r>
              <a:rPr lang="tr-TR" b="0" i="0" dirty="0">
                <a:solidFill>
                  <a:srgbClr val="212121"/>
                </a:solidFill>
                <a:effectLst/>
                <a:latin typeface="Source Sans Pro" panose="020B0503030403020204" pitchFamily="34" charset="0"/>
              </a:rPr>
              <a:t> belirlemek için R-CNN, </a:t>
            </a:r>
            <a:r>
              <a:rPr lang="tr-TR" b="0" i="0" dirty="0" err="1">
                <a:solidFill>
                  <a:srgbClr val="212121"/>
                </a:solidFill>
                <a:effectLst/>
                <a:latin typeface="Source Sans Pro" panose="020B0503030403020204" pitchFamily="34" charset="0"/>
              </a:rPr>
              <a:t>Non-Max</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Supression</a:t>
            </a:r>
            <a:r>
              <a:rPr lang="tr-TR" b="0" i="0" dirty="0">
                <a:solidFill>
                  <a:srgbClr val="212121"/>
                </a:solidFill>
                <a:effectLst/>
                <a:latin typeface="Source Sans Pro" panose="020B0503030403020204" pitchFamily="34" charset="0"/>
              </a:rPr>
              <a:t> kullanılır. </a:t>
            </a:r>
            <a:r>
              <a:rPr lang="tr-TR" b="0" i="0" dirty="0" err="1">
                <a:solidFill>
                  <a:srgbClr val="212121"/>
                </a:solidFill>
                <a:effectLst/>
                <a:latin typeface="Source Sans Pro" panose="020B0503030403020204" pitchFamily="34" charset="0"/>
              </a:rPr>
              <a:t>Non-Max</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Supression</a:t>
            </a:r>
            <a:r>
              <a:rPr lang="tr-TR" b="0" i="0" dirty="0">
                <a:solidFill>
                  <a:srgbClr val="212121"/>
                </a:solidFill>
                <a:effectLst/>
                <a:latin typeface="Source Sans Pro" panose="020B0503030403020204" pitchFamily="34" charset="0"/>
              </a:rPr>
              <a:t> eldeki </a:t>
            </a:r>
            <a:r>
              <a:rPr lang="tr-TR" b="0" i="0" dirty="0" err="1">
                <a:solidFill>
                  <a:srgbClr val="212121"/>
                </a:solidFill>
                <a:effectLst/>
                <a:latin typeface="Source Sans Pro" panose="020B0503030403020204" pitchFamily="34" charset="0"/>
              </a:rPr>
              <a:t>bounding</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boxlardan</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Intersection</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Over</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Union</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IoU</a:t>
            </a:r>
            <a:r>
              <a:rPr lang="tr-TR" b="0" i="0" dirty="0">
                <a:solidFill>
                  <a:srgbClr val="212121"/>
                </a:solidFill>
                <a:effectLst/>
                <a:latin typeface="Source Sans Pro" panose="020B0503030403020204" pitchFamily="34" charset="0"/>
              </a:rPr>
              <a:t>) skoru 0.5’ten büyük olanları tutar ve diğerlerini bastırır. Eğer bir obje için birden fazla 0.5’ten büyük </a:t>
            </a:r>
            <a:r>
              <a:rPr lang="tr-TR" b="0" i="0" dirty="0" err="1">
                <a:solidFill>
                  <a:srgbClr val="212121"/>
                </a:solidFill>
                <a:effectLst/>
                <a:latin typeface="Source Sans Pro" panose="020B0503030403020204" pitchFamily="34" charset="0"/>
              </a:rPr>
              <a:t>bounding</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box</a:t>
            </a:r>
            <a:r>
              <a:rPr lang="tr-TR" b="0" i="0" dirty="0">
                <a:solidFill>
                  <a:srgbClr val="212121"/>
                </a:solidFill>
                <a:effectLst/>
                <a:latin typeface="Source Sans Pro" panose="020B0503030403020204" pitchFamily="34" charset="0"/>
              </a:rPr>
              <a:t> çıkarsa bunlardan en yükseğini alır ve onu kullanır.</a:t>
            </a:r>
            <a:endParaRPr lang="tr-TR" dirty="0"/>
          </a:p>
        </p:txBody>
      </p:sp>
    </p:spTree>
    <p:extLst>
      <p:ext uri="{BB962C8B-B14F-4D97-AF65-F5344CB8AC3E}">
        <p14:creationId xmlns:p14="http://schemas.microsoft.com/office/powerpoint/2010/main" val="3681450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DB5778F-8000-8F52-D260-0BA9FBEB9ACA}"/>
              </a:ext>
            </a:extLst>
          </p:cNvPr>
          <p:cNvSpPr>
            <a:spLocks noGrp="1"/>
          </p:cNvSpPr>
          <p:nvPr>
            <p:ph type="title"/>
          </p:nvPr>
        </p:nvSpPr>
        <p:spPr/>
        <p:txBody>
          <a:bodyPr/>
          <a:lstStyle/>
          <a:p>
            <a:pPr algn="ctr"/>
            <a:r>
              <a:rPr lang="tr-TR" b="1" i="0" dirty="0" err="1">
                <a:solidFill>
                  <a:srgbClr val="212121"/>
                </a:solidFill>
                <a:effectLst/>
                <a:latin typeface="Ubuntu" panose="020B0504030602030204" pitchFamily="34" charset="0"/>
              </a:rPr>
              <a:t>Intersection</a:t>
            </a:r>
            <a:r>
              <a:rPr lang="tr-TR" b="1" i="0" dirty="0">
                <a:solidFill>
                  <a:srgbClr val="212121"/>
                </a:solidFill>
                <a:effectLst/>
                <a:latin typeface="Ubuntu" panose="020B0504030602030204" pitchFamily="34" charset="0"/>
              </a:rPr>
              <a:t> </a:t>
            </a:r>
            <a:r>
              <a:rPr lang="tr-TR" b="1" i="0" dirty="0" err="1">
                <a:solidFill>
                  <a:srgbClr val="212121"/>
                </a:solidFill>
                <a:effectLst/>
                <a:latin typeface="Ubuntu" panose="020B0504030602030204" pitchFamily="34" charset="0"/>
              </a:rPr>
              <a:t>Over</a:t>
            </a:r>
            <a:r>
              <a:rPr lang="tr-TR" b="1" i="0" dirty="0">
                <a:solidFill>
                  <a:srgbClr val="212121"/>
                </a:solidFill>
                <a:effectLst/>
                <a:latin typeface="Ubuntu" panose="020B0504030602030204" pitchFamily="34" charset="0"/>
              </a:rPr>
              <a:t> </a:t>
            </a:r>
            <a:r>
              <a:rPr lang="tr-TR" b="1" i="0" dirty="0" err="1">
                <a:solidFill>
                  <a:srgbClr val="212121"/>
                </a:solidFill>
                <a:effectLst/>
                <a:latin typeface="Ubuntu" panose="020B0504030602030204" pitchFamily="34" charset="0"/>
              </a:rPr>
              <a:t>Union</a:t>
            </a:r>
            <a:r>
              <a:rPr lang="tr-TR" b="1" i="0" dirty="0">
                <a:solidFill>
                  <a:srgbClr val="212121"/>
                </a:solidFill>
                <a:effectLst/>
                <a:latin typeface="Ubuntu" panose="020B0504030602030204" pitchFamily="34" charset="0"/>
              </a:rPr>
              <a:t> (</a:t>
            </a:r>
            <a:r>
              <a:rPr lang="tr-TR" b="1" i="0" dirty="0" err="1">
                <a:solidFill>
                  <a:srgbClr val="212121"/>
                </a:solidFill>
                <a:effectLst/>
                <a:latin typeface="Ubuntu" panose="020B0504030602030204" pitchFamily="34" charset="0"/>
              </a:rPr>
              <a:t>IoU</a:t>
            </a:r>
            <a:r>
              <a:rPr lang="tr-TR" b="1" i="0" dirty="0">
                <a:solidFill>
                  <a:srgbClr val="212121"/>
                </a:solidFill>
                <a:effectLst/>
                <a:latin typeface="Ubuntu" panose="020B0504030602030204" pitchFamily="34" charset="0"/>
              </a:rPr>
              <a:t>)</a:t>
            </a:r>
            <a:endParaRPr lang="tr-TR" dirty="0"/>
          </a:p>
        </p:txBody>
      </p:sp>
      <p:sp>
        <p:nvSpPr>
          <p:cNvPr id="3" name="İçerik Yer Tutucusu 2">
            <a:extLst>
              <a:ext uri="{FF2B5EF4-FFF2-40B4-BE49-F238E27FC236}">
                <a16:creationId xmlns:a16="http://schemas.microsoft.com/office/drawing/2014/main" id="{B91C2EAF-F6DB-94F2-2505-B2052B9210B2}"/>
              </a:ext>
            </a:extLst>
          </p:cNvPr>
          <p:cNvSpPr>
            <a:spLocks noGrp="1"/>
          </p:cNvSpPr>
          <p:nvPr>
            <p:ph idx="1"/>
          </p:nvPr>
        </p:nvSpPr>
        <p:spPr>
          <a:xfrm>
            <a:off x="838200" y="1582858"/>
            <a:ext cx="10515600" cy="4910017"/>
          </a:xfrm>
        </p:spPr>
        <p:txBody>
          <a:bodyPr/>
          <a:lstStyle/>
          <a:p>
            <a:pPr marL="0" indent="0" algn="l">
              <a:buNone/>
            </a:pPr>
            <a:r>
              <a:rPr lang="tr-TR" b="0" i="0" dirty="0" err="1">
                <a:solidFill>
                  <a:srgbClr val="212121"/>
                </a:solidFill>
                <a:effectLst/>
                <a:latin typeface="Source Sans Pro" panose="020B0503030403020204" pitchFamily="34" charset="0"/>
              </a:rPr>
              <a:t>Intersection</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Over</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Union</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IoU</a:t>
            </a:r>
            <a:r>
              <a:rPr lang="tr-TR" b="0" i="0" dirty="0">
                <a:solidFill>
                  <a:srgbClr val="212121"/>
                </a:solidFill>
                <a:effectLst/>
                <a:latin typeface="Source Sans Pro" panose="020B0503030403020204" pitchFamily="34" charset="0"/>
              </a:rPr>
              <a:t>) için bir nevi </a:t>
            </a:r>
            <a:r>
              <a:rPr lang="tr-TR" b="0" i="0" dirty="0" err="1">
                <a:solidFill>
                  <a:srgbClr val="212121"/>
                </a:solidFill>
                <a:effectLst/>
                <a:latin typeface="Source Sans Pro" panose="020B0503030403020204" pitchFamily="34" charset="0"/>
              </a:rPr>
              <a:t>bounding</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box’ların</a:t>
            </a:r>
            <a:r>
              <a:rPr lang="tr-TR" b="0" i="0" dirty="0">
                <a:solidFill>
                  <a:srgbClr val="212121"/>
                </a:solidFill>
                <a:effectLst/>
                <a:latin typeface="Source Sans Pro" panose="020B0503030403020204" pitchFamily="34" charset="0"/>
              </a:rPr>
              <a:t> doğruluk değeri diyebiliriz. Verilen </a:t>
            </a:r>
            <a:r>
              <a:rPr lang="tr-TR" b="0" i="0" dirty="0" err="1">
                <a:solidFill>
                  <a:srgbClr val="212121"/>
                </a:solidFill>
                <a:effectLst/>
                <a:latin typeface="Source Sans Pro" panose="020B0503030403020204" pitchFamily="34" charset="0"/>
              </a:rPr>
              <a:t>bounding</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box</a:t>
            </a:r>
            <a:r>
              <a:rPr lang="tr-TR" b="0" i="0" dirty="0">
                <a:solidFill>
                  <a:srgbClr val="212121"/>
                </a:solidFill>
                <a:effectLst/>
                <a:latin typeface="Source Sans Pro" panose="020B0503030403020204" pitchFamily="34" charset="0"/>
              </a:rPr>
              <a:t> ile gerçek </a:t>
            </a:r>
            <a:r>
              <a:rPr lang="tr-TR" b="0" i="0" dirty="0" err="1">
                <a:solidFill>
                  <a:srgbClr val="212121"/>
                </a:solidFill>
                <a:effectLst/>
                <a:latin typeface="Source Sans Pro" panose="020B0503030403020204" pitchFamily="34" charset="0"/>
              </a:rPr>
              <a:t>bounding</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box</a:t>
            </a:r>
            <a:r>
              <a:rPr lang="tr-TR" b="0" i="0" dirty="0">
                <a:solidFill>
                  <a:srgbClr val="212121"/>
                </a:solidFill>
                <a:effectLst/>
                <a:latin typeface="Source Sans Pro" panose="020B0503030403020204" pitchFamily="34" charset="0"/>
              </a:rPr>
              <a:t> karşılaştırılır. Bu karşılaştırma sonucunda ortaya </a:t>
            </a:r>
            <a:r>
              <a:rPr lang="tr-TR" b="0" i="0" dirty="0" err="1">
                <a:solidFill>
                  <a:srgbClr val="212121"/>
                </a:solidFill>
                <a:effectLst/>
                <a:latin typeface="Source Sans Pro" panose="020B0503030403020204" pitchFamily="34" charset="0"/>
              </a:rPr>
              <a:t>IoU</a:t>
            </a:r>
            <a:r>
              <a:rPr lang="tr-TR" b="0" i="0" dirty="0">
                <a:solidFill>
                  <a:srgbClr val="212121"/>
                </a:solidFill>
                <a:effectLst/>
                <a:latin typeface="Source Sans Pro" panose="020B0503030403020204" pitchFamily="34" charset="0"/>
              </a:rPr>
              <a:t> değeri çıkar. Matematiksel olarak ise şu şekildedir.</a:t>
            </a:r>
          </a:p>
          <a:p>
            <a:pPr marL="0" indent="0" algn="l">
              <a:buNone/>
            </a:pPr>
            <a:endParaRPr lang="tr-TR" b="0" i="0" dirty="0">
              <a:solidFill>
                <a:srgbClr val="212121"/>
              </a:solidFill>
              <a:effectLst/>
              <a:latin typeface="Source Sans Pro" panose="020B0503030403020204" pitchFamily="34" charset="0"/>
            </a:endParaRPr>
          </a:p>
          <a:p>
            <a:pPr marL="0" indent="0" algn="l">
              <a:buNone/>
            </a:pPr>
            <a:r>
              <a:rPr lang="tr-TR" b="0" i="0" dirty="0" err="1">
                <a:solidFill>
                  <a:srgbClr val="212121"/>
                </a:solidFill>
                <a:effectLst/>
                <a:latin typeface="Source Sans Pro" panose="020B0503030403020204" pitchFamily="34" charset="0"/>
              </a:rPr>
              <a:t>IoU</a:t>
            </a:r>
            <a:r>
              <a:rPr lang="tr-TR" b="0" i="0" dirty="0">
                <a:solidFill>
                  <a:srgbClr val="212121"/>
                </a:solidFill>
                <a:effectLst/>
                <a:latin typeface="Source Sans Pro" panose="020B0503030403020204" pitchFamily="34" charset="0"/>
              </a:rPr>
              <a:t> = (y ∩  y̅) / (y U  y̅)</a:t>
            </a:r>
          </a:p>
          <a:p>
            <a:pPr marL="0" indent="0" algn="l">
              <a:buNone/>
            </a:pPr>
            <a:endParaRPr lang="tr-TR" b="0" i="0" dirty="0">
              <a:solidFill>
                <a:srgbClr val="212121"/>
              </a:solidFill>
              <a:effectLst/>
              <a:latin typeface="Source Sans Pro" panose="020B0503030403020204" pitchFamily="34" charset="0"/>
            </a:endParaRPr>
          </a:p>
          <a:p>
            <a:pPr marL="0" indent="0" algn="l">
              <a:buNone/>
            </a:pPr>
            <a:endParaRPr lang="tr-TR" b="0" i="0" dirty="0">
              <a:solidFill>
                <a:srgbClr val="212121"/>
              </a:solidFill>
              <a:effectLst/>
              <a:latin typeface="Source Sans Pro" panose="020B0503030403020204" pitchFamily="34" charset="0"/>
            </a:endParaRPr>
          </a:p>
          <a:p>
            <a:pPr marL="0" indent="0" algn="l">
              <a:buNone/>
            </a:pPr>
            <a:r>
              <a:rPr lang="tr-TR" b="0" i="0" dirty="0" err="1">
                <a:solidFill>
                  <a:srgbClr val="212121"/>
                </a:solidFill>
                <a:effectLst/>
                <a:latin typeface="Source Sans Pro" panose="020B0503030403020204" pitchFamily="34" charset="0"/>
              </a:rPr>
              <a:t>IoU</a:t>
            </a:r>
            <a:r>
              <a:rPr lang="tr-TR" b="0" i="0" dirty="0">
                <a:solidFill>
                  <a:srgbClr val="212121"/>
                </a:solidFill>
                <a:effectLst/>
                <a:latin typeface="Source Sans Pro" panose="020B0503030403020204" pitchFamily="34" charset="0"/>
              </a:rPr>
              <a:t> = Tahmin edilen alan ve gerçek alanın kesişimi / Tahmin edilen alan ve gerçek alanın birleşimi</a:t>
            </a:r>
          </a:p>
          <a:p>
            <a:endParaRPr lang="tr-TR" dirty="0"/>
          </a:p>
        </p:txBody>
      </p:sp>
      <p:pic>
        <p:nvPicPr>
          <p:cNvPr id="2050" name="Picture 2" descr="Intersection-over-union">
            <a:extLst>
              <a:ext uri="{FF2B5EF4-FFF2-40B4-BE49-F238E27FC236}">
                <a16:creationId xmlns:a16="http://schemas.microsoft.com/office/drawing/2014/main" id="{1B47D266-103F-6B09-179F-3AA6B2179D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4983" y="2787290"/>
            <a:ext cx="3023814" cy="2358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3531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3ECB78C-C651-6CAC-A2AB-9E099592F7A8}"/>
              </a:ext>
            </a:extLst>
          </p:cNvPr>
          <p:cNvSpPr>
            <a:spLocks noGrp="1"/>
          </p:cNvSpPr>
          <p:nvPr>
            <p:ph type="title"/>
          </p:nvPr>
        </p:nvSpPr>
        <p:spPr/>
        <p:txBody>
          <a:bodyPr/>
          <a:lstStyle/>
          <a:p>
            <a:pPr algn="ctr"/>
            <a:r>
              <a:rPr lang="tr-TR" b="1" i="0" dirty="0" err="1">
                <a:solidFill>
                  <a:srgbClr val="212121"/>
                </a:solidFill>
                <a:effectLst/>
                <a:latin typeface="Ubuntu" panose="020B0504030602030204" pitchFamily="34" charset="0"/>
              </a:rPr>
              <a:t>Fast</a:t>
            </a:r>
            <a:r>
              <a:rPr lang="tr-TR" b="1" i="0" dirty="0">
                <a:solidFill>
                  <a:srgbClr val="212121"/>
                </a:solidFill>
                <a:effectLst/>
                <a:latin typeface="Ubuntu" panose="020B0504030602030204" pitchFamily="34" charset="0"/>
              </a:rPr>
              <a:t> R-CNN</a:t>
            </a:r>
            <a:endParaRPr lang="tr-TR" dirty="0"/>
          </a:p>
        </p:txBody>
      </p:sp>
      <p:sp>
        <p:nvSpPr>
          <p:cNvPr id="3" name="İçerik Yer Tutucusu 2">
            <a:extLst>
              <a:ext uri="{FF2B5EF4-FFF2-40B4-BE49-F238E27FC236}">
                <a16:creationId xmlns:a16="http://schemas.microsoft.com/office/drawing/2014/main" id="{43500234-6985-4999-6F49-0862D2873444}"/>
              </a:ext>
            </a:extLst>
          </p:cNvPr>
          <p:cNvSpPr>
            <a:spLocks noGrp="1"/>
          </p:cNvSpPr>
          <p:nvPr>
            <p:ph idx="1"/>
          </p:nvPr>
        </p:nvSpPr>
        <p:spPr/>
        <p:txBody>
          <a:bodyPr/>
          <a:lstStyle/>
          <a:p>
            <a:pPr marL="0" indent="0" algn="l">
              <a:buNone/>
            </a:pPr>
            <a:r>
              <a:rPr lang="tr-TR" b="0" i="0" dirty="0">
                <a:solidFill>
                  <a:srgbClr val="212121"/>
                </a:solidFill>
                <a:effectLst/>
                <a:latin typeface="Source Sans Pro" panose="020B0503030403020204" pitchFamily="34" charset="0"/>
              </a:rPr>
              <a:t>R-CNN modelinde 2000 farklı aday bölge çıkarılması ve bu 2000 bölge için, 2000 farklı CNN ağı kullanılması eğitim süreci anlamında çok büyük maliyete sebep olmakta. Bunun için </a:t>
            </a:r>
            <a:r>
              <a:rPr lang="tr-TR" b="0" i="0" dirty="0" err="1">
                <a:solidFill>
                  <a:srgbClr val="212121"/>
                </a:solidFill>
                <a:effectLst/>
                <a:latin typeface="Source Sans Pro" panose="020B0503030403020204" pitchFamily="34" charset="0"/>
              </a:rPr>
              <a:t>Fast</a:t>
            </a:r>
            <a:r>
              <a:rPr lang="tr-TR" b="0" i="0" dirty="0">
                <a:solidFill>
                  <a:srgbClr val="212121"/>
                </a:solidFill>
                <a:effectLst/>
                <a:latin typeface="Source Sans Pro" panose="020B0503030403020204" pitchFamily="34" charset="0"/>
              </a:rPr>
              <a:t> R-CNN mimarileri 2000 CNN modelinden kurtulup sadece tek bir model kullanmaktadır.</a:t>
            </a:r>
          </a:p>
          <a:p>
            <a:pPr marL="0" indent="0" algn="l">
              <a:buNone/>
            </a:pPr>
            <a:r>
              <a:rPr lang="tr-TR" b="0" i="0" dirty="0" err="1">
                <a:solidFill>
                  <a:srgbClr val="212121"/>
                </a:solidFill>
                <a:effectLst/>
                <a:latin typeface="Source Sans Pro" panose="020B0503030403020204" pitchFamily="34" charset="0"/>
              </a:rPr>
              <a:t>Fast</a:t>
            </a:r>
            <a:r>
              <a:rPr lang="tr-TR" b="0" i="0" dirty="0">
                <a:solidFill>
                  <a:srgbClr val="212121"/>
                </a:solidFill>
                <a:effectLst/>
                <a:latin typeface="Source Sans Pro" panose="020B0503030403020204" pitchFamily="34" charset="0"/>
              </a:rPr>
              <a:t> R-CNN’de odaklanılması gereken en büyük geliştirme R-CNN’de kullanılan CNN, SVM ve </a:t>
            </a:r>
            <a:r>
              <a:rPr lang="tr-TR" b="0" i="0" dirty="0" err="1">
                <a:solidFill>
                  <a:srgbClr val="212121"/>
                </a:solidFill>
                <a:effectLst/>
                <a:latin typeface="Source Sans Pro" panose="020B0503030403020204" pitchFamily="34" charset="0"/>
              </a:rPr>
              <a:t>Regressor’u</a:t>
            </a:r>
            <a:r>
              <a:rPr lang="tr-TR" b="0" i="0" dirty="0">
                <a:solidFill>
                  <a:srgbClr val="212121"/>
                </a:solidFill>
                <a:effectLst/>
                <a:latin typeface="Source Sans Pro" panose="020B0503030403020204" pitchFamily="34" charset="0"/>
              </a:rPr>
              <a:t> kombinlemesidir. Bu kombinleme ile muazzam bir performans üstünlüğü elde etmektedir.</a:t>
            </a:r>
          </a:p>
          <a:p>
            <a:endParaRPr lang="tr-TR" dirty="0"/>
          </a:p>
        </p:txBody>
      </p:sp>
    </p:spTree>
    <p:extLst>
      <p:ext uri="{BB962C8B-B14F-4D97-AF65-F5344CB8AC3E}">
        <p14:creationId xmlns:p14="http://schemas.microsoft.com/office/powerpoint/2010/main" val="2814003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7A64C8B-0307-83EF-C6BD-7400B80474F4}"/>
              </a:ext>
            </a:extLst>
          </p:cNvPr>
          <p:cNvSpPr>
            <a:spLocks noGrp="1"/>
          </p:cNvSpPr>
          <p:nvPr>
            <p:ph type="title"/>
          </p:nvPr>
        </p:nvSpPr>
        <p:spPr/>
        <p:txBody>
          <a:bodyPr/>
          <a:lstStyle/>
          <a:p>
            <a:pPr algn="ctr"/>
            <a:r>
              <a:rPr lang="tr-TR" b="0" i="0" dirty="0" err="1">
                <a:solidFill>
                  <a:srgbClr val="212121"/>
                </a:solidFill>
                <a:effectLst/>
                <a:latin typeface="Source Sans Pro" panose="020B0503030403020204" pitchFamily="34" charset="0"/>
              </a:rPr>
              <a:t>Fast</a:t>
            </a:r>
            <a:r>
              <a:rPr lang="tr-TR" b="0" i="0" dirty="0">
                <a:solidFill>
                  <a:srgbClr val="212121"/>
                </a:solidFill>
                <a:effectLst/>
                <a:latin typeface="Source Sans Pro" panose="020B0503030403020204" pitchFamily="34" charset="0"/>
              </a:rPr>
              <a:t> R-CNN </a:t>
            </a:r>
            <a:r>
              <a:rPr lang="tr-TR" b="1" dirty="0"/>
              <a:t>Mimarisi</a:t>
            </a:r>
          </a:p>
        </p:txBody>
      </p:sp>
      <p:sp>
        <p:nvSpPr>
          <p:cNvPr id="3" name="İçerik Yer Tutucusu 2">
            <a:extLst>
              <a:ext uri="{FF2B5EF4-FFF2-40B4-BE49-F238E27FC236}">
                <a16:creationId xmlns:a16="http://schemas.microsoft.com/office/drawing/2014/main" id="{9C54993A-0941-F62D-F9B4-EB5DADCB4DFF}"/>
              </a:ext>
            </a:extLst>
          </p:cNvPr>
          <p:cNvSpPr>
            <a:spLocks noGrp="1"/>
          </p:cNvSpPr>
          <p:nvPr>
            <p:ph idx="1"/>
          </p:nvPr>
        </p:nvSpPr>
        <p:spPr>
          <a:xfrm>
            <a:off x="491884" y="1825625"/>
            <a:ext cx="5902610" cy="4351338"/>
          </a:xfrm>
        </p:spPr>
        <p:txBody>
          <a:bodyPr>
            <a:normAutofit fontScale="77500" lnSpcReduction="20000"/>
          </a:bodyPr>
          <a:lstStyle/>
          <a:p>
            <a:pPr marL="0" indent="0" algn="l">
              <a:buNone/>
            </a:pPr>
            <a:r>
              <a:rPr lang="tr-TR" b="0" i="0" dirty="0" err="1">
                <a:solidFill>
                  <a:srgbClr val="212121"/>
                </a:solidFill>
                <a:effectLst/>
                <a:latin typeface="Source Sans Pro" panose="020B0503030403020204" pitchFamily="34" charset="0"/>
              </a:rPr>
              <a:t>Fast</a:t>
            </a:r>
            <a:r>
              <a:rPr lang="tr-TR" b="0" i="0" dirty="0">
                <a:solidFill>
                  <a:srgbClr val="212121"/>
                </a:solidFill>
                <a:effectLst/>
                <a:latin typeface="Source Sans Pro" panose="020B0503030403020204" pitchFamily="34" charset="0"/>
              </a:rPr>
              <a:t> R-CNN’de:</a:t>
            </a:r>
          </a:p>
          <a:p>
            <a:pPr marL="457200" lvl="1" indent="0">
              <a:buNone/>
            </a:pPr>
            <a:r>
              <a:rPr lang="tr-TR" b="0" i="0" dirty="0">
                <a:solidFill>
                  <a:srgbClr val="212121"/>
                </a:solidFill>
                <a:effectLst/>
                <a:latin typeface="Source Sans Pro" panose="020B0503030403020204" pitchFamily="34" charset="0"/>
              </a:rPr>
              <a:t>1- Tüm görsel CNN ile işlenir ve </a:t>
            </a:r>
            <a:r>
              <a:rPr lang="tr-TR" b="0" i="0" dirty="0" err="1">
                <a:solidFill>
                  <a:srgbClr val="212121"/>
                </a:solidFill>
                <a:effectLst/>
                <a:latin typeface="Source Sans Pro" panose="020B0503030403020204" pitchFamily="34" charset="0"/>
              </a:rPr>
              <a:t>feature</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map’ler</a:t>
            </a:r>
            <a:r>
              <a:rPr lang="tr-TR" b="0" i="0" dirty="0">
                <a:solidFill>
                  <a:srgbClr val="212121"/>
                </a:solidFill>
                <a:effectLst/>
                <a:latin typeface="Source Sans Pro" panose="020B0503030403020204" pitchFamily="34" charset="0"/>
              </a:rPr>
              <a:t> (öznitelik haritaları) çıkarılır</a:t>
            </a:r>
          </a:p>
          <a:p>
            <a:pPr marL="457200" lvl="1" indent="0">
              <a:buNone/>
            </a:pPr>
            <a:endParaRPr lang="tr-TR" b="0" i="0" dirty="0">
              <a:solidFill>
                <a:srgbClr val="212121"/>
              </a:solidFill>
              <a:effectLst/>
              <a:latin typeface="Source Sans Pro" panose="020B0503030403020204" pitchFamily="34" charset="0"/>
            </a:endParaRPr>
          </a:p>
          <a:p>
            <a:pPr marL="457200" lvl="1" indent="0">
              <a:buNone/>
            </a:pPr>
            <a:r>
              <a:rPr lang="tr-TR" b="0" i="0" dirty="0">
                <a:solidFill>
                  <a:srgbClr val="212121"/>
                </a:solidFill>
                <a:effectLst/>
                <a:latin typeface="Source Sans Pro" panose="020B0503030403020204" pitchFamily="34" charset="0"/>
              </a:rPr>
              <a:t>2- Her bölge önerisi için gerekli öznitelikler toplanır. Bunlara </a:t>
            </a:r>
            <a:r>
              <a:rPr lang="tr-TR" b="0" i="0" dirty="0" err="1">
                <a:solidFill>
                  <a:srgbClr val="212121"/>
                </a:solidFill>
                <a:effectLst/>
                <a:latin typeface="Source Sans Pro" panose="020B0503030403020204" pitchFamily="34" charset="0"/>
              </a:rPr>
              <a:t>region</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proposal</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feature</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map</a:t>
            </a:r>
            <a:r>
              <a:rPr lang="tr-TR" b="0" i="0" dirty="0">
                <a:solidFill>
                  <a:srgbClr val="212121"/>
                </a:solidFill>
                <a:effectLst/>
                <a:latin typeface="Source Sans Pro" panose="020B0503030403020204" pitchFamily="34" charset="0"/>
              </a:rPr>
              <a:t> denir. Ardından bu haritalar </a:t>
            </a:r>
            <a:r>
              <a:rPr lang="tr-TR" b="0" i="0" dirty="0" err="1">
                <a:solidFill>
                  <a:srgbClr val="212121"/>
                </a:solidFill>
                <a:effectLst/>
                <a:latin typeface="Source Sans Pro" panose="020B0503030403020204" pitchFamily="34" charset="0"/>
              </a:rPr>
              <a:t>max</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pooling</a:t>
            </a:r>
            <a:r>
              <a:rPr lang="tr-TR" b="0" i="0" dirty="0">
                <a:solidFill>
                  <a:srgbClr val="212121"/>
                </a:solidFill>
                <a:effectLst/>
                <a:latin typeface="Source Sans Pro" panose="020B0503030403020204" pitchFamily="34" charset="0"/>
              </a:rPr>
              <a:t> (maksimum havuzlama) ile belirli boyutlara indirgenir. Bu havuzlama katmanına ise </a:t>
            </a:r>
            <a:r>
              <a:rPr lang="tr-TR" b="0" i="0" dirty="0" err="1">
                <a:solidFill>
                  <a:srgbClr val="212121"/>
                </a:solidFill>
                <a:effectLst/>
                <a:latin typeface="Source Sans Pro" panose="020B0503030403020204" pitchFamily="34" charset="0"/>
              </a:rPr>
              <a:t>RoI</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Region</a:t>
            </a:r>
            <a:r>
              <a:rPr lang="tr-TR" b="0" i="0" dirty="0">
                <a:solidFill>
                  <a:srgbClr val="212121"/>
                </a:solidFill>
                <a:effectLst/>
                <a:latin typeface="Source Sans Pro" panose="020B0503030403020204" pitchFamily="34" charset="0"/>
              </a:rPr>
              <a:t> of </a:t>
            </a:r>
            <a:r>
              <a:rPr lang="tr-TR" b="0" i="0" dirty="0" err="1">
                <a:solidFill>
                  <a:srgbClr val="212121"/>
                </a:solidFill>
                <a:effectLst/>
                <a:latin typeface="Source Sans Pro" panose="020B0503030403020204" pitchFamily="34" charset="0"/>
              </a:rPr>
              <a:t>Interest</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pooling</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layer</a:t>
            </a:r>
            <a:r>
              <a:rPr lang="tr-TR" b="0" i="0" dirty="0">
                <a:solidFill>
                  <a:srgbClr val="212121"/>
                </a:solidFill>
                <a:effectLst/>
                <a:latin typeface="Source Sans Pro" panose="020B0503030403020204" pitchFamily="34" charset="0"/>
              </a:rPr>
              <a:t> adı verilir.</a:t>
            </a:r>
          </a:p>
          <a:p>
            <a:pPr marL="457200" lvl="1" indent="0">
              <a:buNone/>
            </a:pPr>
            <a:endParaRPr lang="tr-TR" b="0" i="0" dirty="0">
              <a:solidFill>
                <a:srgbClr val="212121"/>
              </a:solidFill>
              <a:effectLst/>
              <a:latin typeface="Source Sans Pro" panose="020B0503030403020204" pitchFamily="34" charset="0"/>
            </a:endParaRPr>
          </a:p>
          <a:p>
            <a:pPr marL="457200" lvl="1" indent="0">
              <a:buNone/>
            </a:pPr>
            <a:r>
              <a:rPr lang="tr-TR" b="0" i="0" dirty="0">
                <a:solidFill>
                  <a:srgbClr val="212121"/>
                </a:solidFill>
                <a:effectLst/>
                <a:latin typeface="Source Sans Pro" panose="020B0503030403020204" pitchFamily="34" charset="0"/>
              </a:rPr>
              <a:t>3- Ardından bu öznitelik haritaları tek boyutlu vektör haline indirgenir.</a:t>
            </a:r>
          </a:p>
          <a:p>
            <a:pPr marL="457200" lvl="1" indent="0">
              <a:buNone/>
            </a:pPr>
            <a:endParaRPr lang="tr-TR" b="0" i="0" dirty="0">
              <a:solidFill>
                <a:srgbClr val="212121"/>
              </a:solidFill>
              <a:effectLst/>
              <a:latin typeface="Source Sans Pro" panose="020B0503030403020204" pitchFamily="34" charset="0"/>
            </a:endParaRPr>
          </a:p>
          <a:p>
            <a:pPr marL="457200" lvl="1" indent="0">
              <a:buNone/>
            </a:pPr>
            <a:r>
              <a:rPr lang="tr-TR" b="0" i="0" dirty="0">
                <a:solidFill>
                  <a:srgbClr val="212121"/>
                </a:solidFill>
                <a:effectLst/>
                <a:latin typeface="Source Sans Pro" panose="020B0503030403020204" pitchFamily="34" charset="0"/>
              </a:rPr>
              <a:t>4- Bu vektörler sinir ağına sokulur ve </a:t>
            </a:r>
            <a:r>
              <a:rPr lang="tr-TR" b="0" i="0" dirty="0" err="1">
                <a:solidFill>
                  <a:srgbClr val="212121"/>
                </a:solidFill>
                <a:effectLst/>
                <a:latin typeface="Source Sans Pro" panose="020B0503030403020204" pitchFamily="34" charset="0"/>
              </a:rPr>
              <a:t>softmax</a:t>
            </a:r>
            <a:r>
              <a:rPr lang="tr-TR" b="0" i="0" dirty="0">
                <a:solidFill>
                  <a:srgbClr val="212121"/>
                </a:solidFill>
                <a:effectLst/>
                <a:latin typeface="Source Sans Pro" panose="020B0503030403020204" pitchFamily="34" charset="0"/>
              </a:rPr>
              <a:t> ile bölgedeki objeye ait sınıf, </a:t>
            </a:r>
            <a:r>
              <a:rPr lang="tr-TR" b="0" i="0" dirty="0" err="1">
                <a:solidFill>
                  <a:srgbClr val="212121"/>
                </a:solidFill>
                <a:effectLst/>
                <a:latin typeface="Source Sans Pro" panose="020B0503030403020204" pitchFamily="34" charset="0"/>
              </a:rPr>
              <a:t>bounding</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box</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regressor</a:t>
            </a:r>
            <a:r>
              <a:rPr lang="tr-TR" b="0" i="0" dirty="0">
                <a:solidFill>
                  <a:srgbClr val="212121"/>
                </a:solidFill>
                <a:effectLst/>
                <a:latin typeface="Source Sans Pro" panose="020B0503030403020204" pitchFamily="34" charset="0"/>
              </a:rPr>
              <a:t> ile de objenin sınırlayıcı kutusu belirlenir.</a:t>
            </a:r>
          </a:p>
          <a:p>
            <a:endParaRPr lang="tr-TR" dirty="0"/>
          </a:p>
        </p:txBody>
      </p:sp>
      <p:pic>
        <p:nvPicPr>
          <p:cNvPr id="4098" name="Picture 2" descr="nesne-tanima-algoritmalari-fast-r-cnn">
            <a:extLst>
              <a:ext uri="{FF2B5EF4-FFF2-40B4-BE49-F238E27FC236}">
                <a16:creationId xmlns:a16="http://schemas.microsoft.com/office/drawing/2014/main" id="{4855A8F4-DB5B-2372-1934-2B5F7BD697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2573" y="2791022"/>
            <a:ext cx="5330848" cy="2165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95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41F9D46-AFFB-F6C2-FA51-4AF6593C1C0B}"/>
              </a:ext>
            </a:extLst>
          </p:cNvPr>
          <p:cNvSpPr>
            <a:spLocks noGrp="1"/>
          </p:cNvSpPr>
          <p:nvPr>
            <p:ph type="title"/>
          </p:nvPr>
        </p:nvSpPr>
        <p:spPr/>
        <p:txBody>
          <a:bodyPr/>
          <a:lstStyle/>
          <a:p>
            <a:pPr algn="ctr"/>
            <a:r>
              <a:rPr lang="tr-TR" b="1" i="0" dirty="0" err="1">
                <a:solidFill>
                  <a:srgbClr val="212121"/>
                </a:solidFill>
                <a:effectLst/>
                <a:latin typeface="Ubuntu" panose="020B0504030602030204" pitchFamily="34" charset="0"/>
              </a:rPr>
              <a:t>Faster</a:t>
            </a:r>
            <a:r>
              <a:rPr lang="tr-TR" b="1" i="0" dirty="0">
                <a:solidFill>
                  <a:srgbClr val="212121"/>
                </a:solidFill>
                <a:effectLst/>
                <a:latin typeface="Ubuntu" panose="020B0504030602030204" pitchFamily="34" charset="0"/>
              </a:rPr>
              <a:t> R-CNN</a:t>
            </a:r>
            <a:endParaRPr lang="tr-TR" dirty="0"/>
          </a:p>
        </p:txBody>
      </p:sp>
      <p:sp>
        <p:nvSpPr>
          <p:cNvPr id="3" name="İçerik Yer Tutucusu 2">
            <a:extLst>
              <a:ext uri="{FF2B5EF4-FFF2-40B4-BE49-F238E27FC236}">
                <a16:creationId xmlns:a16="http://schemas.microsoft.com/office/drawing/2014/main" id="{FAF5A8C4-5A5A-A611-E263-42931A90EB13}"/>
              </a:ext>
            </a:extLst>
          </p:cNvPr>
          <p:cNvSpPr>
            <a:spLocks noGrp="1"/>
          </p:cNvSpPr>
          <p:nvPr>
            <p:ph idx="1"/>
          </p:nvPr>
        </p:nvSpPr>
        <p:spPr>
          <a:xfrm>
            <a:off x="838200" y="1825625"/>
            <a:ext cx="5039185" cy="4351338"/>
          </a:xfrm>
        </p:spPr>
        <p:txBody>
          <a:bodyPr>
            <a:normAutofit fontScale="70000" lnSpcReduction="20000"/>
          </a:bodyPr>
          <a:lstStyle/>
          <a:p>
            <a:pPr marL="0" indent="0" algn="l">
              <a:buNone/>
            </a:pPr>
            <a:r>
              <a:rPr lang="tr-TR" b="0" i="0" dirty="0" err="1">
                <a:solidFill>
                  <a:srgbClr val="212121"/>
                </a:solidFill>
                <a:effectLst/>
                <a:latin typeface="Source Sans Pro" panose="020B0503030403020204" pitchFamily="34" charset="0"/>
              </a:rPr>
              <a:t>Faster</a:t>
            </a:r>
            <a:r>
              <a:rPr lang="tr-TR" b="0" i="0" dirty="0">
                <a:solidFill>
                  <a:srgbClr val="212121"/>
                </a:solidFill>
                <a:effectLst/>
                <a:latin typeface="Source Sans Pro" panose="020B0503030403020204" pitchFamily="34" charset="0"/>
              </a:rPr>
              <a:t> R-CNN maliyet açısından yük olan </a:t>
            </a:r>
            <a:r>
              <a:rPr lang="tr-TR" b="0" i="0" dirty="0" err="1">
                <a:solidFill>
                  <a:srgbClr val="212121"/>
                </a:solidFill>
                <a:effectLst/>
                <a:latin typeface="Source Sans Pro" panose="020B0503030403020204" pitchFamily="34" charset="0"/>
              </a:rPr>
              <a:t>selective</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search</a:t>
            </a:r>
            <a:r>
              <a:rPr lang="tr-TR" b="0" i="0" dirty="0">
                <a:solidFill>
                  <a:srgbClr val="212121"/>
                </a:solidFill>
                <a:effectLst/>
                <a:latin typeface="Source Sans Pro" panose="020B0503030403020204" pitchFamily="34" charset="0"/>
              </a:rPr>
              <a:t> yerine daha kullanışlı olan </a:t>
            </a:r>
            <a:r>
              <a:rPr lang="tr-TR" b="0" i="0" dirty="0" err="1">
                <a:solidFill>
                  <a:srgbClr val="212121"/>
                </a:solidFill>
                <a:effectLst/>
                <a:latin typeface="Source Sans Pro" panose="020B0503030403020204" pitchFamily="34" charset="0"/>
              </a:rPr>
              <a:t>Region</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Proposal</a:t>
            </a:r>
            <a:r>
              <a:rPr lang="tr-TR" b="0" i="0" dirty="0">
                <a:solidFill>
                  <a:srgbClr val="212121"/>
                </a:solidFill>
                <a:effectLst/>
                <a:latin typeface="Source Sans Pro" panose="020B0503030403020204" pitchFamily="34" charset="0"/>
              </a:rPr>
              <a:t> Network kullanmaktadır.</a:t>
            </a:r>
          </a:p>
          <a:p>
            <a:pPr marL="0" indent="0" algn="l">
              <a:buNone/>
            </a:pPr>
            <a:r>
              <a:rPr lang="tr-TR" b="0" i="0" dirty="0" err="1">
                <a:solidFill>
                  <a:srgbClr val="212121"/>
                </a:solidFill>
                <a:effectLst/>
                <a:latin typeface="Source Sans Pro" panose="020B0503030403020204" pitchFamily="34" charset="0"/>
              </a:rPr>
              <a:t>Faster</a:t>
            </a:r>
            <a:r>
              <a:rPr lang="tr-TR" b="0" i="0" dirty="0">
                <a:solidFill>
                  <a:srgbClr val="212121"/>
                </a:solidFill>
                <a:effectLst/>
                <a:latin typeface="Source Sans Pro" panose="020B0503030403020204" pitchFamily="34" charset="0"/>
              </a:rPr>
              <a:t> R-CNN iki aşamada incelenebilir : </a:t>
            </a:r>
          </a:p>
          <a:p>
            <a:pPr marL="457200" lvl="1" indent="0">
              <a:buNone/>
            </a:pPr>
            <a:r>
              <a:rPr lang="tr-TR" b="1" i="0" dirty="0" err="1">
                <a:solidFill>
                  <a:srgbClr val="212121"/>
                </a:solidFill>
                <a:effectLst/>
                <a:latin typeface="Source Sans Pro" panose="020B0503030403020204" pitchFamily="34" charset="0"/>
              </a:rPr>
              <a:t>Region</a:t>
            </a:r>
            <a:r>
              <a:rPr lang="tr-TR" b="1" i="0" dirty="0">
                <a:solidFill>
                  <a:srgbClr val="212121"/>
                </a:solidFill>
                <a:effectLst/>
                <a:latin typeface="Source Sans Pro" panose="020B0503030403020204" pitchFamily="34" charset="0"/>
              </a:rPr>
              <a:t> </a:t>
            </a:r>
            <a:r>
              <a:rPr lang="tr-TR" b="1" i="0" dirty="0" err="1">
                <a:solidFill>
                  <a:srgbClr val="212121"/>
                </a:solidFill>
                <a:effectLst/>
                <a:latin typeface="Source Sans Pro" panose="020B0503030403020204" pitchFamily="34" charset="0"/>
              </a:rPr>
              <a:t>Proposal</a:t>
            </a:r>
            <a:r>
              <a:rPr lang="tr-TR" b="1" i="0" dirty="0">
                <a:solidFill>
                  <a:srgbClr val="212121"/>
                </a:solidFill>
                <a:effectLst/>
                <a:latin typeface="Source Sans Pro" panose="020B0503030403020204" pitchFamily="34" charset="0"/>
              </a:rPr>
              <a:t> Network (RPN)</a:t>
            </a:r>
            <a:r>
              <a:rPr lang="tr-TR" b="0" i="0" dirty="0">
                <a:solidFill>
                  <a:srgbClr val="212121"/>
                </a:solidFill>
                <a:effectLst/>
                <a:latin typeface="Source Sans Pro" panose="020B0503030403020204" pitchFamily="34" charset="0"/>
              </a:rPr>
              <a:t>: İlk aşama olan RPN bölge önermeye yarayan derin, </a:t>
            </a:r>
            <a:r>
              <a:rPr lang="tr-TR" b="0" i="0" dirty="0" err="1">
                <a:solidFill>
                  <a:srgbClr val="212121"/>
                </a:solidFill>
                <a:effectLst/>
                <a:latin typeface="Source Sans Pro" panose="020B0503030403020204" pitchFamily="34" charset="0"/>
              </a:rPr>
              <a:t>evrişimli</a:t>
            </a:r>
            <a:r>
              <a:rPr lang="tr-TR" b="0" i="0" dirty="0">
                <a:solidFill>
                  <a:srgbClr val="212121"/>
                </a:solidFill>
                <a:effectLst/>
                <a:latin typeface="Source Sans Pro" panose="020B0503030403020204" pitchFamily="34" charset="0"/>
              </a:rPr>
              <a:t> bir sinir ağıdır. RPN, girdi olarak herhangi bir boyutta girdiyi alır ve obje skoruna göre bir dizi nesnelere ait olabilecek dikdörtgen teklifi ortaya çıkarır. Bu öneriyi, </a:t>
            </a:r>
            <a:r>
              <a:rPr lang="tr-TR" b="0" i="0" dirty="0" err="1">
                <a:solidFill>
                  <a:srgbClr val="212121"/>
                </a:solidFill>
                <a:effectLst/>
                <a:latin typeface="Source Sans Pro" panose="020B0503030403020204" pitchFamily="34" charset="0"/>
              </a:rPr>
              <a:t>evrişimli</a:t>
            </a:r>
            <a:r>
              <a:rPr lang="tr-TR" b="0" i="0" dirty="0">
                <a:solidFill>
                  <a:srgbClr val="212121"/>
                </a:solidFill>
                <a:effectLst/>
                <a:latin typeface="Source Sans Pro" panose="020B0503030403020204" pitchFamily="34" charset="0"/>
              </a:rPr>
              <a:t> katman tarafından oluşturulan öznitelik haritası üzerinde küçük bir ağı kaydırarak yapar.</a:t>
            </a:r>
          </a:p>
          <a:p>
            <a:pPr marL="457200" lvl="1" indent="0">
              <a:buNone/>
            </a:pPr>
            <a:r>
              <a:rPr lang="tr-TR" b="1" i="0" dirty="0" err="1">
                <a:solidFill>
                  <a:srgbClr val="212121"/>
                </a:solidFill>
                <a:effectLst/>
                <a:latin typeface="Source Sans Pro" panose="020B0503030403020204" pitchFamily="34" charset="0"/>
              </a:rPr>
              <a:t>Fast</a:t>
            </a:r>
            <a:r>
              <a:rPr lang="tr-TR" b="0" i="0" dirty="0">
                <a:solidFill>
                  <a:srgbClr val="212121"/>
                </a:solidFill>
                <a:effectLst/>
                <a:latin typeface="Source Sans Pro" panose="020B0503030403020204" pitchFamily="34" charset="0"/>
              </a:rPr>
              <a:t> </a:t>
            </a:r>
            <a:r>
              <a:rPr lang="tr-TR" b="1" i="0" dirty="0">
                <a:solidFill>
                  <a:srgbClr val="212121"/>
                </a:solidFill>
                <a:effectLst/>
                <a:latin typeface="Source Sans Pro" panose="020B0503030403020204" pitchFamily="34" charset="0"/>
              </a:rPr>
              <a:t>R-CNN</a:t>
            </a:r>
            <a:r>
              <a:rPr lang="tr-TR" b="0" i="0" dirty="0">
                <a:solidFill>
                  <a:srgbClr val="212121"/>
                </a:solidFill>
                <a:effectLst/>
                <a:latin typeface="Source Sans Pro" panose="020B0503030403020204" pitchFamily="34" charset="0"/>
              </a:rPr>
              <a:t>: RPN tarafından üretilen bu hesaplamalar </a:t>
            </a:r>
            <a:r>
              <a:rPr lang="tr-TR" b="0" i="0" dirty="0" err="1">
                <a:solidFill>
                  <a:srgbClr val="212121"/>
                </a:solidFill>
                <a:effectLst/>
                <a:latin typeface="Source Sans Pro" panose="020B0503030403020204" pitchFamily="34" charset="0"/>
              </a:rPr>
              <a:t>Fast</a:t>
            </a:r>
            <a:r>
              <a:rPr lang="tr-TR" b="0" i="0" dirty="0">
                <a:solidFill>
                  <a:srgbClr val="212121"/>
                </a:solidFill>
                <a:effectLst/>
                <a:latin typeface="Source Sans Pro" panose="020B0503030403020204" pitchFamily="34" charset="0"/>
              </a:rPr>
              <a:t> R-CNN mimarisine sokulur ve bir sınıflandırıcı ile objenin sınıfı, </a:t>
            </a:r>
            <a:r>
              <a:rPr lang="tr-TR" b="0" i="0" dirty="0" err="1">
                <a:solidFill>
                  <a:srgbClr val="212121"/>
                </a:solidFill>
                <a:effectLst/>
                <a:latin typeface="Source Sans Pro" panose="020B0503030403020204" pitchFamily="34" charset="0"/>
              </a:rPr>
              <a:t>regressor</a:t>
            </a:r>
            <a:r>
              <a:rPr lang="tr-TR" b="0" i="0" dirty="0">
                <a:solidFill>
                  <a:srgbClr val="212121"/>
                </a:solidFill>
                <a:effectLst/>
                <a:latin typeface="Source Sans Pro" panose="020B0503030403020204" pitchFamily="34" charset="0"/>
              </a:rPr>
              <a:t> ile de </a:t>
            </a:r>
            <a:r>
              <a:rPr lang="tr-TR" b="0" i="0" dirty="0" err="1">
                <a:solidFill>
                  <a:srgbClr val="212121"/>
                </a:solidFill>
                <a:effectLst/>
                <a:latin typeface="Source Sans Pro" panose="020B0503030403020204" pitchFamily="34" charset="0"/>
              </a:rPr>
              <a:t>bounding</a:t>
            </a:r>
            <a:r>
              <a:rPr lang="tr-TR" b="0" i="0" dirty="0">
                <a:solidFill>
                  <a:srgbClr val="212121"/>
                </a:solidFill>
                <a:effectLst/>
                <a:latin typeface="Source Sans Pro" panose="020B0503030403020204" pitchFamily="34" charset="0"/>
              </a:rPr>
              <a:t> </a:t>
            </a:r>
            <a:r>
              <a:rPr lang="tr-TR" b="0" i="0" dirty="0" err="1">
                <a:solidFill>
                  <a:srgbClr val="212121"/>
                </a:solidFill>
                <a:effectLst/>
                <a:latin typeface="Source Sans Pro" panose="020B0503030403020204" pitchFamily="34" charset="0"/>
              </a:rPr>
              <a:t>box’u</a:t>
            </a:r>
            <a:r>
              <a:rPr lang="tr-TR" b="0" i="0" dirty="0">
                <a:solidFill>
                  <a:srgbClr val="212121"/>
                </a:solidFill>
                <a:effectLst/>
                <a:latin typeface="Source Sans Pro" panose="020B0503030403020204" pitchFamily="34" charset="0"/>
              </a:rPr>
              <a:t> tahmin edilir.</a:t>
            </a:r>
          </a:p>
          <a:p>
            <a:endParaRPr lang="tr-TR" dirty="0"/>
          </a:p>
        </p:txBody>
      </p:sp>
      <p:pic>
        <p:nvPicPr>
          <p:cNvPr id="5122" name="Picture 2" descr="nesne-tanima-algoritmalari-faster-r-cnn">
            <a:extLst>
              <a:ext uri="{FF2B5EF4-FFF2-40B4-BE49-F238E27FC236}">
                <a16:creationId xmlns:a16="http://schemas.microsoft.com/office/drawing/2014/main" id="{54E6E91B-0A60-11D5-DA02-0F0224C329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4591" y="2213447"/>
            <a:ext cx="5963110" cy="2700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2074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75C91A-4C19-0E70-7889-43E5A403905F}"/>
              </a:ext>
            </a:extLst>
          </p:cNvPr>
          <p:cNvSpPr>
            <a:spLocks noGrp="1"/>
          </p:cNvSpPr>
          <p:nvPr>
            <p:ph type="title"/>
          </p:nvPr>
        </p:nvSpPr>
        <p:spPr/>
        <p:txBody>
          <a:bodyPr/>
          <a:lstStyle/>
          <a:p>
            <a:pPr algn="ctr"/>
            <a:r>
              <a:rPr lang="tr-TR" b="1" dirty="0"/>
              <a:t>Kıyas</a:t>
            </a:r>
          </a:p>
        </p:txBody>
      </p:sp>
      <p:sp>
        <p:nvSpPr>
          <p:cNvPr id="3" name="İçerik Yer Tutucusu 2">
            <a:extLst>
              <a:ext uri="{FF2B5EF4-FFF2-40B4-BE49-F238E27FC236}">
                <a16:creationId xmlns:a16="http://schemas.microsoft.com/office/drawing/2014/main" id="{BFA9A5A9-B288-7BD6-0A6C-56B994F0CC72}"/>
              </a:ext>
            </a:extLst>
          </p:cNvPr>
          <p:cNvSpPr>
            <a:spLocks noGrp="1"/>
          </p:cNvSpPr>
          <p:nvPr>
            <p:ph idx="1"/>
          </p:nvPr>
        </p:nvSpPr>
        <p:spPr/>
        <p:txBody>
          <a:bodyPr/>
          <a:lstStyle/>
          <a:p>
            <a:pPr marL="0" indent="0" algn="l">
              <a:buNone/>
            </a:pPr>
            <a:r>
              <a:rPr lang="tr-TR" b="1" dirty="0">
                <a:solidFill>
                  <a:srgbClr val="212121"/>
                </a:solidFill>
                <a:latin typeface="Source Sans Pro" panose="020B0503030403020204" pitchFamily="34" charset="0"/>
              </a:rPr>
              <a:t>R-CNN</a:t>
            </a:r>
            <a:endParaRPr lang="tr-TR" b="1" i="0" dirty="0">
              <a:solidFill>
                <a:srgbClr val="212121"/>
              </a:solidFill>
              <a:effectLst/>
              <a:latin typeface="Source Sans Pro" panose="020B0503030403020204" pitchFamily="34" charset="0"/>
            </a:endParaRPr>
          </a:p>
          <a:p>
            <a:pPr marL="457200" lvl="1" indent="0">
              <a:buNone/>
            </a:pPr>
            <a:r>
              <a:rPr lang="tr-TR" b="1" i="0" dirty="0">
                <a:solidFill>
                  <a:srgbClr val="212121"/>
                </a:solidFill>
                <a:effectLst/>
                <a:latin typeface="Source Sans Pro" panose="020B0503030403020204" pitchFamily="34" charset="0"/>
              </a:rPr>
              <a:t>Yaklaşık olarak eğitim süresi: 84 saat</a:t>
            </a:r>
            <a:endParaRPr lang="tr-TR" b="0" i="0" dirty="0">
              <a:solidFill>
                <a:srgbClr val="212121"/>
              </a:solidFill>
              <a:effectLst/>
              <a:latin typeface="Source Sans Pro" panose="020B0503030403020204" pitchFamily="34" charset="0"/>
            </a:endParaRPr>
          </a:p>
          <a:p>
            <a:pPr marL="457200" lvl="1" indent="0">
              <a:buNone/>
            </a:pPr>
            <a:r>
              <a:rPr lang="tr-TR" b="1" i="0" dirty="0">
                <a:solidFill>
                  <a:srgbClr val="212121"/>
                </a:solidFill>
                <a:effectLst/>
                <a:latin typeface="Source Sans Pro" panose="020B0503030403020204" pitchFamily="34" charset="0"/>
              </a:rPr>
              <a:t>Yaklaşık olarak tahmin süresi: 47 saniye</a:t>
            </a:r>
            <a:endParaRPr lang="tr-TR" b="0" i="0" dirty="0">
              <a:solidFill>
                <a:srgbClr val="212121"/>
              </a:solidFill>
              <a:effectLst/>
              <a:latin typeface="Source Sans Pro" panose="020B0503030403020204" pitchFamily="34" charset="0"/>
            </a:endParaRPr>
          </a:p>
          <a:p>
            <a:pPr marL="0" indent="0" algn="l">
              <a:buNone/>
            </a:pPr>
            <a:r>
              <a:rPr lang="tr-TR" b="1" i="0" dirty="0" err="1">
                <a:solidFill>
                  <a:srgbClr val="212121"/>
                </a:solidFill>
                <a:effectLst/>
                <a:latin typeface="Source Sans Pro" panose="020B0503030403020204" pitchFamily="34" charset="0"/>
              </a:rPr>
              <a:t>Fast</a:t>
            </a:r>
            <a:r>
              <a:rPr lang="tr-TR" b="1" i="0" dirty="0">
                <a:solidFill>
                  <a:srgbClr val="212121"/>
                </a:solidFill>
                <a:effectLst/>
                <a:latin typeface="Source Sans Pro" panose="020B0503030403020204" pitchFamily="34" charset="0"/>
              </a:rPr>
              <a:t> R-CNN</a:t>
            </a:r>
          </a:p>
          <a:p>
            <a:pPr marL="457200" lvl="1" indent="0">
              <a:buNone/>
            </a:pPr>
            <a:r>
              <a:rPr lang="tr-TR" b="1" i="0" dirty="0">
                <a:solidFill>
                  <a:srgbClr val="212121"/>
                </a:solidFill>
                <a:effectLst/>
                <a:latin typeface="Source Sans Pro" panose="020B0503030403020204" pitchFamily="34" charset="0"/>
              </a:rPr>
              <a:t>Yaklaşık olarak eğitim süresi: 8.75 saat</a:t>
            </a:r>
            <a:endParaRPr lang="tr-TR" b="0" i="0" dirty="0">
              <a:solidFill>
                <a:srgbClr val="212121"/>
              </a:solidFill>
              <a:effectLst/>
              <a:latin typeface="Source Sans Pro" panose="020B0503030403020204" pitchFamily="34" charset="0"/>
            </a:endParaRPr>
          </a:p>
          <a:p>
            <a:pPr marL="457200" lvl="1" indent="0">
              <a:buNone/>
            </a:pPr>
            <a:r>
              <a:rPr lang="tr-TR" b="1" i="0" dirty="0">
                <a:solidFill>
                  <a:srgbClr val="212121"/>
                </a:solidFill>
                <a:effectLst/>
                <a:latin typeface="Source Sans Pro" panose="020B0503030403020204" pitchFamily="34" charset="0"/>
              </a:rPr>
              <a:t>Yaklaşık olarak tahmin süresi: 2.3 saniye</a:t>
            </a:r>
            <a:endParaRPr lang="tr-TR" b="0" i="0" dirty="0">
              <a:solidFill>
                <a:srgbClr val="212121"/>
              </a:solidFill>
              <a:effectLst/>
              <a:latin typeface="Source Sans Pro" panose="020B0503030403020204" pitchFamily="34" charset="0"/>
            </a:endParaRPr>
          </a:p>
          <a:p>
            <a:pPr marL="0" indent="0" algn="l">
              <a:buNone/>
            </a:pPr>
            <a:r>
              <a:rPr lang="tr-TR" b="1" i="0" dirty="0" err="1">
                <a:solidFill>
                  <a:srgbClr val="212121"/>
                </a:solidFill>
                <a:effectLst/>
                <a:latin typeface="Source Sans Pro" panose="020B0503030403020204" pitchFamily="34" charset="0"/>
              </a:rPr>
              <a:t>Faster</a:t>
            </a:r>
            <a:r>
              <a:rPr lang="tr-TR" b="1" i="0" dirty="0">
                <a:solidFill>
                  <a:srgbClr val="212121"/>
                </a:solidFill>
                <a:effectLst/>
                <a:latin typeface="Source Sans Pro" panose="020B0503030403020204" pitchFamily="34" charset="0"/>
              </a:rPr>
              <a:t> R-CNN</a:t>
            </a:r>
          </a:p>
          <a:p>
            <a:pPr marL="457200" lvl="1" indent="0">
              <a:buNone/>
            </a:pPr>
            <a:r>
              <a:rPr lang="tr-TR" b="1" i="0" dirty="0">
                <a:solidFill>
                  <a:srgbClr val="212121"/>
                </a:solidFill>
                <a:effectLst/>
                <a:latin typeface="Source Sans Pro" panose="020B0503030403020204" pitchFamily="34" charset="0"/>
              </a:rPr>
              <a:t>Yaklaşık olarak eğitim süresi: 8.75 saat</a:t>
            </a:r>
            <a:endParaRPr lang="tr-TR" b="0" i="0" dirty="0">
              <a:solidFill>
                <a:srgbClr val="212121"/>
              </a:solidFill>
              <a:effectLst/>
              <a:latin typeface="Source Sans Pro" panose="020B0503030403020204" pitchFamily="34" charset="0"/>
            </a:endParaRPr>
          </a:p>
          <a:p>
            <a:pPr marL="457200" lvl="1" indent="0">
              <a:buNone/>
            </a:pPr>
            <a:r>
              <a:rPr lang="tr-TR" b="1" i="0" dirty="0">
                <a:solidFill>
                  <a:srgbClr val="212121"/>
                </a:solidFill>
                <a:effectLst/>
                <a:latin typeface="Source Sans Pro" panose="020B0503030403020204" pitchFamily="34" charset="0"/>
              </a:rPr>
              <a:t>Yaklaşık olarak tahmin süresi: 0.3 saniye</a:t>
            </a:r>
            <a:endParaRPr lang="tr-TR" b="0" i="0" dirty="0">
              <a:solidFill>
                <a:srgbClr val="212121"/>
              </a:solidFill>
              <a:effectLst/>
              <a:latin typeface="Source Sans Pro" panose="020B0503030403020204" pitchFamily="34" charset="0"/>
            </a:endParaRPr>
          </a:p>
          <a:p>
            <a:pPr marL="0" indent="0">
              <a:buNone/>
            </a:pPr>
            <a:endParaRPr lang="tr-TR" dirty="0"/>
          </a:p>
        </p:txBody>
      </p:sp>
    </p:spTree>
    <p:extLst>
      <p:ext uri="{BB962C8B-B14F-4D97-AF65-F5344CB8AC3E}">
        <p14:creationId xmlns:p14="http://schemas.microsoft.com/office/powerpoint/2010/main" val="3501769024"/>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365</TotalTime>
  <Words>2210</Words>
  <Application>Microsoft Office PowerPoint</Application>
  <PresentationFormat>Geniş ekran</PresentationFormat>
  <Paragraphs>121</Paragraphs>
  <Slides>20</Slides>
  <Notes>1</Notes>
  <HiddenSlides>0</HiddenSlides>
  <MMClips>0</MMClips>
  <ScaleCrop>false</ScaleCrop>
  <HeadingPairs>
    <vt:vector size="6" baseType="variant">
      <vt:variant>
        <vt:lpstr>Kullanılan Yazı Tipleri</vt:lpstr>
      </vt:variant>
      <vt:variant>
        <vt:i4>9</vt:i4>
      </vt:variant>
      <vt:variant>
        <vt:lpstr>Tema</vt:lpstr>
      </vt:variant>
      <vt:variant>
        <vt:i4>1</vt:i4>
      </vt:variant>
      <vt:variant>
        <vt:lpstr>Slayt Başlıkları</vt:lpstr>
      </vt:variant>
      <vt:variant>
        <vt:i4>20</vt:i4>
      </vt:variant>
    </vt:vector>
  </HeadingPairs>
  <TitlesOfParts>
    <vt:vector size="30" baseType="lpstr">
      <vt:lpstr>Arial</vt:lpstr>
      <vt:lpstr>Calibri</vt:lpstr>
      <vt:lpstr>Calibri Light</vt:lpstr>
      <vt:lpstr>paralucent</vt:lpstr>
      <vt:lpstr>proxima-nova</vt:lpstr>
      <vt:lpstr>sohne</vt:lpstr>
      <vt:lpstr>Source Sans Pro</vt:lpstr>
      <vt:lpstr>source-serif-pro</vt:lpstr>
      <vt:lpstr>Ubuntu</vt:lpstr>
      <vt:lpstr>Office Teması</vt:lpstr>
      <vt:lpstr>PowerPoint Sunusu</vt:lpstr>
      <vt:lpstr>Convolutional Neural Network - CNN</vt:lpstr>
      <vt:lpstr>Yapısı</vt:lpstr>
      <vt:lpstr>Convolutional Layer</vt:lpstr>
      <vt:lpstr>PowerPoint Sunusu</vt:lpstr>
      <vt:lpstr>PowerPoint Sunusu</vt:lpstr>
      <vt:lpstr>Padding ve Stride</vt:lpstr>
      <vt:lpstr>Non-linearity</vt:lpstr>
      <vt:lpstr>Pooling</vt:lpstr>
      <vt:lpstr>Flattening</vt:lpstr>
      <vt:lpstr>Fully-Connected</vt:lpstr>
      <vt:lpstr>Region-based Convolutional Neural Network Bölge Bazlı Evrişimsel Sinir Ağı</vt:lpstr>
      <vt:lpstr>Bölge Önerisi</vt:lpstr>
      <vt:lpstr>Selective Search</vt:lpstr>
      <vt:lpstr>Non-Max Supression Maksimum Olmayan Bastırma</vt:lpstr>
      <vt:lpstr>Intersection Over Union (IoU)</vt:lpstr>
      <vt:lpstr>Fast R-CNN</vt:lpstr>
      <vt:lpstr>Fast R-CNN Mimarisi</vt:lpstr>
      <vt:lpstr>Faster R-CNN</vt:lpstr>
      <vt:lpstr>Kıyas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Battal Koç</dc:creator>
  <cp:lastModifiedBy>Cengiz Ceylan</cp:lastModifiedBy>
  <cp:revision>14</cp:revision>
  <dcterms:created xsi:type="dcterms:W3CDTF">2023-12-30T17:45:47Z</dcterms:created>
  <dcterms:modified xsi:type="dcterms:W3CDTF">2026-08-11T09:47:57Z</dcterms:modified>
</cp:coreProperties>
</file>