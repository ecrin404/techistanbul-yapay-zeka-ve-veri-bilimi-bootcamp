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9" r:id="rId3"/>
    <p:sldId id="260" r:id="rId4"/>
    <p:sldId id="258" r:id="rId5"/>
    <p:sldId id="261" r:id="rId6"/>
    <p:sldId id="262" r:id="rId7"/>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F3FD14E-A513-0585-5358-29165E9A403A}"/>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49E8296A-0AC3-2309-B208-1D8718A84C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F1E070BE-6C89-CC31-BE80-0B8D90969A00}"/>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11B45FB7-53B4-EF9C-5F78-F6BB1AEC5D95}"/>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417EFDF-24F0-3C62-48B7-35D6C857E143}"/>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32038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D1D8F3D-023F-C5D3-EE0F-376977BE443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12FA5544-0EE3-19EE-997F-C54AC04171FC}"/>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5893FE7-C854-4F4E-4BE6-3D86B3784DEF}"/>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9A99D31C-ED38-646B-0188-C79380E7DAC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F4232BE-0EEF-50BE-58B5-95C11FCA2695}"/>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930059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0C88BCE-4269-996B-E73F-6251D676B132}"/>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672C0D5C-2B28-BBA3-C19A-D57FDB902DF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A5B2669F-81AE-E2A6-6C98-A806E6BB7A78}"/>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A9500677-25CF-1187-4392-6BAB4420B1F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ED48F3F1-2655-638F-37DD-B0EECEEB8A37}"/>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427779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30CD31B-4EF6-100B-3B3B-4678A6788BB2}"/>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AD70DC0F-A0F7-172B-1054-449A6B70DEBE}"/>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57ED2B0-9BED-771B-FD9A-52F7999E1AE0}"/>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8E3D2DCE-74DF-CD75-4E37-6EC223666080}"/>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6" name="Alt Bilgi Yer Tutucusu 5">
            <a:extLst>
              <a:ext uri="{FF2B5EF4-FFF2-40B4-BE49-F238E27FC236}">
                <a16:creationId xmlns:a16="http://schemas.microsoft.com/office/drawing/2014/main" id="{0ECE3727-1BDF-6A3E-7FD5-3DA2CC37DA24}"/>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741EBCD7-5338-8191-CDFD-7423FC96F5D1}"/>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419783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BE27A43-8859-92F4-740D-4D448D6CF6E6}"/>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D9E16E4-7584-E495-9B7C-40CA2C045F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81F98E4B-9A43-762F-565D-7071D1D88550}"/>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273F39D8-6743-A2ED-1408-F5664CB450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5FECDB6C-BD1A-A33C-EE83-A2C519891437}"/>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2C0E0991-3226-01D7-07D4-FE514B48372C}"/>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8" name="Alt Bilgi Yer Tutucusu 7">
            <a:extLst>
              <a:ext uri="{FF2B5EF4-FFF2-40B4-BE49-F238E27FC236}">
                <a16:creationId xmlns:a16="http://schemas.microsoft.com/office/drawing/2014/main" id="{E620F2B6-3176-D555-5C56-827A70294FFD}"/>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5A0CE560-7F32-0236-2763-30A678DB9749}"/>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830027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ADCCEF-EC6E-58C8-86BF-179356CE90ED}"/>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85DD3C5-C47B-46A8-DC5C-A8AA691EBA95}"/>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4" name="Alt Bilgi Yer Tutucusu 3">
            <a:extLst>
              <a:ext uri="{FF2B5EF4-FFF2-40B4-BE49-F238E27FC236}">
                <a16:creationId xmlns:a16="http://schemas.microsoft.com/office/drawing/2014/main" id="{8B1AB225-DFA4-B18B-A467-9A4232914EC5}"/>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B904551B-EA15-5B43-5913-594D7145E44F}"/>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2749718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1F318422-D808-8099-C8FB-263709B97D11}"/>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3" name="Alt Bilgi Yer Tutucusu 2">
            <a:extLst>
              <a:ext uri="{FF2B5EF4-FFF2-40B4-BE49-F238E27FC236}">
                <a16:creationId xmlns:a16="http://schemas.microsoft.com/office/drawing/2014/main" id="{E245AC7C-1AE5-0F78-334A-7928923938A1}"/>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2B408E0B-C9FE-349E-453C-14F9309DE1F4}"/>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326397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139669-BE88-1891-FFEB-9EFFC559A4F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3871E6DC-B4F9-C5B9-3FFE-26ABC46A63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D883CACB-5125-86F6-9CE4-8924159A8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E0CEA159-511D-12DD-D1D3-682AC559A100}"/>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6" name="Alt Bilgi Yer Tutucusu 5">
            <a:extLst>
              <a:ext uri="{FF2B5EF4-FFF2-40B4-BE49-F238E27FC236}">
                <a16:creationId xmlns:a16="http://schemas.microsoft.com/office/drawing/2014/main" id="{5E288271-FFEB-2420-D0CA-F38759E4F2CB}"/>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DF2625C9-8959-38D2-FB7A-592D1F2F0E12}"/>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7875395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2A72E54-6853-7607-8856-AEC59E4B550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F99C29C2-0A1D-7ED8-77BD-C6D9AE1C76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36D0EAA4-AADC-606C-7AFC-CEA846F703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6B1228A-E1F8-0448-192C-C480BEF84DD6}"/>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6" name="Alt Bilgi Yer Tutucusu 5">
            <a:extLst>
              <a:ext uri="{FF2B5EF4-FFF2-40B4-BE49-F238E27FC236}">
                <a16:creationId xmlns:a16="http://schemas.microsoft.com/office/drawing/2014/main" id="{752EFA71-6A4D-2672-D195-115ECAB83C8D}"/>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B1C2E6D-DCA2-02D5-5BA6-E49AD9AD01F5}"/>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413918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422EA1D-8360-A718-9A64-E29E7994B57B}"/>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E1DBA31B-1709-FDD7-DF72-D94ACC27B865}"/>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212A1F0-CD8F-F2C4-7C23-20A29523460E}"/>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FD37A870-0E99-2A74-75F9-62271648666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419B9DE7-1266-0330-4FFD-B702DB40B7CA}"/>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28784129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7E4E41CB-F8BB-8C0D-F2E4-50AD5A6D861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3E5CE4F-C70E-AABC-B285-A86EED46312E}"/>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A38A196-D7F7-3760-9C09-0249B1E4C6A6}"/>
              </a:ext>
            </a:extLst>
          </p:cNvPr>
          <p:cNvSpPr>
            <a:spLocks noGrp="1"/>
          </p:cNvSpPr>
          <p:nvPr>
            <p:ph type="dt" sz="half" idx="10"/>
          </p:nvPr>
        </p:nvSpPr>
        <p:spPr/>
        <p:txBody>
          <a:body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2591F4B3-8006-AEF9-176B-B192A32111C9}"/>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052B283-D073-947B-BC29-F7338CA5EC6D}"/>
              </a:ext>
            </a:extLst>
          </p:cNvPr>
          <p:cNvSpPr>
            <a:spLocks noGrp="1"/>
          </p:cNvSpPr>
          <p:nvPr>
            <p:ph type="sldNum" sz="quarter" idx="12"/>
          </p:nvPr>
        </p:nvSpPr>
        <p:spPr/>
        <p:txBody>
          <a:bodyPr/>
          <a:lstStyle/>
          <a:p>
            <a:fld id="{B26C1657-578F-4CD5-8B11-1C924ACA4E42}" type="slidenum">
              <a:rPr lang="tr-TR" smtClean="0"/>
              <a:t>‹#›</a:t>
            </a:fld>
            <a:endParaRPr lang="tr-TR"/>
          </a:p>
        </p:txBody>
      </p:sp>
    </p:spTree>
    <p:extLst>
      <p:ext uri="{BB962C8B-B14F-4D97-AF65-F5344CB8AC3E}">
        <p14:creationId xmlns:p14="http://schemas.microsoft.com/office/powerpoint/2010/main" val="166865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5B2C81B-6317-09D4-ADB3-D7B020409B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2C62C4A-AA1A-53ED-2549-B759C9475A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09E7A2E-AD23-6AC9-BD1A-E790D0F075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B19585-9FE6-459F-A17E-5C17D886206A}" type="datetimeFigureOut">
              <a:rPr lang="tr-TR" smtClean="0"/>
              <a:t>11.08.2026</a:t>
            </a:fld>
            <a:endParaRPr lang="tr-TR"/>
          </a:p>
        </p:txBody>
      </p:sp>
      <p:sp>
        <p:nvSpPr>
          <p:cNvPr id="5" name="Alt Bilgi Yer Tutucusu 4">
            <a:extLst>
              <a:ext uri="{FF2B5EF4-FFF2-40B4-BE49-F238E27FC236}">
                <a16:creationId xmlns:a16="http://schemas.microsoft.com/office/drawing/2014/main" id="{C2CCD6EC-1143-2DEE-55E6-F7A2297E9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a:extLst>
              <a:ext uri="{FF2B5EF4-FFF2-40B4-BE49-F238E27FC236}">
                <a16:creationId xmlns:a16="http://schemas.microsoft.com/office/drawing/2014/main" id="{398B209C-3A5A-CD5E-1033-EFD49FC90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6C1657-578F-4CD5-8B11-1C924ACA4E42}" type="slidenum">
              <a:rPr lang="tr-TR" smtClean="0"/>
              <a:t>‹#›</a:t>
            </a:fld>
            <a:endParaRPr lang="tr-TR"/>
          </a:p>
        </p:txBody>
      </p:sp>
    </p:spTree>
    <p:extLst>
      <p:ext uri="{BB962C8B-B14F-4D97-AF65-F5344CB8AC3E}">
        <p14:creationId xmlns:p14="http://schemas.microsoft.com/office/powerpoint/2010/main" val="2435513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etin kutusu 3">
            <a:extLst>
              <a:ext uri="{FF2B5EF4-FFF2-40B4-BE49-F238E27FC236}">
                <a16:creationId xmlns:a16="http://schemas.microsoft.com/office/drawing/2014/main" id="{F33C809D-3BEB-332F-EFDD-FAAE3AB0F113}"/>
              </a:ext>
            </a:extLst>
          </p:cNvPr>
          <p:cNvSpPr txBox="1"/>
          <p:nvPr/>
        </p:nvSpPr>
        <p:spPr>
          <a:xfrm>
            <a:off x="2614224" y="5095587"/>
            <a:ext cx="6963549" cy="830997"/>
          </a:xfrm>
          <a:prstGeom prst="rect">
            <a:avLst/>
          </a:prstGeom>
          <a:noFill/>
        </p:spPr>
        <p:txBody>
          <a:bodyPr wrap="square" rtlCol="0">
            <a:spAutoFit/>
          </a:bodyPr>
          <a:lstStyle/>
          <a:p>
            <a:pPr algn="l"/>
            <a:r>
              <a:rPr lang="tr-TR" sz="4800" b="1" i="0" dirty="0" err="1">
                <a:solidFill>
                  <a:srgbClr val="242424"/>
                </a:solidFill>
                <a:effectLst/>
                <a:latin typeface="sohne"/>
              </a:rPr>
              <a:t>Reccurent</a:t>
            </a:r>
            <a:r>
              <a:rPr lang="tr-TR" sz="4800" b="1" i="0" dirty="0">
                <a:solidFill>
                  <a:srgbClr val="242424"/>
                </a:solidFill>
                <a:effectLst/>
                <a:latin typeface="sohne"/>
              </a:rPr>
              <a:t> </a:t>
            </a:r>
            <a:r>
              <a:rPr lang="tr-TR" sz="4800" b="1" i="0" dirty="0" err="1">
                <a:solidFill>
                  <a:srgbClr val="242424"/>
                </a:solidFill>
                <a:effectLst/>
                <a:latin typeface="sohne"/>
              </a:rPr>
              <a:t>Neural</a:t>
            </a:r>
            <a:r>
              <a:rPr lang="tr-TR" sz="4800" b="1" i="0" dirty="0">
                <a:solidFill>
                  <a:srgbClr val="242424"/>
                </a:solidFill>
                <a:effectLst/>
                <a:latin typeface="sohne"/>
              </a:rPr>
              <a:t> Network</a:t>
            </a:r>
          </a:p>
        </p:txBody>
      </p:sp>
      <p:pic>
        <p:nvPicPr>
          <p:cNvPr id="3" name="Resim 2">
            <a:extLst>
              <a:ext uri="{FF2B5EF4-FFF2-40B4-BE49-F238E27FC236}">
                <a16:creationId xmlns:a16="http://schemas.microsoft.com/office/drawing/2014/main" id="{0C60DE2D-BA7A-E384-E9AD-CF04B60027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4793" y="633174"/>
            <a:ext cx="4462413" cy="4462413"/>
          </a:xfrm>
          <a:prstGeom prst="rect">
            <a:avLst/>
          </a:prstGeom>
        </p:spPr>
      </p:pic>
      <p:pic>
        <p:nvPicPr>
          <p:cNvPr id="2" name="Resim 1" descr="Zemin İstanbul ve Veri Laboratuvarı, Tech Istanbul markası altında  birleşiyor - Webrazzi">
            <a:extLst>
              <a:ext uri="{FF2B5EF4-FFF2-40B4-BE49-F238E27FC236}">
                <a16:creationId xmlns:a16="http://schemas.microsoft.com/office/drawing/2014/main" id="{E6CC4CB8-B040-D698-76D2-0E7221411D49}"/>
              </a:ext>
            </a:extLst>
          </p:cNvPr>
          <p:cNvPicPr>
            <a:picLocks noChangeAspect="1"/>
          </p:cNvPicPr>
          <p:nvPr/>
        </p:nvPicPr>
        <p:blipFill>
          <a:blip r:embed="rId3"/>
          <a:stretch>
            <a:fillRect/>
          </a:stretch>
        </p:blipFill>
        <p:spPr>
          <a:xfrm>
            <a:off x="1692273" y="141396"/>
            <a:ext cx="8807450" cy="4954191"/>
          </a:xfrm>
          <a:prstGeom prst="rect">
            <a:avLst/>
          </a:prstGeom>
        </p:spPr>
      </p:pic>
    </p:spTree>
    <p:extLst>
      <p:ext uri="{BB962C8B-B14F-4D97-AF65-F5344CB8AC3E}">
        <p14:creationId xmlns:p14="http://schemas.microsoft.com/office/powerpoint/2010/main" val="350960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EB8212-F96F-FBCF-CF55-3DF83FA753A2}"/>
              </a:ext>
            </a:extLst>
          </p:cNvPr>
          <p:cNvSpPr>
            <a:spLocks noGrp="1"/>
          </p:cNvSpPr>
          <p:nvPr>
            <p:ph type="title"/>
          </p:nvPr>
        </p:nvSpPr>
        <p:spPr/>
        <p:txBody>
          <a:bodyPr/>
          <a:lstStyle/>
          <a:p>
            <a:pPr algn="ctr"/>
            <a:r>
              <a:rPr lang="tr-TR" b="1" dirty="0" err="1"/>
              <a:t>Tokenizer</a:t>
            </a:r>
            <a:endParaRPr lang="tr-TR" b="1" dirty="0"/>
          </a:p>
        </p:txBody>
      </p:sp>
      <p:sp>
        <p:nvSpPr>
          <p:cNvPr id="3" name="İçerik Yer Tutucusu 2">
            <a:extLst>
              <a:ext uri="{FF2B5EF4-FFF2-40B4-BE49-F238E27FC236}">
                <a16:creationId xmlns:a16="http://schemas.microsoft.com/office/drawing/2014/main" id="{7CA2BB90-67E4-353E-3CBE-30776F6A64B4}"/>
              </a:ext>
            </a:extLst>
          </p:cNvPr>
          <p:cNvSpPr>
            <a:spLocks noGrp="1"/>
          </p:cNvSpPr>
          <p:nvPr>
            <p:ph idx="1"/>
          </p:nvPr>
        </p:nvSpPr>
        <p:spPr/>
        <p:txBody>
          <a:bodyPr/>
          <a:lstStyle/>
          <a:p>
            <a:pPr marL="0" indent="0">
              <a:buNone/>
            </a:pPr>
            <a:r>
              <a:rPr lang="tr-TR" dirty="0"/>
              <a:t>Metin verilerini </a:t>
            </a:r>
            <a:r>
              <a:rPr lang="tr-TR" dirty="0" err="1"/>
              <a:t>tokenize</a:t>
            </a:r>
            <a:r>
              <a:rPr lang="tr-TR" dirty="0"/>
              <a:t> etmek, her bir kelimeyi sayısal bir indekse dönüştürmek ve bu indeksleri temsil eden vektörleri oluşturmak için kullanılır.</a:t>
            </a:r>
          </a:p>
        </p:txBody>
      </p:sp>
    </p:spTree>
    <p:extLst>
      <p:ext uri="{BB962C8B-B14F-4D97-AF65-F5344CB8AC3E}">
        <p14:creationId xmlns:p14="http://schemas.microsoft.com/office/powerpoint/2010/main" val="1640824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91C8884-5D6E-A2C8-C56F-B3A1BA5BFFE6}"/>
              </a:ext>
            </a:extLst>
          </p:cNvPr>
          <p:cNvSpPr>
            <a:spLocks noGrp="1"/>
          </p:cNvSpPr>
          <p:nvPr>
            <p:ph type="title"/>
          </p:nvPr>
        </p:nvSpPr>
        <p:spPr/>
        <p:txBody>
          <a:bodyPr/>
          <a:lstStyle/>
          <a:p>
            <a:pPr algn="ctr"/>
            <a:r>
              <a:rPr lang="tr-TR" b="1" dirty="0" err="1"/>
              <a:t>Embedding</a:t>
            </a:r>
            <a:endParaRPr lang="tr-TR" b="1" dirty="0"/>
          </a:p>
        </p:txBody>
      </p:sp>
      <p:sp>
        <p:nvSpPr>
          <p:cNvPr id="3" name="İçerik Yer Tutucusu 2">
            <a:extLst>
              <a:ext uri="{FF2B5EF4-FFF2-40B4-BE49-F238E27FC236}">
                <a16:creationId xmlns:a16="http://schemas.microsoft.com/office/drawing/2014/main" id="{8882A5DD-884F-FB26-ABB1-0F1274E64837}"/>
              </a:ext>
            </a:extLst>
          </p:cNvPr>
          <p:cNvSpPr>
            <a:spLocks noGrp="1"/>
          </p:cNvSpPr>
          <p:nvPr>
            <p:ph idx="1"/>
          </p:nvPr>
        </p:nvSpPr>
        <p:spPr/>
        <p:txBody>
          <a:bodyPr/>
          <a:lstStyle/>
          <a:p>
            <a:pPr marL="0" indent="0">
              <a:buNone/>
            </a:pPr>
            <a:r>
              <a:rPr lang="tr-TR" dirty="0" err="1"/>
              <a:t>NLP'de</a:t>
            </a:r>
            <a:r>
              <a:rPr lang="tr-TR" dirty="0"/>
              <a:t>, kelime gömme (</a:t>
            </a:r>
            <a:r>
              <a:rPr lang="tr-TR" dirty="0" err="1"/>
              <a:t>word</a:t>
            </a:r>
            <a:r>
              <a:rPr lang="tr-TR" dirty="0"/>
              <a:t> </a:t>
            </a:r>
            <a:r>
              <a:rPr lang="tr-TR" dirty="0" err="1"/>
              <a:t>embedding</a:t>
            </a:r>
            <a:r>
              <a:rPr lang="tr-TR" dirty="0"/>
              <a:t>) en yaygın kullanım alanıdır. Burada, her bir kelimeyi, belirli bir boyuttaki sayısal bir vektörle temsil ederek kelime anlamlarını ve ilişkilerini ifade etmeye çalışırız. Örneğin, "king" ve "queen" kelimeleri birbirlerine daha yakın temsil edilirken, "king" ve "car" kelimeleri daha uzak bir temsil alabilir.</a:t>
            </a:r>
          </a:p>
        </p:txBody>
      </p:sp>
    </p:spTree>
    <p:extLst>
      <p:ext uri="{BB962C8B-B14F-4D97-AF65-F5344CB8AC3E}">
        <p14:creationId xmlns:p14="http://schemas.microsoft.com/office/powerpoint/2010/main" val="3230101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C9C319-9F9D-6AF3-ADAF-0B71DB343E25}"/>
              </a:ext>
            </a:extLst>
          </p:cNvPr>
          <p:cNvSpPr>
            <a:spLocks noGrp="1"/>
          </p:cNvSpPr>
          <p:nvPr>
            <p:ph type="title"/>
          </p:nvPr>
        </p:nvSpPr>
        <p:spPr/>
        <p:txBody>
          <a:bodyPr/>
          <a:lstStyle/>
          <a:p>
            <a:pPr algn="ctr"/>
            <a:r>
              <a:rPr lang="tr-TR" sz="4400" b="1" i="0" dirty="0" err="1">
                <a:solidFill>
                  <a:srgbClr val="242424"/>
                </a:solidFill>
                <a:effectLst/>
                <a:latin typeface="sohne"/>
              </a:rPr>
              <a:t>Reccurent</a:t>
            </a:r>
            <a:r>
              <a:rPr lang="tr-TR" b="1" i="0" dirty="0">
                <a:solidFill>
                  <a:srgbClr val="242424"/>
                </a:solidFill>
                <a:effectLst/>
                <a:latin typeface="sohne"/>
              </a:rPr>
              <a:t> </a:t>
            </a:r>
            <a:r>
              <a:rPr lang="tr-TR" b="1" i="0" dirty="0" err="1">
                <a:solidFill>
                  <a:srgbClr val="242424"/>
                </a:solidFill>
                <a:effectLst/>
                <a:latin typeface="sohne"/>
              </a:rPr>
              <a:t>Neural</a:t>
            </a:r>
            <a:r>
              <a:rPr lang="tr-TR" b="1" i="0" dirty="0">
                <a:solidFill>
                  <a:srgbClr val="242424"/>
                </a:solidFill>
                <a:effectLst/>
                <a:latin typeface="sohne"/>
              </a:rPr>
              <a:t> Network - RNN</a:t>
            </a:r>
            <a:endParaRPr lang="tr-TR" dirty="0"/>
          </a:p>
        </p:txBody>
      </p:sp>
      <p:sp>
        <p:nvSpPr>
          <p:cNvPr id="3" name="İçerik Yer Tutucusu 2">
            <a:extLst>
              <a:ext uri="{FF2B5EF4-FFF2-40B4-BE49-F238E27FC236}">
                <a16:creationId xmlns:a16="http://schemas.microsoft.com/office/drawing/2014/main" id="{D8530C88-75DF-457C-F79D-06969188D17C}"/>
              </a:ext>
            </a:extLst>
          </p:cNvPr>
          <p:cNvSpPr>
            <a:spLocks noGrp="1"/>
          </p:cNvSpPr>
          <p:nvPr>
            <p:ph idx="1"/>
          </p:nvPr>
        </p:nvSpPr>
        <p:spPr/>
        <p:txBody>
          <a:bodyPr>
            <a:normAutofit/>
          </a:bodyPr>
          <a:lstStyle/>
          <a:p>
            <a:pPr marL="0" indent="0">
              <a:buNone/>
            </a:pPr>
            <a:r>
              <a:rPr lang="tr-TR" sz="1200" b="0" i="0" dirty="0" err="1">
                <a:solidFill>
                  <a:srgbClr val="1A1A1A"/>
                </a:solidFill>
                <a:effectLst/>
                <a:latin typeface="Merriweather" panose="020F0502020204030204" pitchFamily="2" charset="-94"/>
              </a:rPr>
              <a:t>RNN’lerin</a:t>
            </a:r>
            <a:r>
              <a:rPr lang="tr-TR" sz="1200" b="0" i="0" dirty="0">
                <a:solidFill>
                  <a:srgbClr val="1A1A1A"/>
                </a:solidFill>
                <a:effectLst/>
                <a:latin typeface="Merriweather" panose="020F0502020204030204" pitchFamily="2" charset="-94"/>
              </a:rPr>
              <a:t> arkasındaki fikir sıralı bilgi kullanmaktır. Geleneksel bir sinir ağında tüm girdilerin (ve çıktıların) birbirinden bağımsız olduğunu varsayarız. Ancak birçok görev için bu çok kötü bir fikir. Bir cümledeki bir sonraki kelimeyi tahmin etmek isterseniz, hangi kelimelerin daha önce geldiğini daha iyi bilirsiniz. </a:t>
            </a:r>
            <a:r>
              <a:rPr lang="tr-TR" sz="1200" b="0" i="0" dirty="0" err="1">
                <a:solidFill>
                  <a:srgbClr val="1A1A1A"/>
                </a:solidFill>
                <a:effectLst/>
                <a:latin typeface="Merriweather" panose="020F0502020204030204" pitchFamily="2" charset="-94"/>
              </a:rPr>
              <a:t>RNN’ler</a:t>
            </a:r>
            <a:r>
              <a:rPr lang="tr-TR" sz="1200" b="0" i="0" dirty="0">
                <a:solidFill>
                  <a:srgbClr val="1A1A1A"/>
                </a:solidFill>
                <a:effectLst/>
                <a:latin typeface="Merriweather" panose="020F0502020204030204" pitchFamily="2" charset="-94"/>
              </a:rPr>
              <a:t> tekrar tekrar çağrılır, çünkü bir dizinin her elemanı için aynı görevi yaparlar, çıktı önceki hesaplamalara bağlıdır. </a:t>
            </a:r>
            <a:r>
              <a:rPr lang="tr-TR" sz="1200" b="0" i="0" dirty="0" err="1">
                <a:solidFill>
                  <a:srgbClr val="1A1A1A"/>
                </a:solidFill>
                <a:effectLst/>
                <a:latin typeface="Merriweather" panose="020F0502020204030204" pitchFamily="2" charset="-94"/>
              </a:rPr>
              <a:t>RNN’leri</a:t>
            </a:r>
            <a:r>
              <a:rPr lang="tr-TR" sz="1200" b="0" i="0" dirty="0">
                <a:solidFill>
                  <a:srgbClr val="1A1A1A"/>
                </a:solidFill>
                <a:effectLst/>
                <a:latin typeface="Merriweather" panose="020F0502020204030204" pitchFamily="2" charset="-94"/>
              </a:rPr>
              <a:t> düşünmenin başka bir yolu, şimdiye kadar hesaplanmış olan hakkında bilgi toplayan bir “hafıza” ya sahip olmalarıdır. Teoride </a:t>
            </a:r>
            <a:r>
              <a:rPr lang="tr-TR" sz="1200" b="0" i="0" dirty="0" err="1">
                <a:solidFill>
                  <a:srgbClr val="1A1A1A"/>
                </a:solidFill>
                <a:effectLst/>
                <a:latin typeface="Merriweather" panose="020F0502020204030204" pitchFamily="2" charset="-94"/>
              </a:rPr>
              <a:t>RNN’ler</a:t>
            </a:r>
            <a:r>
              <a:rPr lang="tr-TR" sz="1200" b="0" i="0" dirty="0">
                <a:solidFill>
                  <a:srgbClr val="1A1A1A"/>
                </a:solidFill>
                <a:effectLst/>
                <a:latin typeface="Merriweather" panose="020F0502020204030204" pitchFamily="2" charset="-94"/>
              </a:rPr>
              <a:t> keyfi uzun sekanslarda bilgi kullanabilirler, ancak pratikte sadece birkaç adım geriye bakmalarıyla sınırlıdırlar</a:t>
            </a:r>
          </a:p>
          <a:p>
            <a:pPr marL="0" indent="0">
              <a:buNone/>
            </a:pPr>
            <a:endParaRPr lang="tr-TR" sz="1200" dirty="0">
              <a:solidFill>
                <a:srgbClr val="1A1A1A"/>
              </a:solidFill>
              <a:latin typeface="Merriweather" panose="020F0502020204030204" pitchFamily="2" charset="-94"/>
            </a:endParaRPr>
          </a:p>
          <a:p>
            <a:pPr marL="0" indent="0">
              <a:buNone/>
            </a:pPr>
            <a:endParaRPr lang="tr-TR" sz="1200" dirty="0">
              <a:solidFill>
                <a:srgbClr val="1A1A1A"/>
              </a:solidFill>
              <a:latin typeface="Merriweather" panose="020F0502020204030204" pitchFamily="2" charset="-94"/>
            </a:endParaRPr>
          </a:p>
          <a:p>
            <a:pPr marL="0" indent="0">
              <a:buNone/>
            </a:pPr>
            <a:endParaRPr lang="tr-TR" sz="1200" dirty="0">
              <a:solidFill>
                <a:srgbClr val="1A1A1A"/>
              </a:solidFill>
              <a:latin typeface="Merriweather" panose="020F0502020204030204" pitchFamily="2" charset="-94"/>
            </a:endParaRPr>
          </a:p>
          <a:p>
            <a:pPr marL="0" indent="0">
              <a:buNone/>
            </a:pPr>
            <a:endParaRPr lang="tr-TR" sz="1000" b="0" i="0" dirty="0">
              <a:solidFill>
                <a:srgbClr val="1A1A1A"/>
              </a:solidFill>
              <a:effectLst/>
              <a:latin typeface="Merriweather" panose="00000500000000000000" pitchFamily="2" charset="-94"/>
            </a:endParaRPr>
          </a:p>
          <a:p>
            <a:pPr marL="0" indent="0">
              <a:buNone/>
            </a:pPr>
            <a:endParaRPr lang="tr-TR" sz="1000" dirty="0">
              <a:solidFill>
                <a:srgbClr val="1A1A1A"/>
              </a:solidFill>
              <a:latin typeface="Merriweather" panose="00000500000000000000" pitchFamily="2" charset="-94"/>
            </a:endParaRPr>
          </a:p>
          <a:p>
            <a:pPr marL="0" indent="0">
              <a:buNone/>
            </a:pPr>
            <a:endParaRPr lang="tr-TR" sz="1000" b="0" i="0" dirty="0">
              <a:solidFill>
                <a:srgbClr val="1A1A1A"/>
              </a:solidFill>
              <a:effectLst/>
              <a:latin typeface="Merriweather" panose="00000500000000000000" pitchFamily="2" charset="-94"/>
            </a:endParaRPr>
          </a:p>
          <a:p>
            <a:pPr marL="0" indent="0">
              <a:buNone/>
            </a:pPr>
            <a:r>
              <a:rPr lang="tr-TR" sz="1000" b="0" i="0" dirty="0">
                <a:solidFill>
                  <a:srgbClr val="1A1A1A"/>
                </a:solidFill>
                <a:effectLst/>
                <a:latin typeface="Merriweather" panose="00000500000000000000" pitchFamily="2" charset="-94"/>
              </a:rPr>
              <a:t>Yukarıdaki diyagram, tam bir ağa açılmış olan bir </a:t>
            </a:r>
            <a:r>
              <a:rPr lang="tr-TR" sz="1000" b="0" i="0" dirty="0" err="1">
                <a:solidFill>
                  <a:srgbClr val="1A1A1A"/>
                </a:solidFill>
                <a:effectLst/>
                <a:latin typeface="Merriweather" panose="00000500000000000000" pitchFamily="2" charset="-94"/>
              </a:rPr>
              <a:t>RNN’yi</a:t>
            </a:r>
            <a:r>
              <a:rPr lang="tr-TR" sz="1000" b="0" i="0" dirty="0">
                <a:solidFill>
                  <a:srgbClr val="1A1A1A"/>
                </a:solidFill>
                <a:effectLst/>
                <a:latin typeface="Merriweather" panose="00000500000000000000" pitchFamily="2" charset="-94"/>
              </a:rPr>
              <a:t> (veya açılmamış) göstermektedir. Kaydettiğimizde, tüm dizinin ağını yazdığımız anlamına gelir. Örneğin, umduğumuz sekans 5 kelimelik bir cümle ise, ağ her bir kelime için 5 katmanlı bir sinir ağına, bir katmana açılacaktır.</a:t>
            </a:r>
          </a:p>
          <a:p>
            <a:pPr marL="0" indent="0">
              <a:buNone/>
            </a:pPr>
            <a:endParaRPr lang="tr-TR" sz="1200" dirty="0"/>
          </a:p>
        </p:txBody>
      </p:sp>
      <p:pic>
        <p:nvPicPr>
          <p:cNvPr id="1026" name="Picture 2">
            <a:extLst>
              <a:ext uri="{FF2B5EF4-FFF2-40B4-BE49-F238E27FC236}">
                <a16:creationId xmlns:a16="http://schemas.microsoft.com/office/drawing/2014/main" id="{A2794D44-5C1E-63BC-C6C9-CCD88DC9B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4441" y="2893057"/>
            <a:ext cx="3622294" cy="145347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simple Recurrent Neural Network (RNN): a neural network in which the... |  Download Scientific Diagram">
            <a:extLst>
              <a:ext uri="{FF2B5EF4-FFF2-40B4-BE49-F238E27FC236}">
                <a16:creationId xmlns:a16="http://schemas.microsoft.com/office/drawing/2014/main" id="{41B75EF6-5C76-882D-0900-5D3A9851D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5930" y="2924872"/>
            <a:ext cx="1352494" cy="1352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249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679E98E1-F586-4C50-905C-5178960483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968" y="147179"/>
            <a:ext cx="7440063" cy="6563641"/>
          </a:xfrm>
          <a:prstGeom prst="rect">
            <a:avLst/>
          </a:prstGeom>
        </p:spPr>
      </p:pic>
    </p:spTree>
    <p:extLst>
      <p:ext uri="{BB962C8B-B14F-4D97-AF65-F5344CB8AC3E}">
        <p14:creationId xmlns:p14="http://schemas.microsoft.com/office/powerpoint/2010/main" val="1960732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B730ABF-7AC0-61E8-090E-A0FCB8A7426B}"/>
              </a:ext>
            </a:extLst>
          </p:cNvPr>
          <p:cNvSpPr>
            <a:spLocks noGrp="1"/>
          </p:cNvSpPr>
          <p:nvPr>
            <p:ph idx="1"/>
          </p:nvPr>
        </p:nvSpPr>
        <p:spPr>
          <a:xfrm>
            <a:off x="838200" y="801666"/>
            <a:ext cx="10515600" cy="5375297"/>
          </a:xfrm>
        </p:spPr>
        <p:txBody>
          <a:bodyPr>
            <a:normAutofit fontScale="62500" lnSpcReduction="20000"/>
          </a:bodyPr>
          <a:lstStyle/>
          <a:p>
            <a:pPr marL="0" indent="0">
              <a:buNone/>
            </a:pPr>
            <a:r>
              <a:rPr lang="tr-TR" dirty="0"/>
              <a:t>1. Tekrar Eden Modül (</a:t>
            </a:r>
            <a:r>
              <a:rPr lang="tr-TR" dirty="0" err="1"/>
              <a:t>Recurrent</a:t>
            </a:r>
            <a:r>
              <a:rPr lang="tr-TR" dirty="0"/>
              <a:t> </a:t>
            </a:r>
            <a:r>
              <a:rPr lang="tr-TR" dirty="0" err="1"/>
              <a:t>Module</a:t>
            </a:r>
            <a:r>
              <a:rPr lang="tr-TR" dirty="0"/>
              <a:t>):</a:t>
            </a:r>
          </a:p>
          <a:p>
            <a:pPr marL="457200" lvl="1" indent="0">
              <a:buNone/>
            </a:pPr>
            <a:r>
              <a:rPr lang="tr-TR" dirty="0"/>
              <a:t>Bu modül, önceki zaman adımlarında hesaplanan çıktıları (gizli durumlar olarak adlandırılır) mevcut zamandaki girişle birlikte işler. Bu durum, ağın önceki adımlarda öğrendiği bilgileri geçerli adımdaki işlemlere entegre etmesini sağlar.</a:t>
            </a:r>
          </a:p>
          <a:p>
            <a:endParaRPr lang="tr-TR" dirty="0"/>
          </a:p>
          <a:p>
            <a:pPr marL="0" indent="0">
              <a:buNone/>
            </a:pPr>
            <a:r>
              <a:rPr lang="tr-TR" dirty="0"/>
              <a:t>2. Geriye Doğru Bağlantı (</a:t>
            </a:r>
            <a:r>
              <a:rPr lang="tr-TR" dirty="0" err="1"/>
              <a:t>Backpropagation</a:t>
            </a:r>
            <a:r>
              <a:rPr lang="tr-TR" dirty="0"/>
              <a:t> Through Time - BPTT):</a:t>
            </a:r>
          </a:p>
          <a:p>
            <a:pPr marL="457200" lvl="1" indent="0">
              <a:buNone/>
            </a:pPr>
            <a:r>
              <a:rPr lang="tr-TR" dirty="0" err="1"/>
              <a:t>RNN'ler</a:t>
            </a:r>
            <a:r>
              <a:rPr lang="tr-TR" dirty="0"/>
              <a:t>, geriye doğru hata hesaplama algoritmasıyla eğitilir. BPTT, ağın hata sinyalini zaman adımlarına yayarak her bir zaman adımında ağırlıkları günceller.</a:t>
            </a:r>
          </a:p>
          <a:p>
            <a:endParaRPr lang="tr-TR" dirty="0"/>
          </a:p>
          <a:p>
            <a:pPr marL="0" indent="0">
              <a:buNone/>
            </a:pPr>
            <a:r>
              <a:rPr lang="tr-TR" dirty="0"/>
              <a:t>3. Hafıza (Memory) ve Uzun Mesafe Bağlantı:</a:t>
            </a:r>
          </a:p>
          <a:p>
            <a:pPr marL="457200" lvl="1" indent="0">
              <a:buNone/>
            </a:pPr>
            <a:r>
              <a:rPr lang="tr-TR" dirty="0"/>
              <a:t>Temel RNN yapısı, kısa vadeli bağımlılıkları iyi modelleyebilirken, uzun vadeli bağımlılıkları iyi modelleme konusunda zayıftır. Bu durum, "</a:t>
            </a:r>
            <a:r>
              <a:rPr lang="tr-TR" dirty="0" err="1"/>
              <a:t>gradient</a:t>
            </a:r>
            <a:r>
              <a:rPr lang="tr-TR" dirty="0"/>
              <a:t> kaybolması" ve "</a:t>
            </a:r>
            <a:r>
              <a:rPr lang="tr-TR" dirty="0" err="1"/>
              <a:t>gradient</a:t>
            </a:r>
            <a:r>
              <a:rPr lang="tr-TR" dirty="0"/>
              <a:t> patlaması" sorunlarına yol açabilir. Bu nedenle, uzun vadeli bağımlılıkları daha iyi modellemek için geliştirilmiş RNN varyasyonları ortaya çıkmıştır (örneğin, LSTM - </a:t>
            </a:r>
            <a:r>
              <a:rPr lang="tr-TR" dirty="0" err="1"/>
              <a:t>Long</a:t>
            </a:r>
            <a:r>
              <a:rPr lang="tr-TR" dirty="0"/>
              <a:t> </a:t>
            </a:r>
            <a:r>
              <a:rPr lang="tr-TR" dirty="0" err="1"/>
              <a:t>Short-Term</a:t>
            </a:r>
            <a:r>
              <a:rPr lang="tr-TR" dirty="0"/>
              <a:t> Memory, GRU - </a:t>
            </a:r>
            <a:r>
              <a:rPr lang="tr-TR" dirty="0" err="1"/>
              <a:t>Gated</a:t>
            </a:r>
            <a:r>
              <a:rPr lang="tr-TR" dirty="0"/>
              <a:t> </a:t>
            </a:r>
            <a:r>
              <a:rPr lang="tr-TR" dirty="0" err="1"/>
              <a:t>Recurrent</a:t>
            </a:r>
            <a:r>
              <a:rPr lang="tr-TR" dirty="0"/>
              <a:t> </a:t>
            </a:r>
            <a:r>
              <a:rPr lang="tr-TR" dirty="0" err="1"/>
              <a:t>Unit</a:t>
            </a:r>
            <a:r>
              <a:rPr lang="tr-TR" dirty="0"/>
              <a:t> gibi).</a:t>
            </a:r>
          </a:p>
          <a:p>
            <a:endParaRPr lang="tr-TR" dirty="0"/>
          </a:p>
          <a:p>
            <a:pPr marL="0" indent="0">
              <a:buNone/>
            </a:pPr>
            <a:r>
              <a:rPr lang="tr-TR" dirty="0"/>
              <a:t>4. Kullanım Alanları:</a:t>
            </a:r>
          </a:p>
          <a:p>
            <a:pPr marL="457200" lvl="1" indent="0">
              <a:buNone/>
            </a:pPr>
            <a:r>
              <a:rPr lang="tr-TR" dirty="0" err="1"/>
              <a:t>RNN'ler</a:t>
            </a:r>
            <a:r>
              <a:rPr lang="tr-TR" dirty="0"/>
              <a:t>, zaman serisi analizi, doğal dil işleme (metin anlama, metin üretimi), video analizi, duygu analizi, zaman serisi tahmini ve benzeri alanlarda kullanılır.</a:t>
            </a:r>
          </a:p>
          <a:p>
            <a:pPr marL="457200" lvl="1" indent="0">
              <a:buNone/>
            </a:pPr>
            <a:endParaRPr lang="tr-TR" dirty="0"/>
          </a:p>
          <a:p>
            <a:pPr marL="0" indent="0">
              <a:buNone/>
            </a:pPr>
            <a:r>
              <a:rPr lang="tr-TR" u="sng" dirty="0">
                <a:solidFill>
                  <a:srgbClr val="FF0000"/>
                </a:solidFill>
              </a:rPr>
              <a:t>Not : Uzun bir zaman adımına sahip RNN yapıları, gradyanın birçok kez çarpılması ve bunun sonucunda büyüyerek patlamasına yol açabilir. Özellikle, geriye doğru yayılan gradyanlar her bir zaman adımında birbirleriyle çarpıldığından bu etki artabilir.</a:t>
            </a:r>
          </a:p>
        </p:txBody>
      </p:sp>
    </p:spTree>
    <p:extLst>
      <p:ext uri="{BB962C8B-B14F-4D97-AF65-F5344CB8AC3E}">
        <p14:creationId xmlns:p14="http://schemas.microsoft.com/office/powerpoint/2010/main" val="2574840991"/>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483</Words>
  <Application>Microsoft Office PowerPoint</Application>
  <PresentationFormat>Geniş ekran</PresentationFormat>
  <Paragraphs>27</Paragraphs>
  <Slides>6</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6</vt:i4>
      </vt:variant>
    </vt:vector>
  </HeadingPairs>
  <TitlesOfParts>
    <vt:vector size="12" baseType="lpstr">
      <vt:lpstr>Arial</vt:lpstr>
      <vt:lpstr>Calibri</vt:lpstr>
      <vt:lpstr>Calibri Light</vt:lpstr>
      <vt:lpstr>Merriweather</vt:lpstr>
      <vt:lpstr>sohne</vt:lpstr>
      <vt:lpstr>Office Teması</vt:lpstr>
      <vt:lpstr>PowerPoint Sunusu</vt:lpstr>
      <vt:lpstr>Tokenizer</vt:lpstr>
      <vt:lpstr>Embedding</vt:lpstr>
      <vt:lpstr>Reccurent Neural Network - RNN</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Battal Koç</dc:creator>
  <cp:lastModifiedBy>Cengiz Ceylan</cp:lastModifiedBy>
  <cp:revision>5</cp:revision>
  <dcterms:created xsi:type="dcterms:W3CDTF">2023-12-30T17:45:47Z</dcterms:created>
  <dcterms:modified xsi:type="dcterms:W3CDTF">2026-08-11T09:47:37Z</dcterms:modified>
</cp:coreProperties>
</file>